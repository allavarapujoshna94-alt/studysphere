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81" r:id="rId5"/>
    <p:sldId id="280" r:id="rId6"/>
    <p:sldId id="279" r:id="rId7"/>
    <p:sldId id="259" r:id="rId8"/>
    <p:sldId id="285" r:id="rId9"/>
    <p:sldId id="286" r:id="rId10"/>
    <p:sldId id="282" r:id="rId11"/>
    <p:sldId id="283" r:id="rId12"/>
    <p:sldId id="284" r:id="rId13"/>
    <p:sldId id="260" r:id="rId14"/>
    <p:sldId id="261" r:id="rId15"/>
    <p:sldId id="262" r:id="rId16"/>
    <p:sldId id="287" r:id="rId17"/>
    <p:sldId id="291" r:id="rId18"/>
    <p:sldId id="292" r:id="rId19"/>
    <p:sldId id="288" r:id="rId20"/>
    <p:sldId id="263" r:id="rId21"/>
    <p:sldId id="264" r:id="rId22"/>
    <p:sldId id="265" r:id="rId23"/>
    <p:sldId id="266" r:id="rId24"/>
    <p:sldId id="267" r:id="rId25"/>
    <p:sldId id="268" r:id="rId26"/>
    <p:sldId id="269" r:id="rId27"/>
    <p:sldId id="270" r:id="rId28"/>
    <p:sldId id="290" r:id="rId29"/>
    <p:sldId id="271" r:id="rId30"/>
    <p:sldId id="272" r:id="rId31"/>
    <p:sldId id="273" r:id="rId32"/>
    <p:sldId id="274" r:id="rId33"/>
    <p:sldId id="275" r:id="rId34"/>
    <p:sldId id="276"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06T04:02:01.778"/>
    </inkml:context>
    <inkml:brush xml:id="br0">
      <inkml:brushProperty name="width" value="0.35" units="cm"/>
      <inkml:brushProperty name="height" value="0.35" units="cm"/>
      <inkml:brushProperty name="color" value="#FFFFFF"/>
    </inkml:brush>
  </inkml:definitions>
  <inkml:trace contextRef="#ctx0" brushRef="#br0">607 187 24575,'0'3'0,"1"0"0,-1-1 0,1 1 0,0 0 0,0-1 0,0 1 0,1-1 0,-1 1 0,1-1 0,-1 1 0,1-1 0,3 3 0,28 30 0,-22-25 0,-5-5 0,0 0 0,0 0 0,1 0 0,-1-1 0,1 0 0,0 0 0,1-1 0,-1 0 0,0 0 0,1-1 0,0 0 0,0 0 0,-1-1 0,1 1 0,15-1 0,7-2 0,1-1 0,57-12 0,-56 7 0,51-2 0,-49 8 0,-10 2 0,1-2 0,-1-1 0,0-1 0,43-10 0,-8-3 0,1 2 0,0 3 0,100-4 0,188 13 0,-166 5 0,943-3 0,-1082-2 0,51-9 0,-49 5 0,47-1 0,-8 6 0,165 4 0,-64 22 0,-39-2 0,-92-13 0,0-2 0,66 1 0,-77-7 0,46 8 0,35 2 0,475-11 0,-286-2 0,-298 0 0,1-1 0,-1-1 0,0 0 0,0-1 0,22-8 0,-19 6 0,-1 0 0,1 2 0,31-5 0,240 6 0,-144 6 0,1947-3 0,-2050-2 0,1-3 0,65-14 0,-65 10 0,1 2 0,52-2 0,-67 6 0,0 0 0,57-16 0,-55 12 0,0 0 0,48-3 0,428 8 0,-252 4 0,-183-6 0,-1-3 0,98-24 0,-148 27 0,32-7 0,41-8 0,-23 10 0,-23 2 0,71-1 0,-102 7 0,1 2 0,0 0 0,-1 1 0,0 0 0,21 7 0,-33-8 0,-1 1 0,0-1 0,0 1 0,0 0 0,0 0 0,0 1 0,-1-1 0,1 1 0,-1 0 0,1 0 0,-1 0 0,0 0 0,0 0 0,-1 1 0,1 0 0,-1-1 0,1 1 0,-1 0 0,0 0 0,-1 0 0,1 0 0,-1 1 0,0-1 0,0 0 0,0 1 0,0 4 0,0 0 0,0-1 0,-1 0 0,0 1 0,0-1 0,-1 1 0,0-1 0,0 1 0,-1-1 0,-1 0 0,1 0 0,-1 0 0,-8 15 0,8-18 0,-1 1 0,-1-1 0,1 0 0,-1 0 0,0 0 0,0-1 0,0 0 0,0 0 0,-1 0 0,0-1 0,0 1 0,0-1 0,0-1 0,0 1 0,0-1 0,-1 0 0,-7 1 0,-29 3 0,1-2 0,-1-2 0,1-2 0,-47-5 0,-25 0 0,-1758 4 0,926 2 0,917 1 0,-53 9 0,-12 1 0,-287-10 0,197-4 0,174 3 0,-1 1 0,1 0 0,-1 0 0,1 1 0,0 0 0,0 1 0,0 0 0,-17 11 0,14-8 0,0-1 0,0 0 0,-1-1 0,-15 4 0,-18-3 0,-1-1 0,0-3 0,-77-6 0,18 1 0,-1184 3 0,1242-1 0,0-2 0,1-3 0,-1-1 0,1-3 0,-92-30 0,113 31 0,-1 1 0,1 2 0,-1 0 0,-51-1 0,-116 8 0,74 2 0,-313-4 0,406 0 0,-54-10 0,52 5 0,-43-1 0,47 6 0,-284 3 0,126 24 0,112-19 0,-170 10 0,98-19 0,-167 4 0,292 0 0,0 2 0,0 0 0,-30 11 0,30-9 0,0 0 0,-1-2 0,-28 4 0,-250-5 0,149-6 0,-513 3 0,649-1 0,0-1 0,0 0 0,0-1 0,1-1 0,-1 0 0,1 0 0,0-1 0,0-1 0,-18-11 0,12 7 0,1 1 0,-2 1 0,-21-7 0,1 5 0,0 1 0,-1 2 0,0 2 0,-64 0 0,97 5 0,-1 0 0,1-1 0,-1 0 0,1-1 0,-10-2 0,15 3 0,1 1 0,0 0 0,-1 0 0,1-1 0,0 1 0,0-1 0,0 1 0,0-1 0,-1 0 0,1 1 0,0-1 0,0 0 0,0 0 0,0 0 0,1 1 0,-1-1 0,0 0 0,0 0 0,0 0 0,1-1 0,-1 1 0,0 0 0,1 0 0,-1 0 0,1 0 0,0-1 0,-1 1 0,1 0 0,0 0 0,0-1 0,0 1 0,0 0 0,0-1 0,0 1 0,0 0 0,0 0 0,0-1 0,0 1 0,1-2 0,1 1 0,-1 0 0,0-1 0,1 1 0,-1 0 0,1 0 0,-1 0 0,1 0 0,0 1 0,0-1 0,0 0 0,0 1 0,0-1 0,0 1 0,1 0 0,-1 0 0,3-1 0,46-13 0,-13 4 0,-19 3 0,0 0 0,0 1 0,1 1 0,0 1 0,40-6 0,-33 9 0,1-2 0,-1-1 0,0-2 0,-1 0 0,1-2 0,43-21 0,-43 18 0,1 1 0,0 2 0,1 0 0,0 2 0,0 1 0,31-2 0,2-1-1365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2777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C3F"/>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182A55"/>
          </a:solidFill>
          <a:ln/>
        </p:spPr>
      </p:sp>
      <p:sp>
        <p:nvSpPr>
          <p:cNvPr id="3" name="Shape 1"/>
          <p:cNvSpPr/>
          <p:nvPr/>
        </p:nvSpPr>
        <p:spPr>
          <a:xfrm>
            <a:off x="-1645920" y="4572000"/>
            <a:ext cx="3840480" cy="3840480"/>
          </a:xfrm>
          <a:prstGeom prst="ellipse">
            <a:avLst/>
          </a:prstGeom>
          <a:solidFill>
            <a:srgbClr val="182A55"/>
          </a:solidFill>
          <a:ln/>
        </p:spPr>
      </p:sp>
      <p:sp>
        <p:nvSpPr>
          <p:cNvPr id="4" name="Shape 2"/>
          <p:cNvSpPr/>
          <p:nvPr/>
        </p:nvSpPr>
        <p:spPr>
          <a:xfrm>
            <a:off x="10607040" y="2286000"/>
            <a:ext cx="164592" cy="164592"/>
          </a:xfrm>
          <a:prstGeom prst="ellipse">
            <a:avLst/>
          </a:prstGeom>
          <a:solidFill>
            <a:srgbClr val="17A2B8"/>
          </a:solidFill>
          <a:ln/>
        </p:spPr>
      </p:sp>
      <p:sp>
        <p:nvSpPr>
          <p:cNvPr id="5" name="Shape 3"/>
          <p:cNvSpPr/>
          <p:nvPr/>
        </p:nvSpPr>
        <p:spPr>
          <a:xfrm>
            <a:off x="914400" y="1097280"/>
            <a:ext cx="109728" cy="109728"/>
          </a:xfrm>
          <a:prstGeom prst="ellipse">
            <a:avLst/>
          </a:prstGeom>
          <a:solidFill>
            <a:srgbClr val="FFB100"/>
          </a:solidFill>
          <a:ln/>
        </p:spPr>
      </p:sp>
      <p:sp>
        <p:nvSpPr>
          <p:cNvPr id="6" name="Text 4"/>
          <p:cNvSpPr/>
          <p:nvPr/>
        </p:nvSpPr>
        <p:spPr>
          <a:xfrm>
            <a:off x="822960" y="1508760"/>
            <a:ext cx="9144000" cy="365760"/>
          </a:xfrm>
          <a:prstGeom prst="rect">
            <a:avLst/>
          </a:prstGeom>
          <a:noFill/>
          <a:ln/>
        </p:spPr>
        <p:txBody>
          <a:bodyPr wrap="square" rtlCol="0" anchor="ctr"/>
          <a:lstStyle/>
          <a:p>
            <a:pPr marL="0" indent="0">
              <a:buNone/>
            </a:pPr>
            <a:r>
              <a:rPr lang="en-US" sz="1400" b="1" kern="0" spc="300" dirty="0">
                <a:solidFill>
                  <a:srgbClr val="17A2B8"/>
                </a:solidFill>
                <a:latin typeface="Calibri" pitchFamily="34" charset="0"/>
                <a:ea typeface="Calibri" pitchFamily="34" charset="-122"/>
                <a:cs typeface="Calibri" pitchFamily="34" charset="-120"/>
              </a:rPr>
              <a:t>CRYPTOGRAPHY &amp; NETWORK SECURITY</a:t>
            </a:r>
            <a:endParaRPr lang="en-US" sz="1400" dirty="0"/>
          </a:p>
        </p:txBody>
      </p:sp>
      <p:sp>
        <p:nvSpPr>
          <p:cNvPr id="7" name="Text 5"/>
          <p:cNvSpPr/>
          <p:nvPr/>
        </p:nvSpPr>
        <p:spPr>
          <a:xfrm>
            <a:off x="822960" y="1920240"/>
            <a:ext cx="10241280" cy="182880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Hashing Algorithms, Digital Signatures</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&amp; Public Key Infrastructure</a:t>
            </a:r>
            <a:endParaRPr lang="en-US" sz="4000" dirty="0"/>
          </a:p>
        </p:txBody>
      </p:sp>
      <p:sp>
        <p:nvSpPr>
          <p:cNvPr id="8" name="Text 6"/>
          <p:cNvSpPr/>
          <p:nvPr/>
        </p:nvSpPr>
        <p:spPr>
          <a:xfrm>
            <a:off x="822960" y="3794760"/>
            <a:ext cx="10058400" cy="457200"/>
          </a:xfrm>
          <a:prstGeom prst="rect">
            <a:avLst/>
          </a:prstGeom>
          <a:noFill/>
          <a:ln/>
        </p:spPr>
        <p:txBody>
          <a:bodyPr wrap="square" rtlCol="0" anchor="ctr"/>
          <a:lstStyle/>
          <a:p>
            <a:pPr marL="0" indent="0">
              <a:buNone/>
            </a:pPr>
            <a:r>
              <a:rPr lang="en-US" sz="1600" i="1" dirty="0">
                <a:solidFill>
                  <a:srgbClr val="5FD0DE"/>
                </a:solidFill>
                <a:latin typeface="Calibri" pitchFamily="34" charset="0"/>
                <a:ea typeface="Calibri" pitchFamily="34" charset="-122"/>
                <a:cs typeface="Calibri" pitchFamily="34" charset="-120"/>
              </a:rPr>
              <a:t>SHA  •  MD5  •  Digital Signatures  •  Digital Certificates  •  PKI</a:t>
            </a:r>
            <a:endParaRPr lang="en-US" sz="1600" dirty="0"/>
          </a:p>
        </p:txBody>
      </p:sp>
      <p:sp>
        <p:nvSpPr>
          <p:cNvPr id="9" name="Shape 7"/>
          <p:cNvSpPr/>
          <p:nvPr/>
        </p:nvSpPr>
        <p:spPr>
          <a:xfrm>
            <a:off x="9692640" y="4892040"/>
            <a:ext cx="1188720" cy="914400"/>
          </a:xfrm>
          <a:prstGeom prst="roundRect">
            <a:avLst>
              <a:gd name="adj" fmla="val 12000"/>
            </a:avLst>
          </a:prstGeom>
          <a:solidFill>
            <a:srgbClr val="FFB100"/>
          </a:solidFill>
          <a:ln/>
        </p:spPr>
      </p:sp>
      <p:sp>
        <p:nvSpPr>
          <p:cNvPr id="10" name="Shape 8"/>
          <p:cNvSpPr/>
          <p:nvPr/>
        </p:nvSpPr>
        <p:spPr>
          <a:xfrm>
            <a:off x="9921240" y="4343400"/>
            <a:ext cx="731520" cy="822960"/>
          </a:xfrm>
          <a:prstGeom prst="arc">
            <a:avLst>
              <a:gd name="adj1" fmla="val 10800000"/>
              <a:gd name="adj2" fmla="val 21600000"/>
            </a:avLst>
          </a:prstGeom>
          <a:ln w="76200">
            <a:solidFill>
              <a:srgbClr val="FFB100"/>
            </a:solidFill>
            <a:prstDash val="solid"/>
          </a:ln>
        </p:spPr>
      </p:sp>
      <p:sp>
        <p:nvSpPr>
          <p:cNvPr id="11" name="Text 9"/>
          <p:cNvSpPr/>
          <p:nvPr/>
        </p:nvSpPr>
        <p:spPr>
          <a:xfrm>
            <a:off x="822960" y="6035040"/>
            <a:ext cx="7315200" cy="365760"/>
          </a:xfrm>
          <a:prstGeom prst="rect">
            <a:avLst/>
          </a:prstGeom>
          <a:noFill/>
          <a:ln/>
        </p:spPr>
        <p:txBody>
          <a:bodyPr wrap="square" rtlCol="0" anchor="ctr"/>
          <a:lstStyle/>
          <a:p>
            <a:pPr marL="0" indent="0">
              <a:buNone/>
            </a:pPr>
            <a:r>
              <a:rPr lang="en-US" sz="1200" dirty="0">
                <a:solidFill>
                  <a:srgbClr val="9FB3D1"/>
                </a:solidFill>
                <a:latin typeface="Calibri" pitchFamily="34" charset="0"/>
                <a:ea typeface="Calibri" pitchFamily="34" charset="-122"/>
                <a:cs typeface="Calibri" pitchFamily="34" charset="-120"/>
              </a:rPr>
              <a:t>Presented by: [Your Name]      |      [Course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Agenda</a:t>
            </a:r>
            <a:endParaRPr lang="en-US" sz="3000" dirty="0"/>
          </a:p>
        </p:txBody>
      </p:sp>
      <p:sp>
        <p:nvSpPr>
          <p:cNvPr id="4" name="Shape 2"/>
          <p:cNvSpPr/>
          <p:nvPr/>
        </p:nvSpPr>
        <p:spPr>
          <a:xfrm>
            <a:off x="548640" y="1417320"/>
            <a:ext cx="5349240" cy="1234440"/>
          </a:xfrm>
          <a:prstGeom prst="roundRect">
            <a:avLst>
              <a:gd name="adj" fmla="val 5926"/>
            </a:avLst>
          </a:prstGeom>
          <a:solidFill>
            <a:srgbClr val="FFFFFF"/>
          </a:solidFill>
          <a:ln w="12700">
            <a:solidFill>
              <a:srgbClr val="D7DEE7"/>
            </a:solidFill>
            <a:prstDash val="solid"/>
          </a:ln>
          <a:effectLst>
            <a:outerShdw blurRad="63500" dist="25400" dir="5400000" algn="bl" rotWithShape="0">
              <a:srgbClr val="AAAAAA">
                <a:alpha val="20000"/>
              </a:srgbClr>
            </a:outerShdw>
          </a:effectLst>
        </p:spPr>
      </p:sp>
      <p:sp>
        <p:nvSpPr>
          <p:cNvPr id="5" name="Shape 3"/>
          <p:cNvSpPr/>
          <p:nvPr/>
        </p:nvSpPr>
        <p:spPr>
          <a:xfrm>
            <a:off x="749808" y="1714500"/>
            <a:ext cx="640080" cy="640080"/>
          </a:xfrm>
          <a:prstGeom prst="ellipse">
            <a:avLst/>
          </a:prstGeom>
          <a:solidFill>
            <a:srgbClr val="0F1C3F"/>
          </a:solidFill>
          <a:ln/>
        </p:spPr>
      </p:sp>
      <p:sp>
        <p:nvSpPr>
          <p:cNvPr id="6" name="Text 4"/>
          <p:cNvSpPr/>
          <p:nvPr/>
        </p:nvSpPr>
        <p:spPr>
          <a:xfrm>
            <a:off x="749808" y="1714500"/>
            <a:ext cx="640080" cy="640080"/>
          </a:xfrm>
          <a:prstGeom prst="rect">
            <a:avLst/>
          </a:prstGeom>
          <a:noFill/>
          <a:ln/>
        </p:spPr>
        <p:txBody>
          <a:bodyPr wrap="square" rtlCol="0" anchor="ctr"/>
          <a:lstStyle/>
          <a:p>
            <a:pPr marL="0" indent="0" algn="ctr">
              <a:buNone/>
            </a:pPr>
            <a:r>
              <a:rPr lang="en-US" sz="1800" b="1" dirty="0">
                <a:solidFill>
                  <a:srgbClr val="FFB100"/>
                </a:solidFill>
                <a:latin typeface="Cambria" pitchFamily="34" charset="0"/>
                <a:ea typeface="Cambria" pitchFamily="34" charset="-122"/>
                <a:cs typeface="Cambria" pitchFamily="34" charset="-120"/>
              </a:rPr>
              <a:t>01</a:t>
            </a:r>
            <a:endParaRPr lang="en-US" sz="1800" dirty="0"/>
          </a:p>
        </p:txBody>
      </p:sp>
      <p:sp>
        <p:nvSpPr>
          <p:cNvPr id="7" name="Text 5"/>
          <p:cNvSpPr/>
          <p:nvPr/>
        </p:nvSpPr>
        <p:spPr>
          <a:xfrm>
            <a:off x="1554480" y="1563624"/>
            <a:ext cx="416052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Hashing Fundamentals</a:t>
            </a:r>
            <a:endParaRPr lang="en-US" sz="1400" dirty="0"/>
          </a:p>
        </p:txBody>
      </p:sp>
      <p:sp>
        <p:nvSpPr>
          <p:cNvPr id="8" name="Text 6"/>
          <p:cNvSpPr/>
          <p:nvPr/>
        </p:nvSpPr>
        <p:spPr>
          <a:xfrm>
            <a:off x="1554480" y="1929384"/>
            <a:ext cx="4160520" cy="640080"/>
          </a:xfrm>
          <a:prstGeom prst="rect">
            <a:avLst/>
          </a:prstGeom>
          <a:noFill/>
          <a:ln/>
        </p:spPr>
        <p:txBody>
          <a:bodyPr wrap="square" rtlCol="0" anchor="t"/>
          <a:lstStyle/>
          <a:p>
            <a:pPr marL="0" indent="0">
              <a:buNone/>
            </a:pPr>
            <a:r>
              <a:rPr lang="en-US" sz="1050" dirty="0">
                <a:solidFill>
                  <a:srgbClr val="6B7785"/>
                </a:solidFill>
                <a:latin typeface="Calibri" pitchFamily="34" charset="0"/>
                <a:ea typeface="Calibri" pitchFamily="34" charset="-122"/>
                <a:cs typeface="Calibri" pitchFamily="34" charset="-120"/>
              </a:rPr>
              <a:t>What hashing is, and the properties every good hash function needs</a:t>
            </a:r>
            <a:endParaRPr lang="en-US" sz="1050" dirty="0"/>
          </a:p>
        </p:txBody>
      </p:sp>
      <p:sp>
        <p:nvSpPr>
          <p:cNvPr id="9" name="Shape 7"/>
          <p:cNvSpPr/>
          <p:nvPr/>
        </p:nvSpPr>
        <p:spPr>
          <a:xfrm>
            <a:off x="6217920" y="1417320"/>
            <a:ext cx="5349240" cy="1234440"/>
          </a:xfrm>
          <a:prstGeom prst="roundRect">
            <a:avLst>
              <a:gd name="adj" fmla="val 5926"/>
            </a:avLst>
          </a:prstGeom>
          <a:solidFill>
            <a:srgbClr val="FFFFFF"/>
          </a:solidFill>
          <a:ln w="12700">
            <a:solidFill>
              <a:srgbClr val="D7DEE7"/>
            </a:solidFill>
            <a:prstDash val="solid"/>
          </a:ln>
          <a:effectLst>
            <a:outerShdw blurRad="63500" dist="25400" dir="5400000" algn="bl" rotWithShape="0">
              <a:srgbClr val="AAAAAA">
                <a:alpha val="20000"/>
              </a:srgbClr>
            </a:outerShdw>
          </a:effectLst>
        </p:spPr>
      </p:sp>
      <p:sp>
        <p:nvSpPr>
          <p:cNvPr id="10" name="Shape 8"/>
          <p:cNvSpPr/>
          <p:nvPr/>
        </p:nvSpPr>
        <p:spPr>
          <a:xfrm>
            <a:off x="6419088" y="1714500"/>
            <a:ext cx="640080" cy="640080"/>
          </a:xfrm>
          <a:prstGeom prst="ellipse">
            <a:avLst/>
          </a:prstGeom>
          <a:solidFill>
            <a:srgbClr val="0F1C3F"/>
          </a:solidFill>
          <a:ln/>
        </p:spPr>
      </p:sp>
      <p:sp>
        <p:nvSpPr>
          <p:cNvPr id="11" name="Text 9"/>
          <p:cNvSpPr/>
          <p:nvPr/>
        </p:nvSpPr>
        <p:spPr>
          <a:xfrm>
            <a:off x="6419088" y="1714500"/>
            <a:ext cx="640080" cy="640080"/>
          </a:xfrm>
          <a:prstGeom prst="rect">
            <a:avLst/>
          </a:prstGeom>
          <a:noFill/>
          <a:ln/>
        </p:spPr>
        <p:txBody>
          <a:bodyPr wrap="square" rtlCol="0" anchor="ctr"/>
          <a:lstStyle/>
          <a:p>
            <a:pPr marL="0" indent="0" algn="ctr">
              <a:buNone/>
            </a:pPr>
            <a:r>
              <a:rPr lang="en-US" sz="1800" b="1" dirty="0">
                <a:solidFill>
                  <a:srgbClr val="FFB100"/>
                </a:solidFill>
                <a:latin typeface="Cambria" pitchFamily="34" charset="0"/>
                <a:ea typeface="Cambria" pitchFamily="34" charset="-122"/>
                <a:cs typeface="Cambria" pitchFamily="34" charset="-120"/>
              </a:rPr>
              <a:t>02</a:t>
            </a:r>
            <a:endParaRPr lang="en-US" sz="1800" dirty="0"/>
          </a:p>
        </p:txBody>
      </p:sp>
      <p:sp>
        <p:nvSpPr>
          <p:cNvPr id="12" name="Text 10"/>
          <p:cNvSpPr/>
          <p:nvPr/>
        </p:nvSpPr>
        <p:spPr>
          <a:xfrm>
            <a:off x="7223760" y="1563624"/>
            <a:ext cx="416052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MD5 &amp; SHA Algorithms</a:t>
            </a:r>
            <a:endParaRPr lang="en-US" sz="1400" dirty="0"/>
          </a:p>
        </p:txBody>
      </p:sp>
      <p:sp>
        <p:nvSpPr>
          <p:cNvPr id="13" name="Text 11"/>
          <p:cNvSpPr/>
          <p:nvPr/>
        </p:nvSpPr>
        <p:spPr>
          <a:xfrm>
            <a:off x="7223760" y="1929384"/>
            <a:ext cx="4160520" cy="640080"/>
          </a:xfrm>
          <a:prstGeom prst="rect">
            <a:avLst/>
          </a:prstGeom>
          <a:noFill/>
          <a:ln/>
        </p:spPr>
        <p:txBody>
          <a:bodyPr wrap="square" rtlCol="0" anchor="t"/>
          <a:lstStyle/>
          <a:p>
            <a:pPr marL="0" indent="0">
              <a:buNone/>
            </a:pPr>
            <a:r>
              <a:rPr lang="en-US" sz="1050" dirty="0">
                <a:solidFill>
                  <a:srgbClr val="6B7785"/>
                </a:solidFill>
                <a:latin typeface="Calibri" pitchFamily="34" charset="0"/>
                <a:ea typeface="Calibri" pitchFamily="34" charset="-122"/>
                <a:cs typeface="Calibri" pitchFamily="34" charset="-120"/>
              </a:rPr>
              <a:t>Internal process flow, strengths, weaknesses, and where each stands today</a:t>
            </a:r>
            <a:endParaRPr lang="en-US" sz="1050" dirty="0"/>
          </a:p>
        </p:txBody>
      </p:sp>
      <p:sp>
        <p:nvSpPr>
          <p:cNvPr id="14" name="Shape 12"/>
          <p:cNvSpPr/>
          <p:nvPr/>
        </p:nvSpPr>
        <p:spPr>
          <a:xfrm>
            <a:off x="548640" y="2852928"/>
            <a:ext cx="5349240" cy="1234440"/>
          </a:xfrm>
          <a:prstGeom prst="roundRect">
            <a:avLst>
              <a:gd name="adj" fmla="val 5926"/>
            </a:avLst>
          </a:prstGeom>
          <a:solidFill>
            <a:srgbClr val="FFFFFF"/>
          </a:solidFill>
          <a:ln w="12700">
            <a:solidFill>
              <a:srgbClr val="D7DEE7"/>
            </a:solidFill>
            <a:prstDash val="solid"/>
          </a:ln>
          <a:effectLst>
            <a:outerShdw blurRad="63500" dist="25400" dir="5400000" algn="bl" rotWithShape="0">
              <a:srgbClr val="AAAAAA">
                <a:alpha val="20000"/>
              </a:srgbClr>
            </a:outerShdw>
          </a:effectLst>
        </p:spPr>
      </p:sp>
      <p:sp>
        <p:nvSpPr>
          <p:cNvPr id="15" name="Shape 13"/>
          <p:cNvSpPr/>
          <p:nvPr/>
        </p:nvSpPr>
        <p:spPr>
          <a:xfrm>
            <a:off x="749808" y="3150108"/>
            <a:ext cx="640080" cy="640080"/>
          </a:xfrm>
          <a:prstGeom prst="ellipse">
            <a:avLst/>
          </a:prstGeom>
          <a:solidFill>
            <a:srgbClr val="0F1C3F"/>
          </a:solidFill>
          <a:ln/>
        </p:spPr>
      </p:sp>
      <p:sp>
        <p:nvSpPr>
          <p:cNvPr id="16" name="Text 14"/>
          <p:cNvSpPr/>
          <p:nvPr/>
        </p:nvSpPr>
        <p:spPr>
          <a:xfrm>
            <a:off x="749808" y="3150108"/>
            <a:ext cx="640080" cy="640080"/>
          </a:xfrm>
          <a:prstGeom prst="rect">
            <a:avLst/>
          </a:prstGeom>
          <a:noFill/>
          <a:ln/>
        </p:spPr>
        <p:txBody>
          <a:bodyPr wrap="square" rtlCol="0" anchor="ctr"/>
          <a:lstStyle/>
          <a:p>
            <a:pPr marL="0" indent="0" algn="ctr">
              <a:buNone/>
            </a:pPr>
            <a:r>
              <a:rPr lang="en-US" sz="1800" b="1" dirty="0">
                <a:solidFill>
                  <a:srgbClr val="FFB100"/>
                </a:solidFill>
                <a:latin typeface="Cambria" pitchFamily="34" charset="0"/>
                <a:ea typeface="Cambria" pitchFamily="34" charset="-122"/>
                <a:cs typeface="Cambria" pitchFamily="34" charset="-120"/>
              </a:rPr>
              <a:t>03</a:t>
            </a:r>
            <a:endParaRPr lang="en-US" sz="1800" dirty="0"/>
          </a:p>
        </p:txBody>
      </p:sp>
      <p:sp>
        <p:nvSpPr>
          <p:cNvPr id="17" name="Text 15"/>
          <p:cNvSpPr/>
          <p:nvPr/>
        </p:nvSpPr>
        <p:spPr>
          <a:xfrm>
            <a:off x="1554480" y="2999232"/>
            <a:ext cx="416052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Digital Signatures</a:t>
            </a:r>
            <a:endParaRPr lang="en-US" sz="1400" dirty="0"/>
          </a:p>
        </p:txBody>
      </p:sp>
      <p:sp>
        <p:nvSpPr>
          <p:cNvPr id="18" name="Text 16"/>
          <p:cNvSpPr/>
          <p:nvPr/>
        </p:nvSpPr>
        <p:spPr>
          <a:xfrm>
            <a:off x="1554480" y="3364992"/>
            <a:ext cx="4160520" cy="640080"/>
          </a:xfrm>
          <a:prstGeom prst="rect">
            <a:avLst/>
          </a:prstGeom>
          <a:noFill/>
          <a:ln/>
        </p:spPr>
        <p:txBody>
          <a:bodyPr wrap="square" rtlCol="0" anchor="t"/>
          <a:lstStyle/>
          <a:p>
            <a:pPr marL="0" indent="0">
              <a:buNone/>
            </a:pPr>
            <a:r>
              <a:rPr lang="en-US" sz="1050" dirty="0">
                <a:solidFill>
                  <a:srgbClr val="6B7785"/>
                </a:solidFill>
                <a:latin typeface="Calibri" pitchFamily="34" charset="0"/>
                <a:ea typeface="Calibri" pitchFamily="34" charset="-122"/>
                <a:cs typeface="Calibri" pitchFamily="34" charset="-120"/>
              </a:rPr>
              <a:t>How hashing + asymmetric keys prove authenticity and integrity</a:t>
            </a:r>
            <a:endParaRPr lang="en-US" sz="1050" dirty="0"/>
          </a:p>
        </p:txBody>
      </p:sp>
      <p:sp>
        <p:nvSpPr>
          <p:cNvPr id="19" name="Shape 17"/>
          <p:cNvSpPr/>
          <p:nvPr/>
        </p:nvSpPr>
        <p:spPr>
          <a:xfrm>
            <a:off x="6217920" y="2852928"/>
            <a:ext cx="5349240" cy="1234440"/>
          </a:xfrm>
          <a:prstGeom prst="roundRect">
            <a:avLst>
              <a:gd name="adj" fmla="val 5926"/>
            </a:avLst>
          </a:prstGeom>
          <a:solidFill>
            <a:srgbClr val="FFFFFF"/>
          </a:solidFill>
          <a:ln w="12700">
            <a:solidFill>
              <a:srgbClr val="D7DEE7"/>
            </a:solidFill>
            <a:prstDash val="solid"/>
          </a:ln>
          <a:effectLst>
            <a:outerShdw blurRad="63500" dist="25400" dir="5400000" algn="bl" rotWithShape="0">
              <a:srgbClr val="AAAAAA">
                <a:alpha val="20000"/>
              </a:srgbClr>
            </a:outerShdw>
          </a:effectLst>
        </p:spPr>
      </p:sp>
      <p:sp>
        <p:nvSpPr>
          <p:cNvPr id="20" name="Shape 18"/>
          <p:cNvSpPr/>
          <p:nvPr/>
        </p:nvSpPr>
        <p:spPr>
          <a:xfrm>
            <a:off x="6419088" y="3150108"/>
            <a:ext cx="640080" cy="640080"/>
          </a:xfrm>
          <a:prstGeom prst="ellipse">
            <a:avLst/>
          </a:prstGeom>
          <a:solidFill>
            <a:srgbClr val="0F1C3F"/>
          </a:solidFill>
          <a:ln/>
        </p:spPr>
      </p:sp>
      <p:sp>
        <p:nvSpPr>
          <p:cNvPr id="21" name="Text 19"/>
          <p:cNvSpPr/>
          <p:nvPr/>
        </p:nvSpPr>
        <p:spPr>
          <a:xfrm>
            <a:off x="6419088" y="3150108"/>
            <a:ext cx="640080" cy="640080"/>
          </a:xfrm>
          <a:prstGeom prst="rect">
            <a:avLst/>
          </a:prstGeom>
          <a:noFill/>
          <a:ln/>
        </p:spPr>
        <p:txBody>
          <a:bodyPr wrap="square" rtlCol="0" anchor="ctr"/>
          <a:lstStyle/>
          <a:p>
            <a:pPr marL="0" indent="0" algn="ctr">
              <a:buNone/>
            </a:pPr>
            <a:r>
              <a:rPr lang="en-US" sz="1800" b="1" dirty="0">
                <a:solidFill>
                  <a:srgbClr val="FFB100"/>
                </a:solidFill>
                <a:latin typeface="Cambria" pitchFamily="34" charset="0"/>
                <a:ea typeface="Cambria" pitchFamily="34" charset="-122"/>
                <a:cs typeface="Cambria" pitchFamily="34" charset="-120"/>
              </a:rPr>
              <a:t>04</a:t>
            </a:r>
            <a:endParaRPr lang="en-US" sz="1800" dirty="0"/>
          </a:p>
        </p:txBody>
      </p:sp>
      <p:sp>
        <p:nvSpPr>
          <p:cNvPr id="22" name="Text 20"/>
          <p:cNvSpPr/>
          <p:nvPr/>
        </p:nvSpPr>
        <p:spPr>
          <a:xfrm>
            <a:off x="7223760" y="2999232"/>
            <a:ext cx="416052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Digital Certificates</a:t>
            </a:r>
            <a:endParaRPr lang="en-US" sz="1400" dirty="0"/>
          </a:p>
        </p:txBody>
      </p:sp>
      <p:sp>
        <p:nvSpPr>
          <p:cNvPr id="23" name="Text 21"/>
          <p:cNvSpPr/>
          <p:nvPr/>
        </p:nvSpPr>
        <p:spPr>
          <a:xfrm>
            <a:off x="7223760" y="3364992"/>
            <a:ext cx="4160520" cy="640080"/>
          </a:xfrm>
          <a:prstGeom prst="rect">
            <a:avLst/>
          </a:prstGeom>
          <a:noFill/>
          <a:ln/>
        </p:spPr>
        <p:txBody>
          <a:bodyPr wrap="square" rtlCol="0" anchor="t"/>
          <a:lstStyle/>
          <a:p>
            <a:pPr marL="0" indent="0">
              <a:buNone/>
            </a:pPr>
            <a:r>
              <a:rPr lang="en-US" sz="1050" dirty="0">
                <a:solidFill>
                  <a:srgbClr val="6B7785"/>
                </a:solidFill>
                <a:latin typeface="Calibri" pitchFamily="34" charset="0"/>
                <a:ea typeface="Calibri" pitchFamily="34" charset="-122"/>
                <a:cs typeface="Calibri" pitchFamily="34" charset="-120"/>
              </a:rPr>
              <a:t>Binding a public key to a verified identity</a:t>
            </a:r>
            <a:endParaRPr lang="en-US" sz="1050" dirty="0"/>
          </a:p>
        </p:txBody>
      </p:sp>
      <p:sp>
        <p:nvSpPr>
          <p:cNvPr id="24" name="Shape 22"/>
          <p:cNvSpPr/>
          <p:nvPr/>
        </p:nvSpPr>
        <p:spPr>
          <a:xfrm>
            <a:off x="548640" y="4288536"/>
            <a:ext cx="5349240" cy="1234440"/>
          </a:xfrm>
          <a:prstGeom prst="roundRect">
            <a:avLst>
              <a:gd name="adj" fmla="val 5926"/>
            </a:avLst>
          </a:prstGeom>
          <a:solidFill>
            <a:srgbClr val="FFFFFF"/>
          </a:solidFill>
          <a:ln w="12700">
            <a:solidFill>
              <a:srgbClr val="D7DEE7"/>
            </a:solidFill>
            <a:prstDash val="solid"/>
          </a:ln>
          <a:effectLst>
            <a:outerShdw blurRad="63500" dist="25400" dir="5400000" algn="bl" rotWithShape="0">
              <a:srgbClr val="AAAAAA">
                <a:alpha val="20000"/>
              </a:srgbClr>
            </a:outerShdw>
          </a:effectLst>
        </p:spPr>
      </p:sp>
      <p:sp>
        <p:nvSpPr>
          <p:cNvPr id="25" name="Shape 23"/>
          <p:cNvSpPr/>
          <p:nvPr/>
        </p:nvSpPr>
        <p:spPr>
          <a:xfrm>
            <a:off x="749808" y="4585716"/>
            <a:ext cx="640080" cy="640080"/>
          </a:xfrm>
          <a:prstGeom prst="ellipse">
            <a:avLst/>
          </a:prstGeom>
          <a:solidFill>
            <a:srgbClr val="0F1C3F"/>
          </a:solidFill>
          <a:ln/>
        </p:spPr>
      </p:sp>
      <p:sp>
        <p:nvSpPr>
          <p:cNvPr id="26" name="Text 24"/>
          <p:cNvSpPr/>
          <p:nvPr/>
        </p:nvSpPr>
        <p:spPr>
          <a:xfrm>
            <a:off x="749808" y="4585716"/>
            <a:ext cx="640080" cy="640080"/>
          </a:xfrm>
          <a:prstGeom prst="rect">
            <a:avLst/>
          </a:prstGeom>
          <a:noFill/>
          <a:ln/>
        </p:spPr>
        <p:txBody>
          <a:bodyPr wrap="square" rtlCol="0" anchor="ctr"/>
          <a:lstStyle/>
          <a:p>
            <a:pPr marL="0" indent="0" algn="ctr">
              <a:buNone/>
            </a:pPr>
            <a:r>
              <a:rPr lang="en-US" sz="1800" b="1" dirty="0">
                <a:solidFill>
                  <a:srgbClr val="FFB100"/>
                </a:solidFill>
                <a:latin typeface="Cambria" pitchFamily="34" charset="0"/>
                <a:ea typeface="Cambria" pitchFamily="34" charset="-122"/>
                <a:cs typeface="Cambria" pitchFamily="34" charset="-120"/>
              </a:rPr>
              <a:t>05</a:t>
            </a:r>
            <a:endParaRPr lang="en-US" sz="1800" dirty="0"/>
          </a:p>
        </p:txBody>
      </p:sp>
      <p:sp>
        <p:nvSpPr>
          <p:cNvPr id="27" name="Text 25"/>
          <p:cNvSpPr/>
          <p:nvPr/>
        </p:nvSpPr>
        <p:spPr>
          <a:xfrm>
            <a:off x="1554480" y="4434840"/>
            <a:ext cx="416052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Public Key Infrastructure</a:t>
            </a:r>
            <a:endParaRPr lang="en-US" sz="1400" dirty="0"/>
          </a:p>
        </p:txBody>
      </p:sp>
      <p:sp>
        <p:nvSpPr>
          <p:cNvPr id="28" name="Text 26"/>
          <p:cNvSpPr/>
          <p:nvPr/>
        </p:nvSpPr>
        <p:spPr>
          <a:xfrm>
            <a:off x="1554480" y="4800600"/>
            <a:ext cx="4160520" cy="640080"/>
          </a:xfrm>
          <a:prstGeom prst="rect">
            <a:avLst/>
          </a:prstGeom>
          <a:noFill/>
          <a:ln/>
        </p:spPr>
        <p:txBody>
          <a:bodyPr wrap="square" rtlCol="0" anchor="t"/>
          <a:lstStyle/>
          <a:p>
            <a:pPr marL="0" indent="0">
              <a:buNone/>
            </a:pPr>
            <a:r>
              <a:rPr lang="en-US" sz="1050" dirty="0">
                <a:solidFill>
                  <a:srgbClr val="6B7785"/>
                </a:solidFill>
                <a:latin typeface="Calibri" pitchFamily="34" charset="0"/>
                <a:ea typeface="Calibri" pitchFamily="34" charset="-122"/>
                <a:cs typeface="Calibri" pitchFamily="34" charset="-120"/>
              </a:rPr>
              <a:t>The ecosystem (CA, RA, repository) that makes trust scalable</a:t>
            </a:r>
            <a:endParaRPr lang="en-US" sz="1050" dirty="0"/>
          </a:p>
        </p:txBody>
      </p:sp>
      <p:sp>
        <p:nvSpPr>
          <p:cNvPr id="29" name="Shape 27"/>
          <p:cNvSpPr/>
          <p:nvPr/>
        </p:nvSpPr>
        <p:spPr>
          <a:xfrm>
            <a:off x="6217920" y="4288536"/>
            <a:ext cx="5349240" cy="1234440"/>
          </a:xfrm>
          <a:prstGeom prst="roundRect">
            <a:avLst>
              <a:gd name="adj" fmla="val 5926"/>
            </a:avLst>
          </a:prstGeom>
          <a:solidFill>
            <a:srgbClr val="FFFFFF"/>
          </a:solidFill>
          <a:ln w="12700">
            <a:solidFill>
              <a:srgbClr val="D7DEE7"/>
            </a:solidFill>
            <a:prstDash val="solid"/>
          </a:ln>
          <a:effectLst>
            <a:outerShdw blurRad="63500" dist="25400" dir="5400000" algn="bl" rotWithShape="0">
              <a:srgbClr val="AAAAAA">
                <a:alpha val="20000"/>
              </a:srgbClr>
            </a:outerShdw>
          </a:effectLst>
        </p:spPr>
      </p:sp>
      <p:sp>
        <p:nvSpPr>
          <p:cNvPr id="30" name="Shape 28"/>
          <p:cNvSpPr/>
          <p:nvPr/>
        </p:nvSpPr>
        <p:spPr>
          <a:xfrm>
            <a:off x="6419088" y="4585716"/>
            <a:ext cx="640080" cy="640080"/>
          </a:xfrm>
          <a:prstGeom prst="ellipse">
            <a:avLst/>
          </a:prstGeom>
          <a:solidFill>
            <a:srgbClr val="0F1C3F"/>
          </a:solidFill>
          <a:ln/>
        </p:spPr>
      </p:sp>
      <p:sp>
        <p:nvSpPr>
          <p:cNvPr id="31" name="Text 29"/>
          <p:cNvSpPr/>
          <p:nvPr/>
        </p:nvSpPr>
        <p:spPr>
          <a:xfrm>
            <a:off x="6419088" y="4585716"/>
            <a:ext cx="640080" cy="640080"/>
          </a:xfrm>
          <a:prstGeom prst="rect">
            <a:avLst/>
          </a:prstGeom>
          <a:noFill/>
          <a:ln/>
        </p:spPr>
        <p:txBody>
          <a:bodyPr wrap="square" rtlCol="0" anchor="ctr"/>
          <a:lstStyle/>
          <a:p>
            <a:pPr marL="0" indent="0" algn="ctr">
              <a:buNone/>
            </a:pPr>
            <a:r>
              <a:rPr lang="en-US" sz="1800" b="1" dirty="0">
                <a:solidFill>
                  <a:srgbClr val="FFB100"/>
                </a:solidFill>
                <a:latin typeface="Cambria" pitchFamily="34" charset="0"/>
                <a:ea typeface="Cambria" pitchFamily="34" charset="-122"/>
                <a:cs typeface="Cambria" pitchFamily="34" charset="-120"/>
              </a:rPr>
              <a:t>06</a:t>
            </a:r>
            <a:endParaRPr lang="en-US" sz="1800" dirty="0"/>
          </a:p>
        </p:txBody>
      </p:sp>
      <p:sp>
        <p:nvSpPr>
          <p:cNvPr id="32" name="Text 30"/>
          <p:cNvSpPr/>
          <p:nvPr/>
        </p:nvSpPr>
        <p:spPr>
          <a:xfrm>
            <a:off x="7223760" y="4434840"/>
            <a:ext cx="4160520" cy="365760"/>
          </a:xfrm>
          <a:prstGeom prst="rect">
            <a:avLst/>
          </a:prstGeom>
          <a:noFill/>
          <a:ln/>
        </p:spPr>
        <p:txBody>
          <a:bodyPr wrap="square" rtlCol="0" anchor="ctr"/>
          <a:lstStyle/>
          <a:p>
            <a:pPr marL="0" indent="0">
              <a:buNone/>
            </a:pPr>
            <a:r>
              <a:rPr lang="en-US" sz="1400" b="1" dirty="0">
                <a:solidFill>
                  <a:srgbClr val="1B2430"/>
                </a:solidFill>
                <a:latin typeface="Calibri" pitchFamily="34" charset="0"/>
                <a:ea typeface="Calibri" pitchFamily="34" charset="-122"/>
                <a:cs typeface="Calibri" pitchFamily="34" charset="-120"/>
              </a:rPr>
              <a:t>Real-World Applications</a:t>
            </a:r>
            <a:endParaRPr lang="en-US" sz="1400" dirty="0"/>
          </a:p>
        </p:txBody>
      </p:sp>
      <p:sp>
        <p:nvSpPr>
          <p:cNvPr id="33" name="Text 31"/>
          <p:cNvSpPr/>
          <p:nvPr/>
        </p:nvSpPr>
        <p:spPr>
          <a:xfrm>
            <a:off x="7223760" y="4800600"/>
            <a:ext cx="4160520" cy="640080"/>
          </a:xfrm>
          <a:prstGeom prst="rect">
            <a:avLst/>
          </a:prstGeom>
          <a:noFill/>
          <a:ln/>
        </p:spPr>
        <p:txBody>
          <a:bodyPr wrap="square" rtlCol="0" anchor="t"/>
          <a:lstStyle/>
          <a:p>
            <a:pPr marL="0" indent="0">
              <a:buNone/>
            </a:pPr>
            <a:r>
              <a:rPr lang="en-US" sz="1050" dirty="0">
                <a:solidFill>
                  <a:srgbClr val="6B7785"/>
                </a:solidFill>
                <a:latin typeface="Calibri" pitchFamily="34" charset="0"/>
                <a:ea typeface="Calibri" pitchFamily="34" charset="-122"/>
                <a:cs typeface="Calibri" pitchFamily="34" charset="-120"/>
              </a:rPr>
              <a:t>HTTPS, email security, code signing &amp; more</a:t>
            </a:r>
            <a:endParaRPr lang="en-US" sz="1050" dirty="0"/>
          </a:p>
        </p:txBody>
      </p:sp>
      <p:sp>
        <p:nvSpPr>
          <p:cNvPr id="34" name="Text 32"/>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35" name="Text 3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HASHING FUNDAMENTALS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What Is a Hash Function?</a:t>
            </a:r>
            <a:endParaRPr lang="en-US" sz="3000" dirty="0"/>
          </a:p>
        </p:txBody>
      </p:sp>
      <p:sp>
        <p:nvSpPr>
          <p:cNvPr id="4" name="Text 2"/>
          <p:cNvSpPr/>
          <p:nvPr/>
        </p:nvSpPr>
        <p:spPr>
          <a:xfrm>
            <a:off x="548640" y="1371600"/>
            <a:ext cx="10972800" cy="640080"/>
          </a:xfrm>
          <a:prstGeom prst="rect">
            <a:avLst/>
          </a:prstGeom>
          <a:noFill/>
          <a:ln/>
        </p:spPr>
        <p:txBody>
          <a:bodyPr wrap="square" rtlCol="0" anchor="t"/>
          <a:lstStyle/>
          <a:p>
            <a:pPr marL="0" indent="0">
              <a:buNone/>
            </a:pPr>
            <a:r>
              <a:rPr lang="en-US" sz="1300" dirty="0">
                <a:solidFill>
                  <a:srgbClr val="1B2430"/>
                </a:solidFill>
                <a:latin typeface="Calibri" pitchFamily="34" charset="0"/>
                <a:ea typeface="Calibri" pitchFamily="34" charset="-122"/>
                <a:cs typeface="Calibri" pitchFamily="34" charset="-120"/>
              </a:rPr>
              <a:t>A hash function takes an input (or 'message') of any size and returns a </a:t>
            </a:r>
            <a:r>
              <a:rPr lang="en-US" sz="1300" b="1" dirty="0">
                <a:solidFill>
                  <a:srgbClr val="0F1C3F"/>
                </a:solidFill>
                <a:latin typeface="Calibri" pitchFamily="34" charset="0"/>
                <a:ea typeface="Calibri" pitchFamily="34" charset="-122"/>
                <a:cs typeface="Calibri" pitchFamily="34" charset="-120"/>
              </a:rPr>
              <a:t>fixed-size string of characters</a:t>
            </a:r>
            <a:r>
              <a:rPr lang="en-US" sz="1300" dirty="0">
                <a:solidFill>
                  <a:srgbClr val="1B2430"/>
                </a:solidFill>
                <a:latin typeface="Calibri" pitchFamily="34" charset="0"/>
                <a:ea typeface="Calibri" pitchFamily="34" charset="-122"/>
                <a:cs typeface="Calibri" pitchFamily="34" charset="-120"/>
              </a:rPr>
              <a:t> — the hash value or digest. It is a one-way function: easy to compute forward, practically impossible to reverse.</a:t>
            </a:r>
            <a:endParaRPr lang="en-US" sz="1300" dirty="0"/>
          </a:p>
        </p:txBody>
      </p:sp>
      <p:sp>
        <p:nvSpPr>
          <p:cNvPr id="5" name="Shape 3"/>
          <p:cNvSpPr/>
          <p:nvPr/>
        </p:nvSpPr>
        <p:spPr>
          <a:xfrm>
            <a:off x="548640" y="2468880"/>
            <a:ext cx="2834640" cy="1188720"/>
          </a:xfrm>
          <a:prstGeom prst="roundRect">
            <a:avLst>
              <a:gd name="adj" fmla="val 6154"/>
            </a:avLst>
          </a:prstGeom>
          <a:solidFill>
            <a:srgbClr val="F4F7FB"/>
          </a:solidFill>
          <a:ln w="12700">
            <a:solidFill>
              <a:srgbClr val="D7DEE7"/>
            </a:solidFill>
            <a:prstDash val="solid"/>
          </a:ln>
          <a:effectLst>
            <a:outerShdw blurRad="50800" dist="25400" dir="5400000" algn="bl" rotWithShape="0">
              <a:srgbClr val="AAAAAA">
                <a:alpha val="25000"/>
              </a:srgbClr>
            </a:outerShdw>
          </a:effectLst>
        </p:spPr>
      </p:sp>
      <p:sp>
        <p:nvSpPr>
          <p:cNvPr id="6" name="Text 4"/>
          <p:cNvSpPr/>
          <p:nvPr/>
        </p:nvSpPr>
        <p:spPr>
          <a:xfrm>
            <a:off x="621792" y="2542032"/>
            <a:ext cx="2688336" cy="653796"/>
          </a:xfrm>
          <a:prstGeom prst="rect">
            <a:avLst/>
          </a:prstGeom>
          <a:noFill/>
          <a:ln/>
        </p:spPr>
        <p:txBody>
          <a:bodyPr wrap="square" rtlCol="0" anchor="b"/>
          <a:lstStyle/>
          <a:p>
            <a:pPr marL="0" indent="0" algn="ctr">
              <a:buNone/>
            </a:pPr>
            <a:r>
              <a:rPr lang="en-US" sz="1250" b="1" dirty="0">
                <a:solidFill>
                  <a:srgbClr val="0F1C3F"/>
                </a:solidFill>
                <a:latin typeface="Calibri" pitchFamily="34" charset="0"/>
                <a:ea typeface="Calibri" pitchFamily="34" charset="-122"/>
                <a:cs typeface="Calibri" pitchFamily="34" charset="-120"/>
              </a:rPr>
              <a:t>INPUT (any size)</a:t>
            </a:r>
            <a:endParaRPr lang="en-US" sz="1250" dirty="0"/>
          </a:p>
        </p:txBody>
      </p:sp>
      <p:sp>
        <p:nvSpPr>
          <p:cNvPr id="7" name="Text 5"/>
          <p:cNvSpPr/>
          <p:nvPr/>
        </p:nvSpPr>
        <p:spPr>
          <a:xfrm>
            <a:off x="621792" y="3087014"/>
            <a:ext cx="2688336" cy="546811"/>
          </a:xfrm>
          <a:prstGeom prst="rect">
            <a:avLst/>
          </a:prstGeom>
          <a:noFill/>
          <a:ln/>
        </p:spPr>
        <p:txBody>
          <a:bodyPr wrap="square" rtlCol="0" anchor="t"/>
          <a:lstStyle/>
          <a:p>
            <a:pPr marL="0" indent="0" algn="ctr">
              <a:buNone/>
            </a:pPr>
            <a:r>
              <a:rPr lang="en-US" sz="950" dirty="0">
                <a:solidFill>
                  <a:srgbClr val="6B7785"/>
                </a:solidFill>
                <a:latin typeface="Calibri" pitchFamily="34" charset="0"/>
                <a:ea typeface="Calibri" pitchFamily="34" charset="-122"/>
                <a:cs typeface="Calibri" pitchFamily="34" charset="-120"/>
              </a:rPr>
              <a:t>"Transfer $500 to A/c 12345"</a:t>
            </a:r>
            <a:endParaRPr lang="en-US" sz="950" dirty="0"/>
          </a:p>
          <a:p>
            <a:pPr marL="0" indent="0" algn="ctr">
              <a:buNone/>
            </a:pPr>
            <a:r>
              <a:rPr lang="en-US" sz="950" dirty="0">
                <a:solidFill>
                  <a:srgbClr val="6B7785"/>
                </a:solidFill>
                <a:latin typeface="Calibri" pitchFamily="34" charset="0"/>
                <a:ea typeface="Calibri" pitchFamily="34" charset="-122"/>
                <a:cs typeface="Calibri" pitchFamily="34" charset="-120"/>
              </a:rPr>
              <a:t>or an entire 4 GB video file</a:t>
            </a:r>
            <a:endParaRPr lang="en-US" sz="950" dirty="0"/>
          </a:p>
        </p:txBody>
      </p:sp>
      <p:sp>
        <p:nvSpPr>
          <p:cNvPr id="8" name="Shape 6"/>
          <p:cNvSpPr/>
          <p:nvPr/>
        </p:nvSpPr>
        <p:spPr>
          <a:xfrm>
            <a:off x="3520440" y="2935224"/>
            <a:ext cx="822960" cy="256032"/>
          </a:xfrm>
          <a:prstGeom prst="rightArrow">
            <a:avLst/>
          </a:prstGeom>
          <a:solidFill>
            <a:srgbClr val="17A2B8"/>
          </a:solidFill>
          <a:ln/>
        </p:spPr>
      </p:sp>
      <p:sp>
        <p:nvSpPr>
          <p:cNvPr id="9" name="Shape 7"/>
          <p:cNvSpPr/>
          <p:nvPr/>
        </p:nvSpPr>
        <p:spPr>
          <a:xfrm>
            <a:off x="4480560" y="2331720"/>
            <a:ext cx="2743200" cy="1463040"/>
          </a:xfrm>
          <a:prstGeom prst="roundRect">
            <a:avLst>
              <a:gd name="adj" fmla="val 6250"/>
            </a:avLst>
          </a:prstGeom>
          <a:solidFill>
            <a:srgbClr val="0F1C3F"/>
          </a:solidFill>
          <a:ln/>
        </p:spPr>
      </p:sp>
      <p:sp>
        <p:nvSpPr>
          <p:cNvPr id="10" name="Text 8"/>
          <p:cNvSpPr/>
          <p:nvPr/>
        </p:nvSpPr>
        <p:spPr>
          <a:xfrm>
            <a:off x="4480560" y="2331720"/>
            <a:ext cx="274320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HASH FUNCTION</a:t>
            </a:r>
            <a:endParaRPr lang="en-US" sz="1400" dirty="0"/>
          </a:p>
        </p:txBody>
      </p:sp>
      <p:sp>
        <p:nvSpPr>
          <p:cNvPr id="11" name="Text 9"/>
          <p:cNvSpPr/>
          <p:nvPr/>
        </p:nvSpPr>
        <p:spPr>
          <a:xfrm>
            <a:off x="4480560" y="2788920"/>
            <a:ext cx="2743200" cy="457200"/>
          </a:xfrm>
          <a:prstGeom prst="rect">
            <a:avLst/>
          </a:prstGeom>
          <a:noFill/>
          <a:ln/>
        </p:spPr>
        <p:txBody>
          <a:bodyPr wrap="square" rtlCol="0" anchor="ctr"/>
          <a:lstStyle/>
          <a:p>
            <a:pPr marL="0" indent="0" algn="ctr">
              <a:buNone/>
            </a:pPr>
            <a:r>
              <a:rPr lang="en-US" sz="1050" i="1" dirty="0">
                <a:solidFill>
                  <a:srgbClr val="5FD0DE"/>
                </a:solidFill>
                <a:latin typeface="Calibri" pitchFamily="34" charset="0"/>
                <a:ea typeface="Calibri" pitchFamily="34" charset="-122"/>
                <a:cs typeface="Calibri" pitchFamily="34" charset="-120"/>
              </a:rPr>
              <a:t>MD5 / SHA-1 / SHA-256 ...</a:t>
            </a:r>
            <a:endParaRPr lang="en-US" sz="1050" dirty="0"/>
          </a:p>
        </p:txBody>
      </p:sp>
      <p:sp>
        <p:nvSpPr>
          <p:cNvPr id="12" name="Text 10"/>
          <p:cNvSpPr/>
          <p:nvPr/>
        </p:nvSpPr>
        <p:spPr>
          <a:xfrm>
            <a:off x="4480560" y="3182112"/>
            <a:ext cx="2743200" cy="457200"/>
          </a:xfrm>
          <a:prstGeom prst="rect">
            <a:avLst/>
          </a:prstGeom>
          <a:noFill/>
          <a:ln/>
        </p:spPr>
        <p:txBody>
          <a:bodyPr wrap="square" rtlCol="0" anchor="ctr"/>
          <a:lstStyle/>
          <a:p>
            <a:pPr marL="0" indent="0" algn="ctr">
              <a:buNone/>
            </a:pPr>
            <a:r>
              <a:rPr lang="en-US" sz="950" dirty="0">
                <a:solidFill>
                  <a:srgbClr val="9FB3D1"/>
                </a:solidFill>
                <a:latin typeface="Calibri" pitchFamily="34" charset="0"/>
                <a:ea typeface="Calibri" pitchFamily="34" charset="-122"/>
                <a:cs typeface="Calibri" pitchFamily="34" charset="-120"/>
              </a:rPr>
              <a:t>(one-way, deterministic)</a:t>
            </a:r>
            <a:endParaRPr lang="en-US" sz="950" dirty="0"/>
          </a:p>
        </p:txBody>
      </p:sp>
      <p:sp>
        <p:nvSpPr>
          <p:cNvPr id="13" name="Shape 11"/>
          <p:cNvSpPr/>
          <p:nvPr/>
        </p:nvSpPr>
        <p:spPr>
          <a:xfrm>
            <a:off x="7452360" y="2935224"/>
            <a:ext cx="822960" cy="256032"/>
          </a:xfrm>
          <a:prstGeom prst="rightArrow">
            <a:avLst/>
          </a:prstGeom>
          <a:solidFill>
            <a:srgbClr val="17A2B8"/>
          </a:solidFill>
          <a:ln/>
        </p:spPr>
      </p:sp>
      <p:sp>
        <p:nvSpPr>
          <p:cNvPr id="14" name="Shape 12"/>
          <p:cNvSpPr/>
          <p:nvPr/>
        </p:nvSpPr>
        <p:spPr>
          <a:xfrm>
            <a:off x="8503920" y="2468880"/>
            <a:ext cx="3108960" cy="1188720"/>
          </a:xfrm>
          <a:prstGeom prst="roundRect">
            <a:avLst>
              <a:gd name="adj" fmla="val 6154"/>
            </a:avLst>
          </a:prstGeom>
          <a:solidFill>
            <a:srgbClr val="FFB100"/>
          </a:solidFill>
          <a:ln w="12700">
            <a:solidFill>
              <a:srgbClr val="D7DEE7"/>
            </a:solidFill>
            <a:prstDash val="solid"/>
          </a:ln>
          <a:effectLst>
            <a:outerShdw blurRad="50800" dist="25400" dir="5400000" algn="bl" rotWithShape="0">
              <a:srgbClr val="AAAAAA">
                <a:alpha val="25000"/>
              </a:srgbClr>
            </a:outerShdw>
          </a:effectLst>
        </p:spPr>
      </p:sp>
      <p:sp>
        <p:nvSpPr>
          <p:cNvPr id="15" name="Text 13"/>
          <p:cNvSpPr/>
          <p:nvPr/>
        </p:nvSpPr>
        <p:spPr>
          <a:xfrm>
            <a:off x="8577072" y="2542032"/>
            <a:ext cx="2962656" cy="653796"/>
          </a:xfrm>
          <a:prstGeom prst="rect">
            <a:avLst/>
          </a:prstGeom>
          <a:noFill/>
          <a:ln/>
        </p:spPr>
        <p:txBody>
          <a:bodyPr wrap="square" rtlCol="0" anchor="b"/>
          <a:lstStyle/>
          <a:p>
            <a:pPr marL="0" indent="0" algn="ctr">
              <a:buNone/>
            </a:pPr>
            <a:r>
              <a:rPr lang="en-US" sz="1250" b="1" dirty="0">
                <a:solidFill>
                  <a:srgbClr val="0F1C3F"/>
                </a:solidFill>
                <a:latin typeface="Calibri" pitchFamily="34" charset="0"/>
                <a:ea typeface="Calibri" pitchFamily="34" charset="-122"/>
                <a:cs typeface="Calibri" pitchFamily="34" charset="-120"/>
              </a:rPr>
              <a:t>FIXED-SIZE DIGEST</a:t>
            </a:r>
            <a:endParaRPr lang="en-US" sz="1250" dirty="0"/>
          </a:p>
        </p:txBody>
      </p:sp>
      <p:sp>
        <p:nvSpPr>
          <p:cNvPr id="16" name="Text 14"/>
          <p:cNvSpPr/>
          <p:nvPr/>
        </p:nvSpPr>
        <p:spPr>
          <a:xfrm>
            <a:off x="8577072" y="3087014"/>
            <a:ext cx="2962656" cy="546811"/>
          </a:xfrm>
          <a:prstGeom prst="rect">
            <a:avLst/>
          </a:prstGeom>
          <a:noFill/>
          <a:ln/>
        </p:spPr>
        <p:txBody>
          <a:bodyPr wrap="square" rtlCol="0" anchor="t"/>
          <a:lstStyle/>
          <a:p>
            <a:pPr marL="0" indent="0" algn="ctr">
              <a:buNone/>
            </a:pPr>
            <a:r>
              <a:rPr lang="en-US" sz="950" dirty="0">
                <a:solidFill>
                  <a:srgbClr val="0F1C3F"/>
                </a:solidFill>
                <a:latin typeface="Calibri" pitchFamily="34" charset="0"/>
                <a:ea typeface="Calibri" pitchFamily="34" charset="-122"/>
                <a:cs typeface="Calibri" pitchFamily="34" charset="-120"/>
              </a:rPr>
              <a:t>e.g. 128 bits (MD5) or</a:t>
            </a:r>
            <a:endParaRPr lang="en-US" sz="950" dirty="0"/>
          </a:p>
          <a:p>
            <a:pPr marL="0" indent="0" algn="ctr">
              <a:buNone/>
            </a:pPr>
            <a:r>
              <a:rPr lang="en-US" sz="950" dirty="0">
                <a:solidFill>
                  <a:srgbClr val="0F1C3F"/>
                </a:solidFill>
                <a:latin typeface="Calibri" pitchFamily="34" charset="0"/>
                <a:ea typeface="Calibri" pitchFamily="34" charset="-122"/>
                <a:cs typeface="Calibri" pitchFamily="34" charset="-120"/>
              </a:rPr>
              <a:t>256 bits (SHA-256), always</a:t>
            </a:r>
            <a:endParaRPr lang="en-US" sz="950" dirty="0"/>
          </a:p>
        </p:txBody>
      </p:sp>
      <p:sp>
        <p:nvSpPr>
          <p:cNvPr id="17" name="Shape 15"/>
          <p:cNvSpPr/>
          <p:nvPr/>
        </p:nvSpPr>
        <p:spPr>
          <a:xfrm>
            <a:off x="548640" y="4434840"/>
            <a:ext cx="2139696" cy="1600200"/>
          </a:xfrm>
          <a:prstGeom prst="roundRect">
            <a:avLst>
              <a:gd name="adj" fmla="val 4571"/>
            </a:avLst>
          </a:prstGeom>
          <a:solidFill>
            <a:srgbClr val="FFFFFF"/>
          </a:solidFill>
          <a:ln w="12700">
            <a:solidFill>
              <a:srgbClr val="D7DEE7"/>
            </a:solidFill>
            <a:prstDash val="solid"/>
          </a:ln>
        </p:spPr>
      </p:sp>
      <p:sp>
        <p:nvSpPr>
          <p:cNvPr id="18" name="Shape 16"/>
          <p:cNvSpPr/>
          <p:nvPr/>
        </p:nvSpPr>
        <p:spPr>
          <a:xfrm>
            <a:off x="1417320" y="4599432"/>
            <a:ext cx="402336" cy="402336"/>
          </a:xfrm>
          <a:prstGeom prst="roundRect">
            <a:avLst>
              <a:gd name="adj" fmla="val 50000"/>
            </a:avLst>
          </a:prstGeom>
          <a:solidFill>
            <a:srgbClr val="17A2B8"/>
          </a:solidFill>
          <a:ln/>
        </p:spPr>
      </p:sp>
      <p:sp>
        <p:nvSpPr>
          <p:cNvPr id="19" name="Text 17"/>
          <p:cNvSpPr/>
          <p:nvPr/>
        </p:nvSpPr>
        <p:spPr>
          <a:xfrm>
            <a:off x="1417320" y="459943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 name="Text 18"/>
          <p:cNvSpPr/>
          <p:nvPr/>
        </p:nvSpPr>
        <p:spPr>
          <a:xfrm>
            <a:off x="640080" y="5093208"/>
            <a:ext cx="1956816" cy="3657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Deterministic</a:t>
            </a:r>
            <a:endParaRPr lang="en-US" sz="1150" dirty="0"/>
          </a:p>
        </p:txBody>
      </p:sp>
      <p:sp>
        <p:nvSpPr>
          <p:cNvPr id="21" name="Text 19"/>
          <p:cNvSpPr/>
          <p:nvPr/>
        </p:nvSpPr>
        <p:spPr>
          <a:xfrm>
            <a:off x="640080" y="5422392"/>
            <a:ext cx="1956816" cy="548640"/>
          </a:xfrm>
          <a:prstGeom prst="rect">
            <a:avLst/>
          </a:prstGeom>
          <a:noFill/>
          <a:ln/>
        </p:spPr>
        <p:txBody>
          <a:bodyPr wrap="square" rtlCol="0" anchor="t"/>
          <a:lstStyle/>
          <a:p>
            <a:pPr marL="0" indent="0" algn="ctr">
              <a:buNone/>
            </a:pPr>
            <a:r>
              <a:rPr lang="en-US" sz="900" dirty="0">
                <a:solidFill>
                  <a:srgbClr val="6B7785"/>
                </a:solidFill>
                <a:latin typeface="Calibri" pitchFamily="34" charset="0"/>
                <a:ea typeface="Calibri" pitchFamily="34" charset="-122"/>
                <a:cs typeface="Calibri" pitchFamily="34" charset="-120"/>
              </a:rPr>
              <a:t>Same input always produces the same hash</a:t>
            </a:r>
            <a:endParaRPr lang="en-US" sz="900" dirty="0"/>
          </a:p>
        </p:txBody>
      </p:sp>
      <p:sp>
        <p:nvSpPr>
          <p:cNvPr id="22" name="Shape 20"/>
          <p:cNvSpPr/>
          <p:nvPr/>
        </p:nvSpPr>
        <p:spPr>
          <a:xfrm>
            <a:off x="2807208" y="4434840"/>
            <a:ext cx="2139696" cy="1600200"/>
          </a:xfrm>
          <a:prstGeom prst="roundRect">
            <a:avLst>
              <a:gd name="adj" fmla="val 4571"/>
            </a:avLst>
          </a:prstGeom>
          <a:solidFill>
            <a:srgbClr val="FFFFFF"/>
          </a:solidFill>
          <a:ln w="12700">
            <a:solidFill>
              <a:srgbClr val="D7DEE7"/>
            </a:solidFill>
            <a:prstDash val="solid"/>
          </a:ln>
        </p:spPr>
      </p:sp>
      <p:sp>
        <p:nvSpPr>
          <p:cNvPr id="23" name="Shape 21"/>
          <p:cNvSpPr/>
          <p:nvPr/>
        </p:nvSpPr>
        <p:spPr>
          <a:xfrm>
            <a:off x="3675888" y="4599432"/>
            <a:ext cx="402336" cy="402336"/>
          </a:xfrm>
          <a:prstGeom prst="roundRect">
            <a:avLst>
              <a:gd name="adj" fmla="val 50000"/>
            </a:avLst>
          </a:prstGeom>
          <a:solidFill>
            <a:srgbClr val="17A2B8"/>
          </a:solidFill>
          <a:ln/>
        </p:spPr>
      </p:sp>
      <p:sp>
        <p:nvSpPr>
          <p:cNvPr id="24" name="Text 22"/>
          <p:cNvSpPr/>
          <p:nvPr/>
        </p:nvSpPr>
        <p:spPr>
          <a:xfrm>
            <a:off x="3675888" y="459943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5" name="Text 23"/>
          <p:cNvSpPr/>
          <p:nvPr/>
        </p:nvSpPr>
        <p:spPr>
          <a:xfrm>
            <a:off x="2898648" y="5093208"/>
            <a:ext cx="1956816" cy="3657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Fast to Compute</a:t>
            </a:r>
            <a:endParaRPr lang="en-US" sz="1150" dirty="0"/>
          </a:p>
        </p:txBody>
      </p:sp>
      <p:sp>
        <p:nvSpPr>
          <p:cNvPr id="26" name="Text 24"/>
          <p:cNvSpPr/>
          <p:nvPr/>
        </p:nvSpPr>
        <p:spPr>
          <a:xfrm>
            <a:off x="2898648" y="5422392"/>
            <a:ext cx="1956816" cy="548640"/>
          </a:xfrm>
          <a:prstGeom prst="rect">
            <a:avLst/>
          </a:prstGeom>
          <a:noFill/>
          <a:ln/>
        </p:spPr>
        <p:txBody>
          <a:bodyPr wrap="square" rtlCol="0" anchor="t"/>
          <a:lstStyle/>
          <a:p>
            <a:pPr marL="0" indent="0" algn="ctr">
              <a:buNone/>
            </a:pPr>
            <a:r>
              <a:rPr lang="en-US" sz="900" dirty="0">
                <a:solidFill>
                  <a:srgbClr val="6B7785"/>
                </a:solidFill>
                <a:latin typeface="Calibri" pitchFamily="34" charset="0"/>
                <a:ea typeface="Calibri" pitchFamily="34" charset="-122"/>
                <a:cs typeface="Calibri" pitchFamily="34" charset="-120"/>
              </a:rPr>
              <a:t>Digest generated quickly for any input size</a:t>
            </a:r>
            <a:endParaRPr lang="en-US" sz="900" dirty="0"/>
          </a:p>
        </p:txBody>
      </p:sp>
      <p:sp>
        <p:nvSpPr>
          <p:cNvPr id="27" name="Shape 25"/>
          <p:cNvSpPr/>
          <p:nvPr/>
        </p:nvSpPr>
        <p:spPr>
          <a:xfrm>
            <a:off x="5065776" y="4434840"/>
            <a:ext cx="2139696" cy="1600200"/>
          </a:xfrm>
          <a:prstGeom prst="roundRect">
            <a:avLst>
              <a:gd name="adj" fmla="val 4571"/>
            </a:avLst>
          </a:prstGeom>
          <a:solidFill>
            <a:srgbClr val="FFFFFF"/>
          </a:solidFill>
          <a:ln w="12700">
            <a:solidFill>
              <a:srgbClr val="D7DEE7"/>
            </a:solidFill>
            <a:prstDash val="solid"/>
          </a:ln>
        </p:spPr>
      </p:sp>
      <p:sp>
        <p:nvSpPr>
          <p:cNvPr id="28" name="Shape 26"/>
          <p:cNvSpPr/>
          <p:nvPr/>
        </p:nvSpPr>
        <p:spPr>
          <a:xfrm>
            <a:off x="5934456" y="4599432"/>
            <a:ext cx="402336" cy="402336"/>
          </a:xfrm>
          <a:prstGeom prst="roundRect">
            <a:avLst>
              <a:gd name="adj" fmla="val 50000"/>
            </a:avLst>
          </a:prstGeom>
          <a:solidFill>
            <a:srgbClr val="17A2B8"/>
          </a:solidFill>
          <a:ln/>
        </p:spPr>
      </p:sp>
      <p:sp>
        <p:nvSpPr>
          <p:cNvPr id="29" name="Text 27"/>
          <p:cNvSpPr/>
          <p:nvPr/>
        </p:nvSpPr>
        <p:spPr>
          <a:xfrm>
            <a:off x="5934456" y="459943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0" name="Text 28"/>
          <p:cNvSpPr/>
          <p:nvPr/>
        </p:nvSpPr>
        <p:spPr>
          <a:xfrm>
            <a:off x="5157216" y="5093208"/>
            <a:ext cx="1956816" cy="3657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Preimage Resistant</a:t>
            </a:r>
            <a:endParaRPr lang="en-US" sz="1150" dirty="0"/>
          </a:p>
        </p:txBody>
      </p:sp>
      <p:sp>
        <p:nvSpPr>
          <p:cNvPr id="31" name="Text 29"/>
          <p:cNvSpPr/>
          <p:nvPr/>
        </p:nvSpPr>
        <p:spPr>
          <a:xfrm>
            <a:off x="5157216" y="5422392"/>
            <a:ext cx="1956816" cy="548640"/>
          </a:xfrm>
          <a:prstGeom prst="rect">
            <a:avLst/>
          </a:prstGeom>
          <a:noFill/>
          <a:ln/>
        </p:spPr>
        <p:txBody>
          <a:bodyPr wrap="square" rtlCol="0" anchor="t"/>
          <a:lstStyle/>
          <a:p>
            <a:pPr marL="0" indent="0" algn="ctr">
              <a:buNone/>
            </a:pPr>
            <a:r>
              <a:rPr lang="en-US" sz="900" dirty="0">
                <a:solidFill>
                  <a:srgbClr val="6B7785"/>
                </a:solidFill>
                <a:latin typeface="Calibri" pitchFamily="34" charset="0"/>
                <a:ea typeface="Calibri" pitchFamily="34" charset="-122"/>
                <a:cs typeface="Calibri" pitchFamily="34" charset="-120"/>
              </a:rPr>
              <a:t>Can't reverse-engineer input from the hash</a:t>
            </a:r>
            <a:endParaRPr lang="en-US" sz="900" dirty="0"/>
          </a:p>
        </p:txBody>
      </p:sp>
      <p:sp>
        <p:nvSpPr>
          <p:cNvPr id="32" name="Shape 30"/>
          <p:cNvSpPr/>
          <p:nvPr/>
        </p:nvSpPr>
        <p:spPr>
          <a:xfrm>
            <a:off x="7324344" y="4434840"/>
            <a:ext cx="2139696" cy="1600200"/>
          </a:xfrm>
          <a:prstGeom prst="roundRect">
            <a:avLst>
              <a:gd name="adj" fmla="val 4571"/>
            </a:avLst>
          </a:prstGeom>
          <a:solidFill>
            <a:srgbClr val="FFFFFF"/>
          </a:solidFill>
          <a:ln w="12700">
            <a:solidFill>
              <a:srgbClr val="D7DEE7"/>
            </a:solidFill>
            <a:prstDash val="solid"/>
          </a:ln>
        </p:spPr>
      </p:sp>
      <p:sp>
        <p:nvSpPr>
          <p:cNvPr id="33" name="Shape 31"/>
          <p:cNvSpPr/>
          <p:nvPr/>
        </p:nvSpPr>
        <p:spPr>
          <a:xfrm>
            <a:off x="8193024" y="4599432"/>
            <a:ext cx="402336" cy="402336"/>
          </a:xfrm>
          <a:prstGeom prst="roundRect">
            <a:avLst>
              <a:gd name="adj" fmla="val 50000"/>
            </a:avLst>
          </a:prstGeom>
          <a:solidFill>
            <a:srgbClr val="17A2B8"/>
          </a:solidFill>
          <a:ln/>
        </p:spPr>
      </p:sp>
      <p:sp>
        <p:nvSpPr>
          <p:cNvPr id="34" name="Text 32"/>
          <p:cNvSpPr/>
          <p:nvPr/>
        </p:nvSpPr>
        <p:spPr>
          <a:xfrm>
            <a:off x="8193024" y="459943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5" name="Text 33"/>
          <p:cNvSpPr/>
          <p:nvPr/>
        </p:nvSpPr>
        <p:spPr>
          <a:xfrm>
            <a:off x="7415784" y="5093208"/>
            <a:ext cx="1956816" cy="3657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Avalanche Effect</a:t>
            </a:r>
            <a:endParaRPr lang="en-US" sz="1150" dirty="0"/>
          </a:p>
        </p:txBody>
      </p:sp>
      <p:sp>
        <p:nvSpPr>
          <p:cNvPr id="36" name="Text 34"/>
          <p:cNvSpPr/>
          <p:nvPr/>
        </p:nvSpPr>
        <p:spPr>
          <a:xfrm>
            <a:off x="7415784" y="5422392"/>
            <a:ext cx="1956816" cy="548640"/>
          </a:xfrm>
          <a:prstGeom prst="rect">
            <a:avLst/>
          </a:prstGeom>
          <a:noFill/>
          <a:ln/>
        </p:spPr>
        <p:txBody>
          <a:bodyPr wrap="square" rtlCol="0" anchor="t"/>
          <a:lstStyle/>
          <a:p>
            <a:pPr marL="0" indent="0" algn="ctr">
              <a:buNone/>
            </a:pPr>
            <a:r>
              <a:rPr lang="en-US" sz="900" dirty="0">
                <a:solidFill>
                  <a:srgbClr val="6B7785"/>
                </a:solidFill>
                <a:latin typeface="Calibri" pitchFamily="34" charset="0"/>
                <a:ea typeface="Calibri" pitchFamily="34" charset="-122"/>
                <a:cs typeface="Calibri" pitchFamily="34" charset="-120"/>
              </a:rPr>
              <a:t>Tiny input change → drastically different hash</a:t>
            </a:r>
            <a:endParaRPr lang="en-US" sz="900" dirty="0"/>
          </a:p>
        </p:txBody>
      </p:sp>
      <p:sp>
        <p:nvSpPr>
          <p:cNvPr id="37" name="Shape 35"/>
          <p:cNvSpPr/>
          <p:nvPr/>
        </p:nvSpPr>
        <p:spPr>
          <a:xfrm>
            <a:off x="9582912" y="4434840"/>
            <a:ext cx="2139696" cy="1600200"/>
          </a:xfrm>
          <a:prstGeom prst="roundRect">
            <a:avLst>
              <a:gd name="adj" fmla="val 4571"/>
            </a:avLst>
          </a:prstGeom>
          <a:solidFill>
            <a:srgbClr val="FFFFFF"/>
          </a:solidFill>
          <a:ln w="12700">
            <a:solidFill>
              <a:srgbClr val="D7DEE7"/>
            </a:solidFill>
            <a:prstDash val="solid"/>
          </a:ln>
        </p:spPr>
      </p:sp>
      <p:sp>
        <p:nvSpPr>
          <p:cNvPr id="38" name="Shape 36"/>
          <p:cNvSpPr/>
          <p:nvPr/>
        </p:nvSpPr>
        <p:spPr>
          <a:xfrm>
            <a:off x="10451592" y="4599432"/>
            <a:ext cx="402336" cy="402336"/>
          </a:xfrm>
          <a:prstGeom prst="roundRect">
            <a:avLst>
              <a:gd name="adj" fmla="val 50000"/>
            </a:avLst>
          </a:prstGeom>
          <a:solidFill>
            <a:srgbClr val="17A2B8"/>
          </a:solidFill>
          <a:ln/>
        </p:spPr>
      </p:sp>
      <p:sp>
        <p:nvSpPr>
          <p:cNvPr id="39" name="Text 37"/>
          <p:cNvSpPr/>
          <p:nvPr/>
        </p:nvSpPr>
        <p:spPr>
          <a:xfrm>
            <a:off x="10451592" y="4599432"/>
            <a:ext cx="402336" cy="40233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8"/>
          <p:cNvSpPr/>
          <p:nvPr/>
        </p:nvSpPr>
        <p:spPr>
          <a:xfrm>
            <a:off x="9674352" y="5093208"/>
            <a:ext cx="1956816" cy="3657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Collision Resistant</a:t>
            </a:r>
            <a:endParaRPr lang="en-US" sz="1150" dirty="0"/>
          </a:p>
        </p:txBody>
      </p:sp>
      <p:sp>
        <p:nvSpPr>
          <p:cNvPr id="41" name="Text 39"/>
          <p:cNvSpPr/>
          <p:nvPr/>
        </p:nvSpPr>
        <p:spPr>
          <a:xfrm>
            <a:off x="9674352" y="5422392"/>
            <a:ext cx="1956816" cy="548640"/>
          </a:xfrm>
          <a:prstGeom prst="rect">
            <a:avLst/>
          </a:prstGeom>
          <a:noFill/>
          <a:ln/>
        </p:spPr>
        <p:txBody>
          <a:bodyPr wrap="square" rtlCol="0" anchor="t"/>
          <a:lstStyle/>
          <a:p>
            <a:pPr marL="0" indent="0" algn="ctr">
              <a:buNone/>
            </a:pPr>
            <a:r>
              <a:rPr lang="en-US" sz="900" dirty="0">
                <a:solidFill>
                  <a:srgbClr val="6B7785"/>
                </a:solidFill>
                <a:latin typeface="Calibri" pitchFamily="34" charset="0"/>
                <a:ea typeface="Calibri" pitchFamily="34" charset="-122"/>
                <a:cs typeface="Calibri" pitchFamily="34" charset="-120"/>
              </a:rPr>
              <a:t>Extremely hard to find two inputs, one hash</a:t>
            </a:r>
            <a:endParaRPr lang="en-US" sz="900" dirty="0"/>
          </a:p>
        </p:txBody>
      </p:sp>
      <p:sp>
        <p:nvSpPr>
          <p:cNvPr id="42" name="Text 4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43" name="Text 4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9BB480-C727-DCA8-0911-688A2479B8A5}"/>
              </a:ext>
            </a:extLst>
          </p:cNvPr>
          <p:cNvPicPr>
            <a:picLocks noChangeAspect="1"/>
          </p:cNvPicPr>
          <p:nvPr/>
        </p:nvPicPr>
        <p:blipFill>
          <a:blip r:embed="rId2"/>
          <a:stretch>
            <a:fillRect/>
          </a:stretch>
        </p:blipFill>
        <p:spPr>
          <a:xfrm>
            <a:off x="3809069" y="0"/>
            <a:ext cx="4573861" cy="6858000"/>
          </a:xfrm>
          <a:prstGeom prst="rect">
            <a:avLst/>
          </a:prstGeom>
        </p:spPr>
      </p:pic>
    </p:spTree>
    <p:extLst>
      <p:ext uri="{BB962C8B-B14F-4D97-AF65-F5344CB8AC3E}">
        <p14:creationId xmlns:p14="http://schemas.microsoft.com/office/powerpoint/2010/main" val="624392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B25502-1124-452A-F041-18C6A45C3BA8}"/>
              </a:ext>
            </a:extLst>
          </p:cNvPr>
          <p:cNvPicPr>
            <a:picLocks noChangeAspect="1"/>
          </p:cNvPicPr>
          <p:nvPr/>
        </p:nvPicPr>
        <p:blipFill>
          <a:blip r:embed="rId2"/>
          <a:stretch>
            <a:fillRect/>
          </a:stretch>
        </p:blipFill>
        <p:spPr>
          <a:xfrm>
            <a:off x="954593" y="0"/>
            <a:ext cx="10282813" cy="6858000"/>
          </a:xfrm>
          <a:prstGeom prst="rect">
            <a:avLst/>
          </a:prstGeom>
        </p:spPr>
      </p:pic>
    </p:spTree>
    <p:extLst>
      <p:ext uri="{BB962C8B-B14F-4D97-AF65-F5344CB8AC3E}">
        <p14:creationId xmlns:p14="http://schemas.microsoft.com/office/powerpoint/2010/main" val="2383531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1CA0D9-3096-1526-F0DE-390F88A6CA6E}"/>
              </a:ext>
            </a:extLst>
          </p:cNvPr>
          <p:cNvPicPr>
            <a:picLocks noChangeAspect="1"/>
          </p:cNvPicPr>
          <p:nvPr/>
        </p:nvPicPr>
        <p:blipFill>
          <a:blip r:embed="rId2"/>
          <a:stretch>
            <a:fillRect/>
          </a:stretch>
        </p:blipFill>
        <p:spPr>
          <a:xfrm>
            <a:off x="954593" y="0"/>
            <a:ext cx="10282813" cy="6858000"/>
          </a:xfrm>
          <a:prstGeom prst="rect">
            <a:avLst/>
          </a:prstGeom>
        </p:spPr>
      </p:pic>
    </p:spTree>
    <p:extLst>
      <p:ext uri="{BB962C8B-B14F-4D97-AF65-F5344CB8AC3E}">
        <p14:creationId xmlns:p14="http://schemas.microsoft.com/office/powerpoint/2010/main" val="31667864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HASHING ALGORITHMS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MD5 — Message Digest Algorithm 5</a:t>
            </a:r>
            <a:endParaRPr lang="en-US" sz="3000" dirty="0"/>
          </a:p>
        </p:txBody>
      </p:sp>
      <p:sp>
        <p:nvSpPr>
          <p:cNvPr id="4" name="Text 2"/>
          <p:cNvSpPr/>
          <p:nvPr/>
        </p:nvSpPr>
        <p:spPr>
          <a:xfrm>
            <a:off x="548640" y="1371600"/>
            <a:ext cx="11064240" cy="502920"/>
          </a:xfrm>
          <a:prstGeom prst="rect">
            <a:avLst/>
          </a:prstGeom>
          <a:noFill/>
          <a:ln/>
        </p:spPr>
        <p:txBody>
          <a:bodyPr wrap="square" rtlCol="0" anchor="ctr"/>
          <a:lstStyle/>
          <a:p>
            <a:pPr marL="0" indent="0">
              <a:buNone/>
            </a:pPr>
            <a:r>
              <a:rPr lang="en-US" sz="1250" dirty="0">
                <a:solidFill>
                  <a:srgbClr val="1B2430"/>
                </a:solidFill>
                <a:latin typeface="Calibri" pitchFamily="34" charset="0"/>
                <a:ea typeface="Calibri" pitchFamily="34" charset="-122"/>
                <a:cs typeface="Calibri" pitchFamily="34" charset="-120"/>
              </a:rPr>
              <a:t>Designed by Ronald Rivest in 1991. Produces a 128-bit (32 hex character) digest. Once the default for checksums and password storage — now considered cryptographically broken.</a:t>
            </a:r>
            <a:endParaRPr lang="en-US" sz="1250" dirty="0"/>
          </a:p>
        </p:txBody>
      </p:sp>
      <p:sp>
        <p:nvSpPr>
          <p:cNvPr id="5" name="Shape 3"/>
          <p:cNvSpPr/>
          <p:nvPr/>
        </p:nvSpPr>
        <p:spPr>
          <a:xfrm>
            <a:off x="548640" y="2148840"/>
            <a:ext cx="1874520" cy="1554480"/>
          </a:xfrm>
          <a:prstGeom prst="roundRect">
            <a:avLst>
              <a:gd name="adj" fmla="val 5294"/>
            </a:avLst>
          </a:prstGeom>
          <a:solidFill>
            <a:srgbClr val="0F1C3F"/>
          </a:solidFill>
          <a:ln/>
        </p:spPr>
      </p:sp>
      <p:sp>
        <p:nvSpPr>
          <p:cNvPr id="6" name="Text 4"/>
          <p:cNvSpPr/>
          <p:nvPr/>
        </p:nvSpPr>
        <p:spPr>
          <a:xfrm>
            <a:off x="640080" y="2240280"/>
            <a:ext cx="16916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 Padding</a:t>
            </a:r>
            <a:endParaRPr lang="en-US" sz="1200" dirty="0"/>
          </a:p>
        </p:txBody>
      </p:sp>
      <p:sp>
        <p:nvSpPr>
          <p:cNvPr id="7" name="Text 5"/>
          <p:cNvSpPr/>
          <p:nvPr/>
        </p:nvSpPr>
        <p:spPr>
          <a:xfrm>
            <a:off x="640080" y="2587752"/>
            <a:ext cx="1691640" cy="1051560"/>
          </a:xfrm>
          <a:prstGeom prst="rect">
            <a:avLst/>
          </a:prstGeom>
          <a:noFill/>
          <a:ln/>
        </p:spPr>
        <p:txBody>
          <a:bodyPr wrap="square" rtlCol="0" anchor="t"/>
          <a:lstStyle/>
          <a:p>
            <a:pPr marL="0" indent="0" algn="ctr">
              <a:buNone/>
            </a:pPr>
            <a:r>
              <a:rPr lang="en-US" sz="900" dirty="0">
                <a:solidFill>
                  <a:srgbClr val="5FD0DE"/>
                </a:solidFill>
                <a:latin typeface="Calibri" pitchFamily="34" charset="0"/>
                <a:ea typeface="Calibri" pitchFamily="34" charset="-122"/>
                <a:cs typeface="Calibri" pitchFamily="34" charset="-120"/>
              </a:rPr>
              <a:t>Message padded so length ≡ 448 mod 512 bits</a:t>
            </a:r>
            <a:endParaRPr lang="en-US" sz="900" dirty="0"/>
          </a:p>
        </p:txBody>
      </p:sp>
      <p:sp>
        <p:nvSpPr>
          <p:cNvPr id="8" name="Shape 6"/>
          <p:cNvSpPr/>
          <p:nvPr/>
        </p:nvSpPr>
        <p:spPr>
          <a:xfrm>
            <a:off x="2441448" y="2798064"/>
            <a:ext cx="219456" cy="256032"/>
          </a:xfrm>
          <a:prstGeom prst="rightArrow">
            <a:avLst/>
          </a:prstGeom>
          <a:solidFill>
            <a:srgbClr val="17A2B8"/>
          </a:solidFill>
          <a:ln/>
        </p:spPr>
      </p:sp>
      <p:sp>
        <p:nvSpPr>
          <p:cNvPr id="9" name="Shape 7"/>
          <p:cNvSpPr/>
          <p:nvPr/>
        </p:nvSpPr>
        <p:spPr>
          <a:xfrm>
            <a:off x="2679192" y="2148840"/>
            <a:ext cx="1874520" cy="1554480"/>
          </a:xfrm>
          <a:prstGeom prst="roundRect">
            <a:avLst>
              <a:gd name="adj" fmla="val 5294"/>
            </a:avLst>
          </a:prstGeom>
          <a:solidFill>
            <a:srgbClr val="0F1C3F"/>
          </a:solidFill>
          <a:ln/>
        </p:spPr>
      </p:sp>
      <p:sp>
        <p:nvSpPr>
          <p:cNvPr id="10" name="Text 8"/>
          <p:cNvSpPr/>
          <p:nvPr/>
        </p:nvSpPr>
        <p:spPr>
          <a:xfrm>
            <a:off x="2770632" y="2240280"/>
            <a:ext cx="16916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Append Length</a:t>
            </a:r>
            <a:endParaRPr lang="en-US" sz="1200" dirty="0"/>
          </a:p>
        </p:txBody>
      </p:sp>
      <p:sp>
        <p:nvSpPr>
          <p:cNvPr id="11" name="Text 9"/>
          <p:cNvSpPr/>
          <p:nvPr/>
        </p:nvSpPr>
        <p:spPr>
          <a:xfrm>
            <a:off x="2770632" y="2587752"/>
            <a:ext cx="1691640" cy="1051560"/>
          </a:xfrm>
          <a:prstGeom prst="rect">
            <a:avLst/>
          </a:prstGeom>
          <a:noFill/>
          <a:ln/>
        </p:spPr>
        <p:txBody>
          <a:bodyPr wrap="square" rtlCol="0" anchor="t"/>
          <a:lstStyle/>
          <a:p>
            <a:pPr marL="0" indent="0" algn="ctr">
              <a:buNone/>
            </a:pPr>
            <a:r>
              <a:rPr lang="en-US" sz="900" dirty="0">
                <a:solidFill>
                  <a:srgbClr val="5FD0DE"/>
                </a:solidFill>
                <a:latin typeface="Calibri" pitchFamily="34" charset="0"/>
                <a:ea typeface="Calibri" pitchFamily="34" charset="-122"/>
                <a:cs typeface="Calibri" pitchFamily="34" charset="-120"/>
              </a:rPr>
              <a:t>64-bit original length appended</a:t>
            </a:r>
            <a:endParaRPr lang="en-US" sz="900" dirty="0"/>
          </a:p>
        </p:txBody>
      </p:sp>
      <p:sp>
        <p:nvSpPr>
          <p:cNvPr id="12" name="Shape 10"/>
          <p:cNvSpPr/>
          <p:nvPr/>
        </p:nvSpPr>
        <p:spPr>
          <a:xfrm>
            <a:off x="4572000" y="2798064"/>
            <a:ext cx="219456" cy="256032"/>
          </a:xfrm>
          <a:prstGeom prst="rightArrow">
            <a:avLst/>
          </a:prstGeom>
          <a:solidFill>
            <a:srgbClr val="17A2B8"/>
          </a:solidFill>
          <a:ln/>
        </p:spPr>
      </p:sp>
      <p:sp>
        <p:nvSpPr>
          <p:cNvPr id="13" name="Shape 11"/>
          <p:cNvSpPr/>
          <p:nvPr/>
        </p:nvSpPr>
        <p:spPr>
          <a:xfrm>
            <a:off x="4809744" y="2148840"/>
            <a:ext cx="1874520" cy="1554480"/>
          </a:xfrm>
          <a:prstGeom prst="roundRect">
            <a:avLst>
              <a:gd name="adj" fmla="val 5294"/>
            </a:avLst>
          </a:prstGeom>
          <a:solidFill>
            <a:srgbClr val="0F1C3F"/>
          </a:solidFill>
          <a:ln/>
        </p:spPr>
      </p:sp>
      <p:sp>
        <p:nvSpPr>
          <p:cNvPr id="14" name="Text 12"/>
          <p:cNvSpPr/>
          <p:nvPr/>
        </p:nvSpPr>
        <p:spPr>
          <a:xfrm>
            <a:off x="4901184" y="2240280"/>
            <a:ext cx="16916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Init Buffers</a:t>
            </a:r>
            <a:endParaRPr lang="en-US" sz="1200" dirty="0"/>
          </a:p>
        </p:txBody>
      </p:sp>
      <p:sp>
        <p:nvSpPr>
          <p:cNvPr id="15" name="Text 13"/>
          <p:cNvSpPr/>
          <p:nvPr/>
        </p:nvSpPr>
        <p:spPr>
          <a:xfrm>
            <a:off x="4901184" y="2587752"/>
            <a:ext cx="1691640" cy="1051560"/>
          </a:xfrm>
          <a:prstGeom prst="rect">
            <a:avLst/>
          </a:prstGeom>
          <a:noFill/>
          <a:ln/>
        </p:spPr>
        <p:txBody>
          <a:bodyPr wrap="square" rtlCol="0" anchor="t"/>
          <a:lstStyle/>
          <a:p>
            <a:pPr marL="0" indent="0" algn="ctr">
              <a:buNone/>
            </a:pPr>
            <a:r>
              <a:rPr lang="en-US" sz="900" dirty="0">
                <a:solidFill>
                  <a:srgbClr val="5FD0DE"/>
                </a:solidFill>
                <a:latin typeface="Calibri" pitchFamily="34" charset="0"/>
                <a:ea typeface="Calibri" pitchFamily="34" charset="-122"/>
                <a:cs typeface="Calibri" pitchFamily="34" charset="-120"/>
              </a:rPr>
              <a:t>4 buffers (A,B,C,D) set to fixed constants</a:t>
            </a:r>
            <a:endParaRPr lang="en-US" sz="900" dirty="0"/>
          </a:p>
        </p:txBody>
      </p:sp>
      <p:sp>
        <p:nvSpPr>
          <p:cNvPr id="16" name="Shape 14"/>
          <p:cNvSpPr/>
          <p:nvPr/>
        </p:nvSpPr>
        <p:spPr>
          <a:xfrm>
            <a:off x="6702552" y="2798064"/>
            <a:ext cx="219456" cy="256032"/>
          </a:xfrm>
          <a:prstGeom prst="rightArrow">
            <a:avLst/>
          </a:prstGeom>
          <a:solidFill>
            <a:srgbClr val="17A2B8"/>
          </a:solidFill>
          <a:ln/>
        </p:spPr>
      </p:sp>
      <p:sp>
        <p:nvSpPr>
          <p:cNvPr id="17" name="Shape 15"/>
          <p:cNvSpPr/>
          <p:nvPr/>
        </p:nvSpPr>
        <p:spPr>
          <a:xfrm>
            <a:off x="6940296" y="2148840"/>
            <a:ext cx="1874520" cy="1554480"/>
          </a:xfrm>
          <a:prstGeom prst="roundRect">
            <a:avLst>
              <a:gd name="adj" fmla="val 5294"/>
            </a:avLst>
          </a:prstGeom>
          <a:solidFill>
            <a:srgbClr val="0F1C3F"/>
          </a:solidFill>
          <a:ln/>
        </p:spPr>
      </p:sp>
      <p:sp>
        <p:nvSpPr>
          <p:cNvPr id="18" name="Text 16"/>
          <p:cNvSpPr/>
          <p:nvPr/>
        </p:nvSpPr>
        <p:spPr>
          <a:xfrm>
            <a:off x="7031736" y="2240280"/>
            <a:ext cx="16916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Process Blocks</a:t>
            </a:r>
            <a:endParaRPr lang="en-US" sz="1200" dirty="0"/>
          </a:p>
        </p:txBody>
      </p:sp>
      <p:sp>
        <p:nvSpPr>
          <p:cNvPr id="19" name="Text 17"/>
          <p:cNvSpPr/>
          <p:nvPr/>
        </p:nvSpPr>
        <p:spPr>
          <a:xfrm>
            <a:off x="7031736" y="2587752"/>
            <a:ext cx="1691640" cy="1051560"/>
          </a:xfrm>
          <a:prstGeom prst="rect">
            <a:avLst/>
          </a:prstGeom>
          <a:noFill/>
          <a:ln/>
        </p:spPr>
        <p:txBody>
          <a:bodyPr wrap="square" rtlCol="0" anchor="t"/>
          <a:lstStyle/>
          <a:p>
            <a:pPr marL="0" indent="0" algn="ctr">
              <a:buNone/>
            </a:pPr>
            <a:r>
              <a:rPr lang="en-US" sz="900" dirty="0">
                <a:solidFill>
                  <a:srgbClr val="5FD0DE"/>
                </a:solidFill>
                <a:latin typeface="Calibri" pitchFamily="34" charset="0"/>
                <a:ea typeface="Calibri" pitchFamily="34" charset="-122"/>
                <a:cs typeface="Calibri" pitchFamily="34" charset="-120"/>
              </a:rPr>
              <a:t>Each 512-bit block run through 4 rounds of 16 ops (64 total)</a:t>
            </a:r>
            <a:endParaRPr lang="en-US" sz="900" dirty="0"/>
          </a:p>
        </p:txBody>
      </p:sp>
      <p:sp>
        <p:nvSpPr>
          <p:cNvPr id="20" name="Shape 18"/>
          <p:cNvSpPr/>
          <p:nvPr/>
        </p:nvSpPr>
        <p:spPr>
          <a:xfrm>
            <a:off x="8833104" y="2798064"/>
            <a:ext cx="219456" cy="256032"/>
          </a:xfrm>
          <a:prstGeom prst="rightArrow">
            <a:avLst/>
          </a:prstGeom>
          <a:solidFill>
            <a:srgbClr val="17A2B8"/>
          </a:solidFill>
          <a:ln/>
        </p:spPr>
      </p:sp>
      <p:sp>
        <p:nvSpPr>
          <p:cNvPr id="21" name="Shape 19"/>
          <p:cNvSpPr/>
          <p:nvPr/>
        </p:nvSpPr>
        <p:spPr>
          <a:xfrm>
            <a:off x="9070848" y="2148840"/>
            <a:ext cx="1874520" cy="1554480"/>
          </a:xfrm>
          <a:prstGeom prst="roundRect">
            <a:avLst>
              <a:gd name="adj" fmla="val 5294"/>
            </a:avLst>
          </a:prstGeom>
          <a:solidFill>
            <a:srgbClr val="FFB100"/>
          </a:solidFill>
          <a:ln/>
        </p:spPr>
      </p:sp>
      <p:sp>
        <p:nvSpPr>
          <p:cNvPr id="22" name="Text 20"/>
          <p:cNvSpPr/>
          <p:nvPr/>
        </p:nvSpPr>
        <p:spPr>
          <a:xfrm>
            <a:off x="9162288" y="2240280"/>
            <a:ext cx="1691640" cy="320040"/>
          </a:xfrm>
          <a:prstGeom prst="rect">
            <a:avLst/>
          </a:prstGeom>
          <a:noFill/>
          <a:ln/>
        </p:spPr>
        <p:txBody>
          <a:bodyPr wrap="square" rtlCol="0" anchor="ctr"/>
          <a:lstStyle/>
          <a:p>
            <a:pPr marL="0" indent="0" algn="ctr">
              <a:buNone/>
            </a:pPr>
            <a:r>
              <a:rPr lang="en-US" sz="1200" b="1" dirty="0">
                <a:solidFill>
                  <a:srgbClr val="0F1C3F"/>
                </a:solidFill>
                <a:latin typeface="Calibri" pitchFamily="34" charset="0"/>
                <a:ea typeface="Calibri" pitchFamily="34" charset="-122"/>
                <a:cs typeface="Calibri" pitchFamily="34" charset="-120"/>
              </a:rPr>
              <a:t>5. Output Digest</a:t>
            </a:r>
            <a:endParaRPr lang="en-US" sz="1200" dirty="0"/>
          </a:p>
        </p:txBody>
      </p:sp>
      <p:sp>
        <p:nvSpPr>
          <p:cNvPr id="23" name="Text 21"/>
          <p:cNvSpPr/>
          <p:nvPr/>
        </p:nvSpPr>
        <p:spPr>
          <a:xfrm>
            <a:off x="9162288" y="2587752"/>
            <a:ext cx="1691640" cy="1051560"/>
          </a:xfrm>
          <a:prstGeom prst="rect">
            <a:avLst/>
          </a:prstGeom>
          <a:noFill/>
          <a:ln/>
        </p:spPr>
        <p:txBody>
          <a:bodyPr wrap="square" rtlCol="0" anchor="t"/>
          <a:lstStyle/>
          <a:p>
            <a:pPr marL="0" indent="0" algn="ctr">
              <a:buNone/>
            </a:pPr>
            <a:r>
              <a:rPr lang="en-US" sz="900" dirty="0">
                <a:solidFill>
                  <a:srgbClr val="0F1C3F"/>
                </a:solidFill>
                <a:latin typeface="Calibri" pitchFamily="34" charset="0"/>
                <a:ea typeface="Calibri" pitchFamily="34" charset="-122"/>
                <a:cs typeface="Calibri" pitchFamily="34" charset="-120"/>
              </a:rPr>
              <a:t>Final buffer values chained → 128-bit hash</a:t>
            </a:r>
            <a:endParaRPr lang="en-US" sz="900" dirty="0"/>
          </a:p>
        </p:txBody>
      </p:sp>
      <p:sp>
        <p:nvSpPr>
          <p:cNvPr id="24" name="Shape 22"/>
          <p:cNvSpPr/>
          <p:nvPr/>
        </p:nvSpPr>
        <p:spPr>
          <a:xfrm>
            <a:off x="548640" y="3977640"/>
            <a:ext cx="11064240" cy="1417320"/>
          </a:xfrm>
          <a:prstGeom prst="roundRect">
            <a:avLst>
              <a:gd name="adj" fmla="val 5161"/>
            </a:avLst>
          </a:prstGeom>
          <a:solidFill>
            <a:srgbClr val="FFFFFF"/>
          </a:solidFill>
          <a:ln w="12700">
            <a:solidFill>
              <a:srgbClr val="D7DEE7"/>
            </a:solidFill>
            <a:prstDash val="solid"/>
          </a:ln>
        </p:spPr>
      </p:sp>
      <p:sp>
        <p:nvSpPr>
          <p:cNvPr id="25" name="Text 23"/>
          <p:cNvSpPr/>
          <p:nvPr/>
        </p:nvSpPr>
        <p:spPr>
          <a:xfrm>
            <a:off x="777240" y="4087368"/>
            <a:ext cx="10607040" cy="320040"/>
          </a:xfrm>
          <a:prstGeom prst="rect">
            <a:avLst/>
          </a:prstGeom>
          <a:noFill/>
          <a:ln/>
        </p:spPr>
        <p:txBody>
          <a:bodyPr wrap="square" rtlCol="0" anchor="ctr"/>
          <a:lstStyle/>
          <a:p>
            <a:pPr marL="0" indent="0">
              <a:buNone/>
            </a:pPr>
            <a:r>
              <a:rPr lang="en-US" sz="1150" b="1" dirty="0">
                <a:solidFill>
                  <a:srgbClr val="0F1C3F"/>
                </a:solidFill>
                <a:latin typeface="Calibri" pitchFamily="34" charset="0"/>
                <a:ea typeface="Calibri" pitchFamily="34" charset="-122"/>
                <a:cs typeface="Calibri" pitchFamily="34" charset="-120"/>
              </a:rPr>
              <a:t>Inside each 512-bit block: 4 rounds × 16 operations, using non-linear functions F, G, H, I</a:t>
            </a:r>
            <a:endParaRPr lang="en-US" sz="1150" dirty="0"/>
          </a:p>
        </p:txBody>
      </p:sp>
      <p:sp>
        <p:nvSpPr>
          <p:cNvPr id="26" name="Shape 24"/>
          <p:cNvSpPr/>
          <p:nvPr/>
        </p:nvSpPr>
        <p:spPr>
          <a:xfrm>
            <a:off x="868680" y="4507992"/>
            <a:ext cx="2423160" cy="731520"/>
          </a:xfrm>
          <a:prstGeom prst="roundRect">
            <a:avLst>
              <a:gd name="adj" fmla="val 7500"/>
            </a:avLst>
          </a:prstGeom>
          <a:solidFill>
            <a:srgbClr val="F4F7FB"/>
          </a:solidFill>
          <a:ln w="9525">
            <a:solidFill>
              <a:srgbClr val="D7DEE7"/>
            </a:solidFill>
            <a:prstDash val="solid"/>
          </a:ln>
        </p:spPr>
      </p:sp>
      <p:sp>
        <p:nvSpPr>
          <p:cNvPr id="27" name="Text 25"/>
          <p:cNvSpPr/>
          <p:nvPr/>
        </p:nvSpPr>
        <p:spPr>
          <a:xfrm>
            <a:off x="868680" y="4553712"/>
            <a:ext cx="2423160" cy="274320"/>
          </a:xfrm>
          <a:prstGeom prst="rect">
            <a:avLst/>
          </a:prstGeom>
          <a:noFill/>
          <a:ln/>
        </p:spPr>
        <p:txBody>
          <a:bodyPr wrap="square" rtlCol="0" anchor="ctr"/>
          <a:lstStyle/>
          <a:p>
            <a:pPr marL="0" indent="0" algn="ctr">
              <a:buNone/>
            </a:pPr>
            <a:r>
              <a:rPr lang="en-US" sz="1050" b="1" dirty="0">
                <a:solidFill>
                  <a:srgbClr val="17A2B8"/>
                </a:solidFill>
                <a:latin typeface="Calibri" pitchFamily="34" charset="0"/>
                <a:ea typeface="Calibri" pitchFamily="34" charset="-122"/>
                <a:cs typeface="Calibri" pitchFamily="34" charset="-120"/>
              </a:rPr>
              <a:t>Round 1</a:t>
            </a:r>
            <a:endParaRPr lang="en-US" sz="1050" dirty="0"/>
          </a:p>
        </p:txBody>
      </p:sp>
      <p:sp>
        <p:nvSpPr>
          <p:cNvPr id="28" name="Text 26"/>
          <p:cNvSpPr/>
          <p:nvPr/>
        </p:nvSpPr>
        <p:spPr>
          <a:xfrm>
            <a:off x="868680" y="4828032"/>
            <a:ext cx="2423160" cy="365760"/>
          </a:xfrm>
          <a:prstGeom prst="rect">
            <a:avLst/>
          </a:prstGeom>
          <a:noFill/>
          <a:ln/>
        </p:spPr>
        <p:txBody>
          <a:bodyPr wrap="square" rtlCol="0" anchor="ctr"/>
          <a:lstStyle/>
          <a:p>
            <a:pPr marL="0" indent="0" algn="ctr">
              <a:buNone/>
            </a:pPr>
            <a:r>
              <a:rPr lang="en-US" sz="850" dirty="0">
                <a:solidFill>
                  <a:srgbClr val="6B7785"/>
                </a:solidFill>
                <a:latin typeface="Courier New" pitchFamily="34" charset="0"/>
                <a:ea typeface="Courier New" pitchFamily="34" charset="-122"/>
                <a:cs typeface="Courier New" pitchFamily="34" charset="-120"/>
              </a:rPr>
              <a:t>F(B,C,D)=(B∧C)∨(¬B∧D)</a:t>
            </a:r>
            <a:endParaRPr lang="en-US" sz="850" dirty="0"/>
          </a:p>
        </p:txBody>
      </p:sp>
      <p:sp>
        <p:nvSpPr>
          <p:cNvPr id="29" name="Shape 27"/>
          <p:cNvSpPr/>
          <p:nvPr/>
        </p:nvSpPr>
        <p:spPr>
          <a:xfrm>
            <a:off x="3520440" y="4507992"/>
            <a:ext cx="2423160" cy="731520"/>
          </a:xfrm>
          <a:prstGeom prst="roundRect">
            <a:avLst>
              <a:gd name="adj" fmla="val 7500"/>
            </a:avLst>
          </a:prstGeom>
          <a:solidFill>
            <a:srgbClr val="F4F7FB"/>
          </a:solidFill>
          <a:ln w="9525">
            <a:solidFill>
              <a:srgbClr val="D7DEE7"/>
            </a:solidFill>
            <a:prstDash val="solid"/>
          </a:ln>
        </p:spPr>
      </p:sp>
      <p:sp>
        <p:nvSpPr>
          <p:cNvPr id="30" name="Text 28"/>
          <p:cNvSpPr/>
          <p:nvPr/>
        </p:nvSpPr>
        <p:spPr>
          <a:xfrm>
            <a:off x="3520440" y="4553712"/>
            <a:ext cx="2423160" cy="274320"/>
          </a:xfrm>
          <a:prstGeom prst="rect">
            <a:avLst/>
          </a:prstGeom>
          <a:noFill/>
          <a:ln/>
        </p:spPr>
        <p:txBody>
          <a:bodyPr wrap="square" rtlCol="0" anchor="ctr"/>
          <a:lstStyle/>
          <a:p>
            <a:pPr marL="0" indent="0" algn="ctr">
              <a:buNone/>
            </a:pPr>
            <a:r>
              <a:rPr lang="en-US" sz="1050" b="1" dirty="0">
                <a:solidFill>
                  <a:srgbClr val="17A2B8"/>
                </a:solidFill>
                <a:latin typeface="Calibri" pitchFamily="34" charset="0"/>
                <a:ea typeface="Calibri" pitchFamily="34" charset="-122"/>
                <a:cs typeface="Calibri" pitchFamily="34" charset="-120"/>
              </a:rPr>
              <a:t>Round 2</a:t>
            </a:r>
            <a:endParaRPr lang="en-US" sz="1050" dirty="0"/>
          </a:p>
        </p:txBody>
      </p:sp>
      <p:sp>
        <p:nvSpPr>
          <p:cNvPr id="31" name="Text 29"/>
          <p:cNvSpPr/>
          <p:nvPr/>
        </p:nvSpPr>
        <p:spPr>
          <a:xfrm>
            <a:off x="3520440" y="4828032"/>
            <a:ext cx="2423160" cy="365760"/>
          </a:xfrm>
          <a:prstGeom prst="rect">
            <a:avLst/>
          </a:prstGeom>
          <a:noFill/>
          <a:ln/>
        </p:spPr>
        <p:txBody>
          <a:bodyPr wrap="square" rtlCol="0" anchor="ctr"/>
          <a:lstStyle/>
          <a:p>
            <a:pPr marL="0" indent="0" algn="ctr">
              <a:buNone/>
            </a:pPr>
            <a:r>
              <a:rPr lang="en-US" sz="850" dirty="0">
                <a:solidFill>
                  <a:srgbClr val="6B7785"/>
                </a:solidFill>
                <a:latin typeface="Courier New" pitchFamily="34" charset="0"/>
                <a:ea typeface="Courier New" pitchFamily="34" charset="-122"/>
                <a:cs typeface="Courier New" pitchFamily="34" charset="-120"/>
              </a:rPr>
              <a:t>G(B,C,D)=(B∧D)∨(C∧¬D)</a:t>
            </a:r>
            <a:endParaRPr lang="en-US" sz="850" dirty="0"/>
          </a:p>
        </p:txBody>
      </p:sp>
      <p:sp>
        <p:nvSpPr>
          <p:cNvPr id="32" name="Shape 30"/>
          <p:cNvSpPr/>
          <p:nvPr/>
        </p:nvSpPr>
        <p:spPr>
          <a:xfrm>
            <a:off x="6172200" y="4507992"/>
            <a:ext cx="2423160" cy="731520"/>
          </a:xfrm>
          <a:prstGeom prst="roundRect">
            <a:avLst>
              <a:gd name="adj" fmla="val 7500"/>
            </a:avLst>
          </a:prstGeom>
          <a:solidFill>
            <a:srgbClr val="F4F7FB"/>
          </a:solidFill>
          <a:ln w="9525">
            <a:solidFill>
              <a:srgbClr val="D7DEE7"/>
            </a:solidFill>
            <a:prstDash val="solid"/>
          </a:ln>
        </p:spPr>
      </p:sp>
      <p:sp>
        <p:nvSpPr>
          <p:cNvPr id="33" name="Text 31"/>
          <p:cNvSpPr/>
          <p:nvPr/>
        </p:nvSpPr>
        <p:spPr>
          <a:xfrm>
            <a:off x="6172200" y="4553712"/>
            <a:ext cx="2423160" cy="274320"/>
          </a:xfrm>
          <a:prstGeom prst="rect">
            <a:avLst/>
          </a:prstGeom>
          <a:noFill/>
          <a:ln/>
        </p:spPr>
        <p:txBody>
          <a:bodyPr wrap="square" rtlCol="0" anchor="ctr"/>
          <a:lstStyle/>
          <a:p>
            <a:pPr marL="0" indent="0" algn="ctr">
              <a:buNone/>
            </a:pPr>
            <a:r>
              <a:rPr lang="en-US" sz="1050" b="1" dirty="0">
                <a:solidFill>
                  <a:srgbClr val="17A2B8"/>
                </a:solidFill>
                <a:latin typeface="Calibri" pitchFamily="34" charset="0"/>
                <a:ea typeface="Calibri" pitchFamily="34" charset="-122"/>
                <a:cs typeface="Calibri" pitchFamily="34" charset="-120"/>
              </a:rPr>
              <a:t>Round 3</a:t>
            </a:r>
            <a:endParaRPr lang="en-US" sz="1050" dirty="0"/>
          </a:p>
        </p:txBody>
      </p:sp>
      <p:sp>
        <p:nvSpPr>
          <p:cNvPr id="34" name="Text 32"/>
          <p:cNvSpPr/>
          <p:nvPr/>
        </p:nvSpPr>
        <p:spPr>
          <a:xfrm>
            <a:off x="6172200" y="4828032"/>
            <a:ext cx="2423160" cy="365760"/>
          </a:xfrm>
          <a:prstGeom prst="rect">
            <a:avLst/>
          </a:prstGeom>
          <a:noFill/>
          <a:ln/>
        </p:spPr>
        <p:txBody>
          <a:bodyPr wrap="square" rtlCol="0" anchor="ctr"/>
          <a:lstStyle/>
          <a:p>
            <a:pPr marL="0" indent="0" algn="ctr">
              <a:buNone/>
            </a:pPr>
            <a:r>
              <a:rPr lang="en-US" sz="850" dirty="0">
                <a:solidFill>
                  <a:srgbClr val="6B7785"/>
                </a:solidFill>
                <a:latin typeface="Courier New" pitchFamily="34" charset="0"/>
                <a:ea typeface="Courier New" pitchFamily="34" charset="-122"/>
                <a:cs typeface="Courier New" pitchFamily="34" charset="-120"/>
              </a:rPr>
              <a:t>H(B,C,D)=B⊕C⊕D</a:t>
            </a:r>
            <a:endParaRPr lang="en-US" sz="850" dirty="0"/>
          </a:p>
        </p:txBody>
      </p:sp>
      <p:sp>
        <p:nvSpPr>
          <p:cNvPr id="35" name="Shape 33"/>
          <p:cNvSpPr/>
          <p:nvPr/>
        </p:nvSpPr>
        <p:spPr>
          <a:xfrm>
            <a:off x="8823960" y="4507992"/>
            <a:ext cx="2423160" cy="731520"/>
          </a:xfrm>
          <a:prstGeom prst="roundRect">
            <a:avLst>
              <a:gd name="adj" fmla="val 7500"/>
            </a:avLst>
          </a:prstGeom>
          <a:solidFill>
            <a:srgbClr val="F4F7FB"/>
          </a:solidFill>
          <a:ln w="9525">
            <a:solidFill>
              <a:srgbClr val="D7DEE7"/>
            </a:solidFill>
            <a:prstDash val="solid"/>
          </a:ln>
        </p:spPr>
      </p:sp>
      <p:sp>
        <p:nvSpPr>
          <p:cNvPr id="36" name="Text 34"/>
          <p:cNvSpPr/>
          <p:nvPr/>
        </p:nvSpPr>
        <p:spPr>
          <a:xfrm>
            <a:off x="8823960" y="4553712"/>
            <a:ext cx="2423160" cy="274320"/>
          </a:xfrm>
          <a:prstGeom prst="rect">
            <a:avLst/>
          </a:prstGeom>
          <a:noFill/>
          <a:ln/>
        </p:spPr>
        <p:txBody>
          <a:bodyPr wrap="square" rtlCol="0" anchor="ctr"/>
          <a:lstStyle/>
          <a:p>
            <a:pPr marL="0" indent="0" algn="ctr">
              <a:buNone/>
            </a:pPr>
            <a:r>
              <a:rPr lang="en-US" sz="1050" b="1" dirty="0">
                <a:solidFill>
                  <a:srgbClr val="17A2B8"/>
                </a:solidFill>
                <a:latin typeface="Calibri" pitchFamily="34" charset="0"/>
                <a:ea typeface="Calibri" pitchFamily="34" charset="-122"/>
                <a:cs typeface="Calibri" pitchFamily="34" charset="-120"/>
              </a:rPr>
              <a:t>Round 4</a:t>
            </a:r>
            <a:endParaRPr lang="en-US" sz="1050" dirty="0"/>
          </a:p>
        </p:txBody>
      </p:sp>
      <p:sp>
        <p:nvSpPr>
          <p:cNvPr id="37" name="Text 35"/>
          <p:cNvSpPr/>
          <p:nvPr/>
        </p:nvSpPr>
        <p:spPr>
          <a:xfrm>
            <a:off x="8823960" y="4828032"/>
            <a:ext cx="2423160" cy="365760"/>
          </a:xfrm>
          <a:prstGeom prst="rect">
            <a:avLst/>
          </a:prstGeom>
          <a:noFill/>
          <a:ln/>
        </p:spPr>
        <p:txBody>
          <a:bodyPr wrap="square" rtlCol="0" anchor="ctr"/>
          <a:lstStyle/>
          <a:p>
            <a:pPr marL="0" indent="0" algn="ctr">
              <a:buNone/>
            </a:pPr>
            <a:r>
              <a:rPr lang="en-US" sz="850" dirty="0">
                <a:solidFill>
                  <a:srgbClr val="6B7785"/>
                </a:solidFill>
                <a:latin typeface="Courier New" pitchFamily="34" charset="0"/>
                <a:ea typeface="Courier New" pitchFamily="34" charset="-122"/>
                <a:cs typeface="Courier New" pitchFamily="34" charset="-120"/>
              </a:rPr>
              <a:t>I(B,C,D)=C⊕(B∨¬D)</a:t>
            </a:r>
            <a:endParaRPr lang="en-US" sz="850" dirty="0"/>
          </a:p>
        </p:txBody>
      </p:sp>
      <p:sp>
        <p:nvSpPr>
          <p:cNvPr id="38" name="Text 36"/>
          <p:cNvSpPr/>
          <p:nvPr/>
        </p:nvSpPr>
        <p:spPr>
          <a:xfrm>
            <a:off x="548640" y="5623560"/>
            <a:ext cx="10972800" cy="36576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Example: </a:t>
            </a:r>
            <a:r>
              <a:rPr lang="en-US" sz="1100" dirty="0">
                <a:solidFill>
                  <a:srgbClr val="6B7785"/>
                </a:solidFill>
                <a:latin typeface="Courier New" pitchFamily="34" charset="0"/>
                <a:ea typeface="Courier New" pitchFamily="34" charset="-122"/>
                <a:cs typeface="Courier New" pitchFamily="34" charset="-120"/>
              </a:rPr>
              <a:t>MD5("hello") = 5d41402abc4b2a76b9719d911017c592</a:t>
            </a:r>
            <a:endParaRPr lang="en-US" sz="1100" dirty="0"/>
          </a:p>
        </p:txBody>
      </p:sp>
      <p:sp>
        <p:nvSpPr>
          <p:cNvPr id="39" name="Text 37"/>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40" name="Text 38"/>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7161DD5-9D7E-3466-10D4-DC6BFC65FD59}"/>
              </a:ext>
            </a:extLst>
          </p:cNvPr>
          <p:cNvSpPr txBox="1"/>
          <p:nvPr/>
        </p:nvSpPr>
        <p:spPr>
          <a:xfrm>
            <a:off x="788894" y="-79653"/>
            <a:ext cx="10130118" cy="6740307"/>
          </a:xfrm>
          <a:prstGeom prst="rect">
            <a:avLst/>
          </a:prstGeom>
          <a:noFill/>
        </p:spPr>
        <p:txBody>
          <a:bodyPr wrap="square">
            <a:spAutoFit/>
          </a:bodyPr>
          <a:lstStyle/>
          <a:p>
            <a:r>
              <a:rPr lang="en-IN" dirty="0"/>
              <a:t>Q1. How many rounds are there in MD5?</a:t>
            </a:r>
          </a:p>
          <a:p>
            <a:r>
              <a:rPr lang="en-IN" dirty="0"/>
              <a:t>MD5 consists of 4 rounds.</a:t>
            </a:r>
          </a:p>
          <a:p>
            <a:endParaRPr lang="en-IN" dirty="0"/>
          </a:p>
          <a:p>
            <a:r>
              <a:rPr lang="en-IN" dirty="0"/>
              <a:t>Q2. How many operations are performed in total?</a:t>
            </a:r>
          </a:p>
          <a:p>
            <a:r>
              <a:rPr lang="en-IN" dirty="0"/>
              <a:t>MD5 performs a total of 64 operations.</a:t>
            </a:r>
          </a:p>
          <a:p>
            <a:endParaRPr lang="en-IN" dirty="0"/>
          </a:p>
          <a:p>
            <a:r>
              <a:rPr lang="en-IN" dirty="0"/>
              <a:t>Q3. How many operations are there in each round?</a:t>
            </a:r>
          </a:p>
          <a:p>
            <a:r>
              <a:rPr lang="en-IN" dirty="0"/>
              <a:t> Each round consists of 16 operations.4 Rounds × 16 Operations = 64 Operations</a:t>
            </a:r>
          </a:p>
          <a:p>
            <a:endParaRPr lang="en-IN" dirty="0"/>
          </a:p>
          <a:p>
            <a:r>
              <a:rPr lang="en-IN" dirty="0"/>
              <a:t>Q4. What is the size of each register?</a:t>
            </a:r>
          </a:p>
          <a:p>
            <a:r>
              <a:rPr lang="en-IN" dirty="0"/>
              <a:t> Each register (A, B, C, and D) is 32 bits.</a:t>
            </a:r>
          </a:p>
          <a:p>
            <a:endParaRPr lang="en-IN" dirty="0"/>
          </a:p>
          <a:p>
            <a:r>
              <a:rPr lang="en-IN" dirty="0"/>
              <a:t>Q5. What is the total size of all registers?</a:t>
            </a:r>
          </a:p>
          <a:p>
            <a:r>
              <a:rPr lang="en-IN" dirty="0"/>
              <a:t>There are four 32-bit registers.</a:t>
            </a:r>
          </a:p>
          <a:p>
            <a:r>
              <a:rPr lang="en-IN" dirty="0"/>
              <a:t>4 × 32 bits = 128 bits</a:t>
            </a:r>
          </a:p>
          <a:p>
            <a:endParaRPr lang="en-IN" dirty="0"/>
          </a:p>
          <a:p>
            <a:r>
              <a:rPr lang="en-IN" dirty="0"/>
              <a:t>Q6. Which registers are used in the MD5 functions (F, G, H, I)?</a:t>
            </a:r>
          </a:p>
          <a:p>
            <a:r>
              <a:rPr lang="en-IN" dirty="0"/>
              <a:t>The functions use only three registers: B, C, and D.</a:t>
            </a:r>
          </a:p>
          <a:p>
            <a:r>
              <a:rPr lang="en-IN" dirty="0"/>
              <a:t>Example:</a:t>
            </a:r>
          </a:p>
          <a:p>
            <a:endParaRPr lang="en-IN" dirty="0"/>
          </a:p>
          <a:p>
            <a:r>
              <a:rPr lang="en-IN" dirty="0"/>
              <a:t>F(B, C, D)</a:t>
            </a:r>
          </a:p>
          <a:p>
            <a:r>
              <a:rPr lang="en-IN" dirty="0"/>
              <a:t>G(B, C, D)</a:t>
            </a:r>
          </a:p>
          <a:p>
            <a:r>
              <a:rPr lang="en-IN" dirty="0"/>
              <a:t>H(B, C, D)</a:t>
            </a:r>
          </a:p>
          <a:p>
            <a:r>
              <a:rPr lang="en-IN" dirty="0"/>
              <a:t>I(B, C, D)</a:t>
            </a:r>
          </a:p>
        </p:txBody>
      </p:sp>
    </p:spTree>
    <p:extLst>
      <p:ext uri="{BB962C8B-B14F-4D97-AF65-F5344CB8AC3E}">
        <p14:creationId xmlns:p14="http://schemas.microsoft.com/office/powerpoint/2010/main" val="41574472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E5D06B-0099-6AD2-B29B-02653F98CEDF}"/>
              </a:ext>
            </a:extLst>
          </p:cNvPr>
          <p:cNvSpPr txBox="1"/>
          <p:nvPr/>
        </p:nvSpPr>
        <p:spPr>
          <a:xfrm>
            <a:off x="304801" y="474345"/>
            <a:ext cx="11447928" cy="5078313"/>
          </a:xfrm>
          <a:prstGeom prst="rect">
            <a:avLst/>
          </a:prstGeom>
          <a:noFill/>
        </p:spPr>
        <p:txBody>
          <a:bodyPr wrap="square">
            <a:spAutoFit/>
          </a:bodyPr>
          <a:lstStyle/>
          <a:p>
            <a:r>
              <a:rPr lang="en-IN" dirty="0"/>
              <a:t>Q7. What is the role of Register A?</a:t>
            </a:r>
          </a:p>
          <a:p>
            <a:r>
              <a:rPr lang="en-IN" dirty="0"/>
              <a:t>Register A is not used directly inside the functions. Instead, it is added to the function result along with the message word and constant before performing the left circular shift.</a:t>
            </a:r>
          </a:p>
          <a:p>
            <a:endParaRPr lang="en-IN" dirty="0"/>
          </a:p>
          <a:p>
            <a:r>
              <a:rPr lang="en-IN" dirty="0"/>
              <a:t>Formula:</a:t>
            </a:r>
          </a:p>
          <a:p>
            <a:r>
              <a:rPr lang="en-IN" dirty="0"/>
              <a:t>A + F(B, C, D) + M[</a:t>
            </a:r>
            <a:r>
              <a:rPr lang="en-IN" dirty="0" err="1"/>
              <a:t>i</a:t>
            </a:r>
            <a:r>
              <a:rPr lang="en-IN" dirty="0"/>
              <a:t>] + K[</a:t>
            </a:r>
            <a:r>
              <a:rPr lang="en-IN" dirty="0" err="1"/>
              <a:t>i</a:t>
            </a:r>
            <a:r>
              <a:rPr lang="en-IN" dirty="0"/>
              <a:t>]</a:t>
            </a:r>
          </a:p>
          <a:p>
            <a:r>
              <a:rPr lang="en-IN" dirty="0"/>
              <a:t>Q8. On which value is the Left Circular Shift performed?</a:t>
            </a:r>
          </a:p>
          <a:p>
            <a:r>
              <a:rPr lang="en-IN" dirty="0"/>
              <a:t>The Left Circular Shift is performed on the 32-bit intermediate result generated in each operation.</a:t>
            </a:r>
          </a:p>
          <a:p>
            <a:r>
              <a:rPr lang="en-IN" dirty="0"/>
              <a:t>It is not performed on the entire message or on a 16-bit value.</a:t>
            </a:r>
          </a:p>
          <a:p>
            <a:endParaRPr lang="en-IN" dirty="0"/>
          </a:p>
          <a:p>
            <a:r>
              <a:rPr lang="en-IN" dirty="0"/>
              <a:t>Q9. How is the final MD5 hash generated?</a:t>
            </a:r>
          </a:p>
          <a:p>
            <a:r>
              <a:rPr lang="en-IN" dirty="0"/>
              <a:t> After completing all 64 operations, the final values stored in the four registers (A, B, C, and D) are concatenated to produce the 128-bit MD5 hash.</a:t>
            </a:r>
          </a:p>
          <a:p>
            <a:r>
              <a:rPr lang="en-IN" dirty="0"/>
              <a:t>Final MD5 Hash</a:t>
            </a:r>
          </a:p>
          <a:p>
            <a:r>
              <a:rPr lang="en-IN" dirty="0"/>
              <a:t>       =</a:t>
            </a:r>
          </a:p>
          <a:p>
            <a:r>
              <a:rPr lang="en-IN" dirty="0"/>
              <a:t>A || B || C || D</a:t>
            </a:r>
          </a:p>
          <a:p>
            <a:r>
              <a:rPr lang="en-IN" dirty="0"/>
              <a:t>       =</a:t>
            </a:r>
          </a:p>
          <a:p>
            <a:r>
              <a:rPr lang="en-IN" dirty="0"/>
              <a:t>128-bit Message Digest</a:t>
            </a:r>
          </a:p>
        </p:txBody>
      </p:sp>
    </p:spTree>
    <p:extLst>
      <p:ext uri="{BB962C8B-B14F-4D97-AF65-F5344CB8AC3E}">
        <p14:creationId xmlns:p14="http://schemas.microsoft.com/office/powerpoint/2010/main" val="3479632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1639AD-9A64-72EE-9F44-31D6BA79C3EB}"/>
              </a:ext>
            </a:extLst>
          </p:cNvPr>
          <p:cNvSpPr txBox="1"/>
          <p:nvPr/>
        </p:nvSpPr>
        <p:spPr>
          <a:xfrm>
            <a:off x="3048000" y="1859340"/>
            <a:ext cx="8096250" cy="3139321"/>
          </a:xfrm>
          <a:prstGeom prst="rect">
            <a:avLst/>
          </a:prstGeom>
          <a:noFill/>
        </p:spPr>
        <p:txBody>
          <a:bodyPr wrap="square">
            <a:spAutoFit/>
          </a:bodyPr>
          <a:lstStyle/>
          <a:p>
            <a:pPr>
              <a:buNone/>
            </a:pPr>
            <a:r>
              <a:rPr lang="en-IN" b="1" dirty="0"/>
              <a:t>MD5 Algorithm (Core Internal Working)</a:t>
            </a:r>
            <a:endParaRPr lang="en-IN" dirty="0"/>
          </a:p>
          <a:p>
            <a:pPr>
              <a:buFont typeface="+mj-lt"/>
              <a:buAutoNum type="arabicPeriod"/>
            </a:pPr>
            <a:r>
              <a:rPr lang="en-IN" dirty="0"/>
              <a:t>🔹 Step 4: Initialize Buffers (A, B, C, D) </a:t>
            </a:r>
          </a:p>
          <a:p>
            <a:pPr>
              <a:buFont typeface="+mj-lt"/>
              <a:buAutoNum type="arabicPeriod"/>
            </a:pPr>
            <a:r>
              <a:rPr lang="en-IN" dirty="0"/>
              <a:t>🔹 Why A, B, C, D are needed? </a:t>
            </a:r>
          </a:p>
          <a:p>
            <a:pPr>
              <a:buFont typeface="+mj-lt"/>
              <a:buAutoNum type="arabicPeriod"/>
            </a:pPr>
            <a:r>
              <a:rPr lang="en-IN" dirty="0"/>
              <a:t>🔹 F, G, H, I Functions </a:t>
            </a:r>
          </a:p>
          <a:p>
            <a:pPr>
              <a:buFont typeface="+mj-lt"/>
              <a:buAutoNum type="arabicPeriod"/>
            </a:pPr>
            <a:r>
              <a:rPr lang="en-IN" dirty="0"/>
              <a:t>🔹 4 Rounds (16 Operations each = 64 Operations) </a:t>
            </a:r>
          </a:p>
          <a:p>
            <a:pPr>
              <a:buFont typeface="+mj-lt"/>
              <a:buAutoNum type="arabicPeriod"/>
            </a:pPr>
            <a:r>
              <a:rPr lang="en-IN" dirty="0"/>
              <a:t>🔹 Left Circular Shift </a:t>
            </a:r>
          </a:p>
          <a:p>
            <a:pPr>
              <a:buFont typeface="+mj-lt"/>
              <a:buAutoNum type="arabicPeriod"/>
            </a:pPr>
            <a:r>
              <a:rPr lang="en-IN" dirty="0"/>
              <a:t>🔹 Modulo 2³² Addition </a:t>
            </a:r>
          </a:p>
          <a:p>
            <a:pPr>
              <a:buFont typeface="+mj-lt"/>
              <a:buAutoNum type="arabicPeriod"/>
            </a:pPr>
            <a:r>
              <a:rPr lang="en-IN" dirty="0"/>
              <a:t>🔹 Final 128-bit Message Digest </a:t>
            </a:r>
          </a:p>
          <a:p>
            <a:pPr>
              <a:buFont typeface="+mj-lt"/>
              <a:buAutoNum type="arabicPeriod"/>
            </a:pPr>
            <a:r>
              <a:rPr lang="en-IN" dirty="0"/>
              <a:t>🔹 Complete 2D </a:t>
            </a:r>
            <a:r>
              <a:rPr lang="en-IN" dirty="0" err="1"/>
              <a:t>Color</a:t>
            </a:r>
            <a:r>
              <a:rPr lang="en-IN" dirty="0"/>
              <a:t> Diagram </a:t>
            </a:r>
          </a:p>
          <a:p>
            <a:pPr>
              <a:buFont typeface="+mj-lt"/>
              <a:buAutoNum type="arabicPeriod"/>
            </a:pPr>
            <a:r>
              <a:rPr lang="en-IN" dirty="0"/>
              <a:t>🔹 PPT Notes + Real-time Examples </a:t>
            </a:r>
          </a:p>
          <a:p>
            <a:pPr>
              <a:buFont typeface="+mj-lt"/>
              <a:buAutoNum type="arabicPeriod"/>
            </a:pPr>
            <a:r>
              <a:rPr lang="en-IN" dirty="0"/>
              <a:t>🔹 MD5 Weaknesses and why SHA replaced MD5</a:t>
            </a:r>
          </a:p>
        </p:txBody>
      </p:sp>
    </p:spTree>
    <p:extLst>
      <p:ext uri="{BB962C8B-B14F-4D97-AF65-F5344CB8AC3E}">
        <p14:creationId xmlns:p14="http://schemas.microsoft.com/office/powerpoint/2010/main" val="2426963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2C3076-5024-E2F5-C503-E781EE5BD57E}"/>
              </a:ext>
            </a:extLst>
          </p:cNvPr>
          <p:cNvSpPr txBox="1"/>
          <p:nvPr/>
        </p:nvSpPr>
        <p:spPr>
          <a:xfrm>
            <a:off x="2312894" y="58847"/>
            <a:ext cx="6831106" cy="6740307"/>
          </a:xfrm>
          <a:prstGeom prst="rect">
            <a:avLst/>
          </a:prstGeom>
          <a:noFill/>
        </p:spPr>
        <p:txBody>
          <a:bodyPr wrap="square">
            <a:spAutoFit/>
          </a:bodyPr>
          <a:lstStyle/>
          <a:p>
            <a:r>
              <a:rPr lang="en-IN" dirty="0"/>
              <a:t> Message</a:t>
            </a:r>
          </a:p>
          <a:p>
            <a:r>
              <a:rPr lang="en-IN" dirty="0"/>
              <a:t>   │</a:t>
            </a:r>
          </a:p>
          <a:p>
            <a:r>
              <a:rPr lang="en-IN" dirty="0"/>
              <a:t>   ▼</a:t>
            </a:r>
          </a:p>
          <a:p>
            <a:r>
              <a:rPr lang="en-IN" dirty="0"/>
              <a:t>1. Convert Message into Binary</a:t>
            </a:r>
          </a:p>
          <a:p>
            <a:r>
              <a:rPr lang="en-IN" dirty="0"/>
              <a:t>   ▼</a:t>
            </a:r>
          </a:p>
          <a:p>
            <a:r>
              <a:rPr lang="en-IN" dirty="0"/>
              <a:t>2. Padding</a:t>
            </a:r>
          </a:p>
          <a:p>
            <a:r>
              <a:rPr lang="en-IN" dirty="0"/>
              <a:t>   ▼</a:t>
            </a:r>
          </a:p>
          <a:p>
            <a:r>
              <a:rPr lang="en-IN" dirty="0"/>
              <a:t>3. Append Original Length</a:t>
            </a:r>
          </a:p>
          <a:p>
            <a:r>
              <a:rPr lang="en-IN" dirty="0"/>
              <a:t>   ▼</a:t>
            </a:r>
          </a:p>
          <a:p>
            <a:r>
              <a:rPr lang="en-IN" dirty="0"/>
              <a:t>4. Divide into 512-bit Blocks</a:t>
            </a:r>
          </a:p>
          <a:p>
            <a:r>
              <a:rPr lang="en-IN" dirty="0"/>
              <a:t>   ▼</a:t>
            </a:r>
          </a:p>
          <a:p>
            <a:r>
              <a:rPr lang="en-IN" dirty="0"/>
              <a:t>5. Initialize A, B, C, D</a:t>
            </a:r>
          </a:p>
          <a:p>
            <a:r>
              <a:rPr lang="en-IN" dirty="0"/>
              <a:t>   ▼</a:t>
            </a:r>
          </a:p>
          <a:p>
            <a:r>
              <a:rPr lang="en-IN" dirty="0"/>
              <a:t>6. Process Block-1 (64 Operations)</a:t>
            </a:r>
          </a:p>
          <a:p>
            <a:r>
              <a:rPr lang="en-IN" dirty="0"/>
              <a:t>     ▼</a:t>
            </a:r>
          </a:p>
          <a:p>
            <a:r>
              <a:rPr lang="en-IN" dirty="0"/>
              <a:t>7. Get New A, B, C, D</a:t>
            </a:r>
          </a:p>
          <a:p>
            <a:r>
              <a:rPr lang="en-IN" dirty="0"/>
              <a:t>     ▼</a:t>
            </a:r>
          </a:p>
          <a:p>
            <a:r>
              <a:rPr lang="en-IN" dirty="0"/>
              <a:t>8. Process Block-2 (using previous A, B, C, D)</a:t>
            </a:r>
          </a:p>
          <a:p>
            <a:r>
              <a:rPr lang="en-IN" dirty="0"/>
              <a:t>    ▼</a:t>
            </a:r>
          </a:p>
          <a:p>
            <a:r>
              <a:rPr lang="en-IN" dirty="0"/>
              <a:t>9. Repeat for all Blocks</a:t>
            </a:r>
          </a:p>
          <a:p>
            <a:r>
              <a:rPr lang="en-IN" dirty="0"/>
              <a:t>     ▼</a:t>
            </a:r>
          </a:p>
          <a:p>
            <a:r>
              <a:rPr lang="en-IN" dirty="0"/>
              <a:t>10. Combine Final A+B+C+D</a:t>
            </a:r>
          </a:p>
          <a:p>
            <a:r>
              <a:rPr lang="en-IN" dirty="0"/>
              <a:t>    ▼</a:t>
            </a:r>
          </a:p>
          <a:p>
            <a:r>
              <a:rPr lang="en-IN" dirty="0"/>
              <a:t>128-bit MD5 Hash</a:t>
            </a:r>
          </a:p>
        </p:txBody>
      </p:sp>
    </p:spTree>
    <p:extLst>
      <p:ext uri="{BB962C8B-B14F-4D97-AF65-F5344CB8AC3E}">
        <p14:creationId xmlns:p14="http://schemas.microsoft.com/office/powerpoint/2010/main" val="327035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2466A1-5121-383F-662A-3F5A936EC387}"/>
              </a:ext>
            </a:extLst>
          </p:cNvPr>
          <p:cNvPicPr>
            <a:picLocks noChangeAspect="1"/>
          </p:cNvPicPr>
          <p:nvPr/>
        </p:nvPicPr>
        <p:blipFill>
          <a:blip r:embed="rId2"/>
          <a:stretch>
            <a:fillRect/>
          </a:stretch>
        </p:blipFill>
        <p:spPr>
          <a:xfrm>
            <a:off x="954593" y="0"/>
            <a:ext cx="10282813"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65F0668-2AF0-F9A9-6C6E-4CCD3128C860}"/>
                  </a:ext>
                </a:extLst>
              </p14:cNvPr>
              <p14:cNvContentPartPr/>
              <p14:nvPr/>
            </p14:nvContentPartPr>
            <p14:xfrm>
              <a:off x="5438329" y="85059"/>
              <a:ext cx="3841920" cy="159480"/>
            </p14:xfrm>
          </p:contentPart>
        </mc:Choice>
        <mc:Fallback xmlns="">
          <p:pic>
            <p:nvPicPr>
              <p:cNvPr id="5" name="Ink 4">
                <a:extLst>
                  <a:ext uri="{FF2B5EF4-FFF2-40B4-BE49-F238E27FC236}">
                    <a16:creationId xmlns:a16="http://schemas.microsoft.com/office/drawing/2014/main" id="{365F0668-2AF0-F9A9-6C6E-4CCD3128C860}"/>
                  </a:ext>
                </a:extLst>
              </p:cNvPr>
              <p:cNvPicPr/>
              <p:nvPr/>
            </p:nvPicPr>
            <p:blipFill>
              <a:blip r:embed="rId4"/>
              <a:stretch>
                <a:fillRect/>
              </a:stretch>
            </p:blipFill>
            <p:spPr>
              <a:xfrm>
                <a:off x="5375689" y="22419"/>
                <a:ext cx="3967560" cy="285120"/>
              </a:xfrm>
              <a:prstGeom prst="rect">
                <a:avLst/>
              </a:prstGeom>
            </p:spPr>
          </p:pic>
        </mc:Fallback>
      </mc:AlternateContent>
    </p:spTree>
    <p:extLst>
      <p:ext uri="{BB962C8B-B14F-4D97-AF65-F5344CB8AC3E}">
        <p14:creationId xmlns:p14="http://schemas.microsoft.com/office/powerpoint/2010/main" val="38402807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HASHING ALGORITHMS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MD5 — Advantages &amp; Disadvantages</a:t>
            </a:r>
            <a:endParaRPr lang="en-US" sz="3000" dirty="0"/>
          </a:p>
        </p:txBody>
      </p:sp>
      <p:sp>
        <p:nvSpPr>
          <p:cNvPr id="4" name="Shape 2"/>
          <p:cNvSpPr/>
          <p:nvPr/>
        </p:nvSpPr>
        <p:spPr>
          <a:xfrm>
            <a:off x="548640" y="1417320"/>
            <a:ext cx="5394960" cy="502920"/>
          </a:xfrm>
          <a:prstGeom prst="roundRect">
            <a:avLst>
              <a:gd name="adj" fmla="val 10909"/>
            </a:avLst>
          </a:prstGeom>
          <a:solidFill>
            <a:srgbClr val="2E8B57"/>
          </a:solidFill>
          <a:ln/>
        </p:spPr>
      </p:sp>
      <p:sp>
        <p:nvSpPr>
          <p:cNvPr id="5" name="Text 3"/>
          <p:cNvSpPr/>
          <p:nvPr/>
        </p:nvSpPr>
        <p:spPr>
          <a:xfrm>
            <a:off x="548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p>
        </p:txBody>
      </p:sp>
      <p:sp>
        <p:nvSpPr>
          <p:cNvPr id="6" name="Shape 4"/>
          <p:cNvSpPr/>
          <p:nvPr/>
        </p:nvSpPr>
        <p:spPr>
          <a:xfrm>
            <a:off x="548640" y="1920240"/>
            <a:ext cx="5394960" cy="2606040"/>
          </a:xfrm>
          <a:prstGeom prst="roundRect">
            <a:avLst>
              <a:gd name="adj" fmla="val 2105"/>
            </a:avLst>
          </a:prstGeom>
          <a:solidFill>
            <a:srgbClr val="E7F4EC"/>
          </a:solidFill>
          <a:ln w="12700">
            <a:solidFill>
              <a:srgbClr val="D7DEE7"/>
            </a:solidFill>
            <a:prstDash val="solid"/>
          </a:ln>
        </p:spPr>
      </p:sp>
      <p:sp>
        <p:nvSpPr>
          <p:cNvPr id="7" name="Text 5"/>
          <p:cNvSpPr/>
          <p:nvPr/>
        </p:nvSpPr>
        <p:spPr>
          <a:xfrm>
            <a:off x="804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Very fast to compute — low CPU overhead</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Small 128-bit digest, saves storage and bandwidth</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Simple to implement across all platforms/languages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Still fine for non-security uses (checksums, dedup, file-integrity vs accidental corruption)</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Widely supported by legacy tools and libraries</a:t>
            </a:r>
            <a:endParaRPr lang="en-US" sz="1250" dirty="0"/>
          </a:p>
        </p:txBody>
      </p:sp>
      <p:sp>
        <p:nvSpPr>
          <p:cNvPr id="8" name="Shape 6"/>
          <p:cNvSpPr/>
          <p:nvPr/>
        </p:nvSpPr>
        <p:spPr>
          <a:xfrm>
            <a:off x="6263640" y="1417320"/>
            <a:ext cx="5394960" cy="502920"/>
          </a:xfrm>
          <a:prstGeom prst="roundRect">
            <a:avLst>
              <a:gd name="adj" fmla="val 10909"/>
            </a:avLst>
          </a:prstGeom>
          <a:solidFill>
            <a:srgbClr val="C0392B"/>
          </a:solidFill>
          <a:ln/>
        </p:spPr>
      </p:sp>
      <p:sp>
        <p:nvSpPr>
          <p:cNvPr id="9" name="Text 7"/>
          <p:cNvSpPr/>
          <p:nvPr/>
        </p:nvSpPr>
        <p:spPr>
          <a:xfrm>
            <a:off x="6263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DISADVANTAGES</a:t>
            </a:r>
            <a:endParaRPr lang="en-US" sz="1400" dirty="0"/>
          </a:p>
        </p:txBody>
      </p:sp>
      <p:sp>
        <p:nvSpPr>
          <p:cNvPr id="10" name="Shape 8"/>
          <p:cNvSpPr/>
          <p:nvPr/>
        </p:nvSpPr>
        <p:spPr>
          <a:xfrm>
            <a:off x="6263640" y="1920240"/>
            <a:ext cx="5394960" cy="2606040"/>
          </a:xfrm>
          <a:prstGeom prst="roundRect">
            <a:avLst>
              <a:gd name="adj" fmla="val 2105"/>
            </a:avLst>
          </a:prstGeom>
          <a:solidFill>
            <a:srgbClr val="FBEAE8"/>
          </a:solidFill>
          <a:ln w="12700">
            <a:solidFill>
              <a:srgbClr val="D7DEE7"/>
            </a:solidFill>
            <a:prstDash val="solid"/>
          </a:ln>
        </p:spPr>
      </p:sp>
      <p:sp>
        <p:nvSpPr>
          <p:cNvPr id="11" name="Text 9"/>
          <p:cNvSpPr/>
          <p:nvPr/>
        </p:nvSpPr>
        <p:spPr>
          <a:xfrm>
            <a:off x="6519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Collision resistance broken — researchers can craft two different inputs with the same hash (since 2004)</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Vulnerable to chosen-prefix collision attacks (forged certificates, malware disguised as safe files)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Not safe for password hashing (fast speed helps brute-force/rainbow-table attacks)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Deprecated by NIST and major security standards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Should never be used for digital signatures or SSL/TLS certificates</a:t>
            </a:r>
            <a:endParaRPr lang="en-US" sz="1250" dirty="0"/>
          </a:p>
        </p:txBody>
      </p:sp>
      <p:sp>
        <p:nvSpPr>
          <p:cNvPr id="12" name="Text 1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HASHING ALGORITHMS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SHA — Secure Hash Algorithm Family</a:t>
            </a:r>
            <a:endParaRPr lang="en-US" sz="3000" dirty="0"/>
          </a:p>
        </p:txBody>
      </p:sp>
      <p:sp>
        <p:nvSpPr>
          <p:cNvPr id="4" name="Text 2"/>
          <p:cNvSpPr/>
          <p:nvPr/>
        </p:nvSpPr>
        <p:spPr>
          <a:xfrm>
            <a:off x="548640" y="1371600"/>
            <a:ext cx="11064240" cy="457200"/>
          </a:xfrm>
          <a:prstGeom prst="rect">
            <a:avLst/>
          </a:prstGeom>
          <a:noFill/>
          <a:ln/>
        </p:spPr>
        <p:txBody>
          <a:bodyPr wrap="square" rtlCol="0" anchor="ctr"/>
          <a:lstStyle/>
          <a:p>
            <a:pPr marL="0" indent="0">
              <a:buNone/>
            </a:pPr>
            <a:r>
              <a:rPr lang="en-US" sz="1250" dirty="0">
                <a:solidFill>
                  <a:srgbClr val="1B2430"/>
                </a:solidFill>
                <a:latin typeface="Calibri" pitchFamily="34" charset="0"/>
                <a:ea typeface="Calibri" pitchFamily="34" charset="-122"/>
                <a:cs typeface="Calibri" pitchFamily="34" charset="-120"/>
              </a:rPr>
              <a:t>Developed by NSA / published by NIST. A family of hash functions, each generation adding digest length and structural security.</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4150285542"/>
              </p:ext>
            </p:extLst>
          </p:nvPr>
        </p:nvGraphicFramePr>
        <p:xfrm>
          <a:off x="591671" y="1965960"/>
          <a:ext cx="11021209" cy="2468880"/>
        </p:xfrm>
        <a:graphic>
          <a:graphicData uri="http://schemas.openxmlformats.org/drawingml/2006/table">
            <a:tbl>
              <a:tblPr/>
              <a:tblGrid>
                <a:gridCol w="1877209">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926080">
                  <a:extLst>
                    <a:ext uri="{9D8B030D-6E8A-4147-A177-3AD203B41FA5}">
                      <a16:colId xmlns:a16="http://schemas.microsoft.com/office/drawing/2014/main" val="20003"/>
                    </a:ext>
                  </a:extLst>
                </a:gridCol>
                <a:gridCol w="3291840">
                  <a:extLst>
                    <a:ext uri="{9D8B030D-6E8A-4147-A177-3AD203B41FA5}">
                      <a16:colId xmlns:a16="http://schemas.microsoft.com/office/drawing/2014/main" val="20004"/>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Variant</a:t>
                      </a:r>
                      <a:endParaRPr lang="en-US" sz="11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Digest Size</a:t>
                      </a:r>
                      <a:endParaRPr lang="en-US" sz="11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Year</a:t>
                      </a:r>
                      <a:endParaRPr lang="en-US" sz="11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SHA-1</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160 bits</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1995</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Broken (deprecated)</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Collision demonstrated in 2017 ("SHAttered")</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extLst>
                  <a:ext uri="{0D108BD9-81ED-4DB2-BD59-A6C34878D82A}">
                    <a16:rowId xmlns:a16="http://schemas.microsoft.com/office/drawing/2014/main" val="10001"/>
                  </a:ext>
                </a:extLst>
              </a:tr>
              <a:tr h="457200">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SHA-224 / 256</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224 / 256 bits</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2001</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Secure — current standard</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Used in TLS, Bitcoin, Git (newer)</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SHA-384 / 512</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384 / 512 bits</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2001</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Secure — high margin</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Used where extra security margin is needed</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extLst>
                  <a:ext uri="{0D108BD9-81ED-4DB2-BD59-A6C34878D82A}">
                    <a16:rowId xmlns:a16="http://schemas.microsoft.com/office/drawing/2014/main" val="10003"/>
                  </a:ext>
                </a:extLst>
              </a:tr>
              <a:tr h="457200">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SHA-3 (Keccak)</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224–512 bits</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2015</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Secure — different design</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buNone/>
                      </a:pPr>
                      <a:r>
                        <a:rPr lang="en-US" sz="1400" b="1" dirty="0">
                          <a:solidFill>
                            <a:srgbClr val="1B2430"/>
                          </a:solidFill>
                          <a:latin typeface="Calibri" pitchFamily="34" charset="0"/>
                          <a:ea typeface="Calibri" pitchFamily="34" charset="-122"/>
                          <a:cs typeface="Calibri" pitchFamily="34" charset="-120"/>
                        </a:rPr>
                        <a:t>Sponge construction, backup standard to SHA-2</a:t>
                      </a:r>
                      <a:endParaRPr lang="en-US" sz="1400" b="1"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3"/>
          <p:cNvSpPr/>
          <p:nvPr/>
        </p:nvSpPr>
        <p:spPr>
          <a:xfrm>
            <a:off x="548640" y="4434840"/>
            <a:ext cx="11064240" cy="365760"/>
          </a:xfrm>
          <a:prstGeom prst="rect">
            <a:avLst/>
          </a:prstGeom>
          <a:noFill/>
          <a:ln/>
        </p:spPr>
        <p:txBody>
          <a:bodyPr wrap="square" rtlCol="0" anchor="ctr"/>
          <a:lstStyle/>
          <a:p>
            <a:pPr marL="0" indent="0">
              <a:buNone/>
            </a:pPr>
            <a:r>
              <a:rPr lang="en-US" sz="1150" i="1" dirty="0">
                <a:solidFill>
                  <a:srgbClr val="6B7785"/>
                </a:solidFill>
                <a:latin typeface="Calibri" pitchFamily="34" charset="0"/>
                <a:ea typeface="Calibri" pitchFamily="34" charset="-122"/>
                <a:cs typeface="Calibri" pitchFamily="34" charset="-120"/>
              </a:rPr>
              <a:t>SHA-2 (256/512) is today's industry default; SHA-1 and MD5 remain only for non-cryptographic checksums.</a:t>
            </a:r>
            <a:endParaRPr lang="en-US" sz="1150" dirty="0"/>
          </a:p>
        </p:txBody>
      </p:sp>
      <p:sp>
        <p:nvSpPr>
          <p:cNvPr id="5" name="Shape 4"/>
          <p:cNvSpPr/>
          <p:nvPr/>
        </p:nvSpPr>
        <p:spPr>
          <a:xfrm>
            <a:off x="548640" y="4983480"/>
            <a:ext cx="11064240" cy="1417320"/>
          </a:xfrm>
          <a:prstGeom prst="roundRect">
            <a:avLst>
              <a:gd name="adj" fmla="val 5161"/>
            </a:avLst>
          </a:prstGeom>
          <a:solidFill>
            <a:srgbClr val="FFFFFF"/>
          </a:solidFill>
          <a:ln w="12700">
            <a:solidFill>
              <a:srgbClr val="D7DEE7"/>
            </a:solidFill>
            <a:prstDash val="solid"/>
          </a:ln>
        </p:spPr>
      </p:sp>
      <p:sp>
        <p:nvSpPr>
          <p:cNvPr id="8" name="Text 5"/>
          <p:cNvSpPr/>
          <p:nvPr/>
        </p:nvSpPr>
        <p:spPr>
          <a:xfrm>
            <a:off x="731520" y="5074920"/>
            <a:ext cx="3657600" cy="27432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Relative Digest Size (bits)</a:t>
            </a:r>
            <a:endParaRPr lang="en-US" sz="1100" dirty="0"/>
          </a:p>
        </p:txBody>
      </p:sp>
      <p:sp>
        <p:nvSpPr>
          <p:cNvPr id="9" name="Text 6"/>
          <p:cNvSpPr/>
          <p:nvPr/>
        </p:nvSpPr>
        <p:spPr>
          <a:xfrm>
            <a:off x="822960" y="5413248"/>
            <a:ext cx="822960" cy="201168"/>
          </a:xfrm>
          <a:prstGeom prst="rect">
            <a:avLst/>
          </a:prstGeom>
          <a:noFill/>
          <a:ln/>
        </p:spPr>
        <p:txBody>
          <a:bodyPr wrap="square" rtlCol="0" anchor="ctr"/>
          <a:lstStyle/>
          <a:p>
            <a:pPr marL="0" indent="0">
              <a:buNone/>
            </a:pPr>
            <a:r>
              <a:rPr lang="en-US" sz="950" b="1" dirty="0">
                <a:solidFill>
                  <a:srgbClr val="1B2430"/>
                </a:solidFill>
                <a:latin typeface="Calibri" pitchFamily="34" charset="0"/>
                <a:ea typeface="Calibri" pitchFamily="34" charset="-122"/>
                <a:cs typeface="Calibri" pitchFamily="34" charset="-120"/>
              </a:rPr>
              <a:t>MD5</a:t>
            </a:r>
            <a:endParaRPr lang="en-US" sz="950" dirty="0"/>
          </a:p>
        </p:txBody>
      </p:sp>
      <p:sp>
        <p:nvSpPr>
          <p:cNvPr id="10" name="Shape 7"/>
          <p:cNvSpPr/>
          <p:nvPr/>
        </p:nvSpPr>
        <p:spPr>
          <a:xfrm>
            <a:off x="1691640" y="5440680"/>
            <a:ext cx="2263140" cy="146304"/>
          </a:xfrm>
          <a:prstGeom prst="rect">
            <a:avLst/>
          </a:prstGeom>
          <a:solidFill>
            <a:srgbClr val="C0392B"/>
          </a:solidFill>
          <a:ln/>
        </p:spPr>
      </p:sp>
      <p:sp>
        <p:nvSpPr>
          <p:cNvPr id="11" name="Text 8"/>
          <p:cNvSpPr/>
          <p:nvPr/>
        </p:nvSpPr>
        <p:spPr>
          <a:xfrm>
            <a:off x="4027932" y="5413248"/>
            <a:ext cx="548640" cy="201168"/>
          </a:xfrm>
          <a:prstGeom prst="rect">
            <a:avLst/>
          </a:prstGeom>
          <a:noFill/>
          <a:ln/>
        </p:spPr>
        <p:txBody>
          <a:bodyPr wrap="square" rtlCol="0" anchor="ctr"/>
          <a:lstStyle/>
          <a:p>
            <a:pPr marL="0" indent="0">
              <a:buNone/>
            </a:pPr>
            <a:r>
              <a:rPr lang="en-US" sz="900" dirty="0">
                <a:solidFill>
                  <a:srgbClr val="6B7785"/>
                </a:solidFill>
                <a:latin typeface="Calibri" pitchFamily="34" charset="0"/>
                <a:ea typeface="Calibri" pitchFamily="34" charset="-122"/>
                <a:cs typeface="Calibri" pitchFamily="34" charset="-120"/>
              </a:rPr>
              <a:t>128</a:t>
            </a:r>
            <a:endParaRPr lang="en-US" sz="900" dirty="0"/>
          </a:p>
        </p:txBody>
      </p:sp>
      <p:sp>
        <p:nvSpPr>
          <p:cNvPr id="12" name="Text 9"/>
          <p:cNvSpPr/>
          <p:nvPr/>
        </p:nvSpPr>
        <p:spPr>
          <a:xfrm>
            <a:off x="822960" y="5650992"/>
            <a:ext cx="822960" cy="201168"/>
          </a:xfrm>
          <a:prstGeom prst="rect">
            <a:avLst/>
          </a:prstGeom>
          <a:noFill/>
          <a:ln/>
        </p:spPr>
        <p:txBody>
          <a:bodyPr wrap="square" rtlCol="0" anchor="ctr"/>
          <a:lstStyle/>
          <a:p>
            <a:pPr marL="0" indent="0">
              <a:buNone/>
            </a:pPr>
            <a:r>
              <a:rPr lang="en-US" sz="950" b="1" dirty="0">
                <a:solidFill>
                  <a:srgbClr val="1B2430"/>
                </a:solidFill>
                <a:latin typeface="Calibri" pitchFamily="34" charset="0"/>
                <a:ea typeface="Calibri" pitchFamily="34" charset="-122"/>
                <a:cs typeface="Calibri" pitchFamily="34" charset="-120"/>
              </a:rPr>
              <a:t>SHA-1</a:t>
            </a:r>
            <a:endParaRPr lang="en-US" sz="950" dirty="0"/>
          </a:p>
        </p:txBody>
      </p:sp>
      <p:sp>
        <p:nvSpPr>
          <p:cNvPr id="13" name="Shape 10"/>
          <p:cNvSpPr/>
          <p:nvPr/>
        </p:nvSpPr>
        <p:spPr>
          <a:xfrm>
            <a:off x="1691640" y="5678424"/>
            <a:ext cx="2828925" cy="146304"/>
          </a:xfrm>
          <a:prstGeom prst="rect">
            <a:avLst/>
          </a:prstGeom>
          <a:solidFill>
            <a:srgbClr val="E67E22"/>
          </a:solidFill>
          <a:ln/>
        </p:spPr>
      </p:sp>
      <p:sp>
        <p:nvSpPr>
          <p:cNvPr id="14" name="Text 11"/>
          <p:cNvSpPr/>
          <p:nvPr/>
        </p:nvSpPr>
        <p:spPr>
          <a:xfrm>
            <a:off x="4593717" y="5650992"/>
            <a:ext cx="548640" cy="201168"/>
          </a:xfrm>
          <a:prstGeom prst="rect">
            <a:avLst/>
          </a:prstGeom>
          <a:noFill/>
          <a:ln/>
        </p:spPr>
        <p:txBody>
          <a:bodyPr wrap="square" rtlCol="0" anchor="ctr"/>
          <a:lstStyle/>
          <a:p>
            <a:pPr marL="0" indent="0">
              <a:buNone/>
            </a:pPr>
            <a:r>
              <a:rPr lang="en-US" sz="900" dirty="0">
                <a:solidFill>
                  <a:srgbClr val="6B7785"/>
                </a:solidFill>
                <a:latin typeface="Calibri" pitchFamily="34" charset="0"/>
                <a:ea typeface="Calibri" pitchFamily="34" charset="-122"/>
                <a:cs typeface="Calibri" pitchFamily="34" charset="-120"/>
              </a:rPr>
              <a:t>160</a:t>
            </a:r>
            <a:endParaRPr lang="en-US" sz="900" dirty="0"/>
          </a:p>
        </p:txBody>
      </p:sp>
      <p:sp>
        <p:nvSpPr>
          <p:cNvPr id="15" name="Text 12"/>
          <p:cNvSpPr/>
          <p:nvPr/>
        </p:nvSpPr>
        <p:spPr>
          <a:xfrm>
            <a:off x="822960" y="5888736"/>
            <a:ext cx="822960" cy="201168"/>
          </a:xfrm>
          <a:prstGeom prst="rect">
            <a:avLst/>
          </a:prstGeom>
          <a:noFill/>
          <a:ln/>
        </p:spPr>
        <p:txBody>
          <a:bodyPr wrap="square" rtlCol="0" anchor="ctr"/>
          <a:lstStyle/>
          <a:p>
            <a:pPr marL="0" indent="0">
              <a:buNone/>
            </a:pPr>
            <a:r>
              <a:rPr lang="en-US" sz="950" b="1" dirty="0">
                <a:solidFill>
                  <a:srgbClr val="1B2430"/>
                </a:solidFill>
                <a:latin typeface="Calibri" pitchFamily="34" charset="0"/>
                <a:ea typeface="Calibri" pitchFamily="34" charset="-122"/>
                <a:cs typeface="Calibri" pitchFamily="34" charset="-120"/>
              </a:rPr>
              <a:t>SHA-256</a:t>
            </a:r>
            <a:endParaRPr lang="en-US" sz="950" dirty="0"/>
          </a:p>
        </p:txBody>
      </p:sp>
      <p:sp>
        <p:nvSpPr>
          <p:cNvPr id="16" name="Shape 13"/>
          <p:cNvSpPr/>
          <p:nvPr/>
        </p:nvSpPr>
        <p:spPr>
          <a:xfrm>
            <a:off x="1691640" y="5916168"/>
            <a:ext cx="4526280" cy="146304"/>
          </a:xfrm>
          <a:prstGeom prst="rect">
            <a:avLst/>
          </a:prstGeom>
          <a:solidFill>
            <a:srgbClr val="17A2B8"/>
          </a:solidFill>
          <a:ln/>
        </p:spPr>
      </p:sp>
      <p:sp>
        <p:nvSpPr>
          <p:cNvPr id="17" name="Text 14"/>
          <p:cNvSpPr/>
          <p:nvPr/>
        </p:nvSpPr>
        <p:spPr>
          <a:xfrm>
            <a:off x="6291072" y="5888736"/>
            <a:ext cx="548640" cy="201168"/>
          </a:xfrm>
          <a:prstGeom prst="rect">
            <a:avLst/>
          </a:prstGeom>
          <a:noFill/>
          <a:ln/>
        </p:spPr>
        <p:txBody>
          <a:bodyPr wrap="square" rtlCol="0" anchor="ctr"/>
          <a:lstStyle/>
          <a:p>
            <a:pPr marL="0" indent="0">
              <a:buNone/>
            </a:pPr>
            <a:r>
              <a:rPr lang="en-US" sz="900" dirty="0">
                <a:solidFill>
                  <a:srgbClr val="6B7785"/>
                </a:solidFill>
                <a:latin typeface="Calibri" pitchFamily="34" charset="0"/>
                <a:ea typeface="Calibri" pitchFamily="34" charset="-122"/>
                <a:cs typeface="Calibri" pitchFamily="34" charset="-120"/>
              </a:rPr>
              <a:t>256</a:t>
            </a:r>
            <a:endParaRPr lang="en-US" sz="900" dirty="0"/>
          </a:p>
        </p:txBody>
      </p:sp>
      <p:sp>
        <p:nvSpPr>
          <p:cNvPr id="18" name="Text 15"/>
          <p:cNvSpPr/>
          <p:nvPr/>
        </p:nvSpPr>
        <p:spPr>
          <a:xfrm>
            <a:off x="822960" y="6126480"/>
            <a:ext cx="822960" cy="201168"/>
          </a:xfrm>
          <a:prstGeom prst="rect">
            <a:avLst/>
          </a:prstGeom>
          <a:noFill/>
          <a:ln/>
        </p:spPr>
        <p:txBody>
          <a:bodyPr wrap="square" rtlCol="0" anchor="ctr"/>
          <a:lstStyle/>
          <a:p>
            <a:pPr marL="0" indent="0">
              <a:buNone/>
            </a:pPr>
            <a:r>
              <a:rPr lang="en-US" sz="950" b="1" dirty="0">
                <a:solidFill>
                  <a:srgbClr val="1B2430"/>
                </a:solidFill>
                <a:latin typeface="Calibri" pitchFamily="34" charset="0"/>
                <a:ea typeface="Calibri" pitchFamily="34" charset="-122"/>
                <a:cs typeface="Calibri" pitchFamily="34" charset="-120"/>
              </a:rPr>
              <a:t>SHA-512</a:t>
            </a:r>
            <a:endParaRPr lang="en-US" sz="950" dirty="0"/>
          </a:p>
        </p:txBody>
      </p:sp>
      <p:sp>
        <p:nvSpPr>
          <p:cNvPr id="19" name="Shape 16"/>
          <p:cNvSpPr/>
          <p:nvPr/>
        </p:nvSpPr>
        <p:spPr>
          <a:xfrm>
            <a:off x="1691640" y="6153912"/>
            <a:ext cx="9052560" cy="146304"/>
          </a:xfrm>
          <a:prstGeom prst="rect">
            <a:avLst/>
          </a:prstGeom>
          <a:solidFill>
            <a:srgbClr val="0F1C3F"/>
          </a:solidFill>
          <a:ln/>
        </p:spPr>
      </p:sp>
      <p:sp>
        <p:nvSpPr>
          <p:cNvPr id="20" name="Text 17"/>
          <p:cNvSpPr/>
          <p:nvPr/>
        </p:nvSpPr>
        <p:spPr>
          <a:xfrm>
            <a:off x="10817352" y="6126480"/>
            <a:ext cx="548640" cy="201168"/>
          </a:xfrm>
          <a:prstGeom prst="rect">
            <a:avLst/>
          </a:prstGeom>
          <a:noFill/>
          <a:ln/>
        </p:spPr>
        <p:txBody>
          <a:bodyPr wrap="square" rtlCol="0" anchor="ctr"/>
          <a:lstStyle/>
          <a:p>
            <a:pPr marL="0" indent="0">
              <a:buNone/>
            </a:pPr>
            <a:r>
              <a:rPr lang="en-US" sz="900" dirty="0">
                <a:solidFill>
                  <a:srgbClr val="6B7785"/>
                </a:solidFill>
                <a:latin typeface="Calibri" pitchFamily="34" charset="0"/>
                <a:ea typeface="Calibri" pitchFamily="34" charset="-122"/>
                <a:cs typeface="Calibri" pitchFamily="34" charset="-120"/>
              </a:rPr>
              <a:t>512</a:t>
            </a:r>
            <a:endParaRPr lang="en-US" sz="900" dirty="0"/>
          </a:p>
        </p:txBody>
      </p:sp>
      <p:sp>
        <p:nvSpPr>
          <p:cNvPr id="21" name="Text 18"/>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22"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HASHING ALGORITHMS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SHA-256 — Process Flow</a:t>
            </a:r>
            <a:endParaRPr lang="en-US" sz="3000" dirty="0"/>
          </a:p>
        </p:txBody>
      </p:sp>
      <p:sp>
        <p:nvSpPr>
          <p:cNvPr id="4" name="Shape 2"/>
          <p:cNvSpPr/>
          <p:nvPr/>
        </p:nvSpPr>
        <p:spPr>
          <a:xfrm>
            <a:off x="548640" y="1554480"/>
            <a:ext cx="2011680" cy="1371600"/>
          </a:xfrm>
          <a:prstGeom prst="roundRect">
            <a:avLst>
              <a:gd name="adj" fmla="val 6000"/>
            </a:avLst>
          </a:prstGeom>
          <a:solidFill>
            <a:srgbClr val="182A55"/>
          </a:solidFill>
          <a:ln/>
        </p:spPr>
      </p:sp>
      <p:sp>
        <p:nvSpPr>
          <p:cNvPr id="5" name="Text 3"/>
          <p:cNvSpPr/>
          <p:nvPr/>
        </p:nvSpPr>
        <p:spPr>
          <a:xfrm>
            <a:off x="640080" y="1664208"/>
            <a:ext cx="18288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 Padding</a:t>
            </a:r>
            <a:endParaRPr lang="en-US" sz="1200" dirty="0"/>
          </a:p>
        </p:txBody>
      </p:sp>
      <p:sp>
        <p:nvSpPr>
          <p:cNvPr id="6" name="Text 4"/>
          <p:cNvSpPr/>
          <p:nvPr/>
        </p:nvSpPr>
        <p:spPr>
          <a:xfrm>
            <a:off x="640080" y="2011680"/>
            <a:ext cx="1828800" cy="822960"/>
          </a:xfrm>
          <a:prstGeom prst="rect">
            <a:avLst/>
          </a:prstGeom>
          <a:noFill/>
          <a:ln/>
        </p:spPr>
        <p:txBody>
          <a:bodyPr wrap="square" rtlCol="0" anchor="t"/>
          <a:lstStyle/>
          <a:p>
            <a:pPr marL="0" indent="0" algn="ctr">
              <a:buNone/>
            </a:pPr>
            <a:r>
              <a:rPr lang="en-US" sz="950" dirty="0">
                <a:solidFill>
                  <a:srgbClr val="5FD0DE"/>
                </a:solidFill>
                <a:latin typeface="Calibri" pitchFamily="34" charset="0"/>
                <a:ea typeface="Calibri" pitchFamily="34" charset="-122"/>
                <a:cs typeface="Calibri" pitchFamily="34" charset="-120"/>
              </a:rPr>
              <a:t>Message padded to a multiple of 512 bits (append 1-bit + zeros)</a:t>
            </a:r>
            <a:endParaRPr lang="en-US" sz="950" dirty="0"/>
          </a:p>
        </p:txBody>
      </p:sp>
      <p:sp>
        <p:nvSpPr>
          <p:cNvPr id="7" name="Shape 5"/>
          <p:cNvSpPr/>
          <p:nvPr/>
        </p:nvSpPr>
        <p:spPr>
          <a:xfrm>
            <a:off x="2578608" y="2112264"/>
            <a:ext cx="219456" cy="256032"/>
          </a:xfrm>
          <a:prstGeom prst="rightArrow">
            <a:avLst/>
          </a:prstGeom>
          <a:solidFill>
            <a:srgbClr val="17A2B8"/>
          </a:solidFill>
          <a:ln/>
        </p:spPr>
      </p:sp>
      <p:sp>
        <p:nvSpPr>
          <p:cNvPr id="8" name="Shape 6"/>
          <p:cNvSpPr/>
          <p:nvPr/>
        </p:nvSpPr>
        <p:spPr>
          <a:xfrm>
            <a:off x="2816352" y="1554480"/>
            <a:ext cx="2011680" cy="1371600"/>
          </a:xfrm>
          <a:prstGeom prst="roundRect">
            <a:avLst>
              <a:gd name="adj" fmla="val 6000"/>
            </a:avLst>
          </a:prstGeom>
          <a:solidFill>
            <a:srgbClr val="182A55"/>
          </a:solidFill>
          <a:ln/>
        </p:spPr>
      </p:sp>
      <p:sp>
        <p:nvSpPr>
          <p:cNvPr id="9" name="Text 7"/>
          <p:cNvSpPr/>
          <p:nvPr/>
        </p:nvSpPr>
        <p:spPr>
          <a:xfrm>
            <a:off x="2907792" y="1664208"/>
            <a:ext cx="18288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Append Length</a:t>
            </a:r>
            <a:endParaRPr lang="en-US" sz="1200" dirty="0"/>
          </a:p>
        </p:txBody>
      </p:sp>
      <p:sp>
        <p:nvSpPr>
          <p:cNvPr id="10" name="Text 8"/>
          <p:cNvSpPr/>
          <p:nvPr/>
        </p:nvSpPr>
        <p:spPr>
          <a:xfrm>
            <a:off x="2907792" y="2011680"/>
            <a:ext cx="1828800" cy="822960"/>
          </a:xfrm>
          <a:prstGeom prst="rect">
            <a:avLst/>
          </a:prstGeom>
          <a:noFill/>
          <a:ln/>
        </p:spPr>
        <p:txBody>
          <a:bodyPr wrap="square" rtlCol="0" anchor="t"/>
          <a:lstStyle/>
          <a:p>
            <a:pPr marL="0" indent="0" algn="ctr">
              <a:buNone/>
            </a:pPr>
            <a:r>
              <a:rPr lang="en-US" sz="950" dirty="0">
                <a:solidFill>
                  <a:srgbClr val="5FD0DE"/>
                </a:solidFill>
                <a:latin typeface="Calibri" pitchFamily="34" charset="0"/>
                <a:ea typeface="Calibri" pitchFamily="34" charset="-122"/>
                <a:cs typeface="Calibri" pitchFamily="34" charset="-120"/>
              </a:rPr>
              <a:t>64-bit big-endian length of original message appended</a:t>
            </a:r>
            <a:endParaRPr lang="en-US" sz="950" dirty="0"/>
          </a:p>
        </p:txBody>
      </p:sp>
      <p:sp>
        <p:nvSpPr>
          <p:cNvPr id="11" name="Shape 9"/>
          <p:cNvSpPr/>
          <p:nvPr/>
        </p:nvSpPr>
        <p:spPr>
          <a:xfrm>
            <a:off x="4846320" y="2112264"/>
            <a:ext cx="219456" cy="256032"/>
          </a:xfrm>
          <a:prstGeom prst="rightArrow">
            <a:avLst/>
          </a:prstGeom>
          <a:solidFill>
            <a:srgbClr val="17A2B8"/>
          </a:solidFill>
          <a:ln/>
        </p:spPr>
      </p:sp>
      <p:sp>
        <p:nvSpPr>
          <p:cNvPr id="12" name="Shape 10"/>
          <p:cNvSpPr/>
          <p:nvPr/>
        </p:nvSpPr>
        <p:spPr>
          <a:xfrm>
            <a:off x="5084064" y="1554480"/>
            <a:ext cx="2011680" cy="1371600"/>
          </a:xfrm>
          <a:prstGeom prst="roundRect">
            <a:avLst>
              <a:gd name="adj" fmla="val 6000"/>
            </a:avLst>
          </a:prstGeom>
          <a:solidFill>
            <a:srgbClr val="182A55"/>
          </a:solidFill>
          <a:ln/>
        </p:spPr>
      </p:sp>
      <p:sp>
        <p:nvSpPr>
          <p:cNvPr id="13" name="Text 11"/>
          <p:cNvSpPr/>
          <p:nvPr/>
        </p:nvSpPr>
        <p:spPr>
          <a:xfrm>
            <a:off x="5175504" y="1664208"/>
            <a:ext cx="18288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Init Hash Values</a:t>
            </a:r>
            <a:endParaRPr lang="en-US" sz="1200" dirty="0"/>
          </a:p>
        </p:txBody>
      </p:sp>
      <p:sp>
        <p:nvSpPr>
          <p:cNvPr id="14" name="Text 12"/>
          <p:cNvSpPr/>
          <p:nvPr/>
        </p:nvSpPr>
        <p:spPr>
          <a:xfrm>
            <a:off x="5175504" y="2011680"/>
            <a:ext cx="1828800" cy="822960"/>
          </a:xfrm>
          <a:prstGeom prst="rect">
            <a:avLst/>
          </a:prstGeom>
          <a:noFill/>
          <a:ln/>
        </p:spPr>
        <p:txBody>
          <a:bodyPr wrap="square" rtlCol="0" anchor="t"/>
          <a:lstStyle/>
          <a:p>
            <a:pPr marL="0" indent="0" algn="ctr">
              <a:buNone/>
            </a:pPr>
            <a:r>
              <a:rPr lang="en-US" sz="950" dirty="0">
                <a:solidFill>
                  <a:srgbClr val="5FD0DE"/>
                </a:solidFill>
                <a:latin typeface="Calibri" pitchFamily="34" charset="0"/>
                <a:ea typeface="Calibri" pitchFamily="34" charset="-122"/>
                <a:cs typeface="Calibri" pitchFamily="34" charset="-120"/>
              </a:rPr>
              <a:t>8 words (H0..H7) set from fractional parts of √ of first 8 primes</a:t>
            </a:r>
            <a:endParaRPr lang="en-US" sz="950" dirty="0"/>
          </a:p>
        </p:txBody>
      </p:sp>
      <p:sp>
        <p:nvSpPr>
          <p:cNvPr id="15" name="Shape 13"/>
          <p:cNvSpPr/>
          <p:nvPr/>
        </p:nvSpPr>
        <p:spPr>
          <a:xfrm>
            <a:off x="7114032" y="2112264"/>
            <a:ext cx="219456" cy="256032"/>
          </a:xfrm>
          <a:prstGeom prst="rightArrow">
            <a:avLst/>
          </a:prstGeom>
          <a:solidFill>
            <a:srgbClr val="17A2B8"/>
          </a:solidFill>
          <a:ln/>
        </p:spPr>
      </p:sp>
      <p:sp>
        <p:nvSpPr>
          <p:cNvPr id="16" name="Shape 14"/>
          <p:cNvSpPr/>
          <p:nvPr/>
        </p:nvSpPr>
        <p:spPr>
          <a:xfrm>
            <a:off x="7351776" y="1554480"/>
            <a:ext cx="2011680" cy="1371600"/>
          </a:xfrm>
          <a:prstGeom prst="roundRect">
            <a:avLst>
              <a:gd name="adj" fmla="val 6000"/>
            </a:avLst>
          </a:prstGeom>
          <a:solidFill>
            <a:srgbClr val="182A55"/>
          </a:solidFill>
          <a:ln/>
        </p:spPr>
      </p:sp>
      <p:sp>
        <p:nvSpPr>
          <p:cNvPr id="17" name="Text 15"/>
          <p:cNvSpPr/>
          <p:nvPr/>
        </p:nvSpPr>
        <p:spPr>
          <a:xfrm>
            <a:off x="7443216" y="1664208"/>
            <a:ext cx="182880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 Compress Blocks</a:t>
            </a:r>
            <a:endParaRPr lang="en-US" sz="1200" dirty="0"/>
          </a:p>
        </p:txBody>
      </p:sp>
      <p:sp>
        <p:nvSpPr>
          <p:cNvPr id="18" name="Text 16"/>
          <p:cNvSpPr/>
          <p:nvPr/>
        </p:nvSpPr>
        <p:spPr>
          <a:xfrm>
            <a:off x="7443216" y="2011680"/>
            <a:ext cx="1828800" cy="822960"/>
          </a:xfrm>
          <a:prstGeom prst="rect">
            <a:avLst/>
          </a:prstGeom>
          <a:noFill/>
          <a:ln/>
        </p:spPr>
        <p:txBody>
          <a:bodyPr wrap="square" rtlCol="0" anchor="t"/>
          <a:lstStyle/>
          <a:p>
            <a:pPr marL="0" indent="0" algn="ctr">
              <a:buNone/>
            </a:pPr>
            <a:r>
              <a:rPr lang="en-US" sz="950" dirty="0">
                <a:solidFill>
                  <a:srgbClr val="5FD0DE"/>
                </a:solidFill>
                <a:latin typeface="Calibri" pitchFamily="34" charset="0"/>
                <a:ea typeface="Calibri" pitchFamily="34" charset="-122"/>
                <a:cs typeface="Calibri" pitchFamily="34" charset="-120"/>
              </a:rPr>
              <a:t>Each 512-bit block → 64 rounds mixing via Σ, Ch, Maj functions</a:t>
            </a:r>
            <a:endParaRPr lang="en-US" sz="950" dirty="0"/>
          </a:p>
        </p:txBody>
      </p:sp>
      <p:sp>
        <p:nvSpPr>
          <p:cNvPr id="19" name="Shape 17"/>
          <p:cNvSpPr/>
          <p:nvPr/>
        </p:nvSpPr>
        <p:spPr>
          <a:xfrm>
            <a:off x="9381744" y="2112264"/>
            <a:ext cx="219456" cy="256032"/>
          </a:xfrm>
          <a:prstGeom prst="rightArrow">
            <a:avLst/>
          </a:prstGeom>
          <a:solidFill>
            <a:srgbClr val="17A2B8"/>
          </a:solidFill>
          <a:ln/>
        </p:spPr>
      </p:sp>
      <p:sp>
        <p:nvSpPr>
          <p:cNvPr id="20" name="Shape 18"/>
          <p:cNvSpPr/>
          <p:nvPr/>
        </p:nvSpPr>
        <p:spPr>
          <a:xfrm>
            <a:off x="9619488" y="1554480"/>
            <a:ext cx="2011680" cy="1371600"/>
          </a:xfrm>
          <a:prstGeom prst="roundRect">
            <a:avLst>
              <a:gd name="adj" fmla="val 6000"/>
            </a:avLst>
          </a:prstGeom>
          <a:solidFill>
            <a:srgbClr val="FFB100"/>
          </a:solidFill>
          <a:ln/>
        </p:spPr>
      </p:sp>
      <p:sp>
        <p:nvSpPr>
          <p:cNvPr id="21" name="Text 19"/>
          <p:cNvSpPr/>
          <p:nvPr/>
        </p:nvSpPr>
        <p:spPr>
          <a:xfrm>
            <a:off x="9710928" y="1664208"/>
            <a:ext cx="1828800" cy="320040"/>
          </a:xfrm>
          <a:prstGeom prst="rect">
            <a:avLst/>
          </a:prstGeom>
          <a:noFill/>
          <a:ln/>
        </p:spPr>
        <p:txBody>
          <a:bodyPr wrap="square" rtlCol="0" anchor="ctr"/>
          <a:lstStyle/>
          <a:p>
            <a:pPr marL="0" indent="0" algn="ctr">
              <a:buNone/>
            </a:pPr>
            <a:r>
              <a:rPr lang="en-US" sz="1200" b="1" dirty="0">
                <a:solidFill>
                  <a:srgbClr val="0F1C3F"/>
                </a:solidFill>
                <a:latin typeface="Calibri" pitchFamily="34" charset="0"/>
                <a:ea typeface="Calibri" pitchFamily="34" charset="-122"/>
                <a:cs typeface="Calibri" pitchFamily="34" charset="-120"/>
              </a:rPr>
              <a:t>5. Output Digest</a:t>
            </a:r>
            <a:endParaRPr lang="en-US" sz="1200" dirty="0"/>
          </a:p>
        </p:txBody>
      </p:sp>
      <p:sp>
        <p:nvSpPr>
          <p:cNvPr id="22" name="Text 20"/>
          <p:cNvSpPr/>
          <p:nvPr/>
        </p:nvSpPr>
        <p:spPr>
          <a:xfrm>
            <a:off x="9710928" y="2011680"/>
            <a:ext cx="1828800" cy="822960"/>
          </a:xfrm>
          <a:prstGeom prst="rect">
            <a:avLst/>
          </a:prstGeom>
          <a:noFill/>
          <a:ln/>
        </p:spPr>
        <p:txBody>
          <a:bodyPr wrap="square" rtlCol="0" anchor="t"/>
          <a:lstStyle/>
          <a:p>
            <a:pPr marL="0" indent="0" algn="ctr">
              <a:buNone/>
            </a:pPr>
            <a:r>
              <a:rPr lang="en-US" sz="950" dirty="0">
                <a:solidFill>
                  <a:srgbClr val="0F1C3F"/>
                </a:solidFill>
                <a:latin typeface="Calibri" pitchFamily="34" charset="0"/>
                <a:ea typeface="Calibri" pitchFamily="34" charset="-122"/>
                <a:cs typeface="Calibri" pitchFamily="34" charset="-120"/>
              </a:rPr>
              <a:t>8 chained 32-bit words concatenated → 256-bit hash</a:t>
            </a:r>
            <a:endParaRPr lang="en-US" sz="950" dirty="0"/>
          </a:p>
        </p:txBody>
      </p:sp>
      <p:sp>
        <p:nvSpPr>
          <p:cNvPr id="23" name="Text 21"/>
          <p:cNvSpPr/>
          <p:nvPr/>
        </p:nvSpPr>
        <p:spPr>
          <a:xfrm>
            <a:off x="548640" y="3246120"/>
            <a:ext cx="7315200" cy="320040"/>
          </a:xfrm>
          <a:prstGeom prst="rect">
            <a:avLst/>
          </a:prstGeom>
          <a:noFill/>
          <a:ln/>
        </p:spPr>
        <p:txBody>
          <a:bodyPr wrap="square" rtlCol="0" anchor="ctr"/>
          <a:lstStyle/>
          <a:p>
            <a:pPr marL="0" indent="0">
              <a:buNone/>
            </a:pPr>
            <a:r>
              <a:rPr lang="en-US" sz="1250" b="1" dirty="0">
                <a:solidFill>
                  <a:srgbClr val="0F1C3F"/>
                </a:solidFill>
                <a:latin typeface="Calibri" pitchFamily="34" charset="0"/>
                <a:ea typeface="Calibri" pitchFamily="34" charset="-122"/>
                <a:cs typeface="Calibri" pitchFamily="34" charset="-120"/>
              </a:rPr>
              <a:t>Inside one compression round (repeated 64×):</a:t>
            </a:r>
            <a:endParaRPr lang="en-US" sz="1250" dirty="0"/>
          </a:p>
        </p:txBody>
      </p:sp>
      <p:sp>
        <p:nvSpPr>
          <p:cNvPr id="24" name="Shape 22"/>
          <p:cNvSpPr/>
          <p:nvPr/>
        </p:nvSpPr>
        <p:spPr>
          <a:xfrm>
            <a:off x="548640" y="3630168"/>
            <a:ext cx="2514600" cy="960120"/>
          </a:xfrm>
          <a:prstGeom prst="roundRect">
            <a:avLst>
              <a:gd name="adj" fmla="val 6667"/>
            </a:avLst>
          </a:prstGeom>
          <a:solidFill>
            <a:srgbClr val="FFFFFF"/>
          </a:solidFill>
          <a:ln w="12700">
            <a:solidFill>
              <a:srgbClr val="D7DEE7"/>
            </a:solidFill>
            <a:prstDash val="solid"/>
          </a:ln>
        </p:spPr>
      </p:sp>
      <p:sp>
        <p:nvSpPr>
          <p:cNvPr id="25" name="Text 23"/>
          <p:cNvSpPr/>
          <p:nvPr/>
        </p:nvSpPr>
        <p:spPr>
          <a:xfrm>
            <a:off x="640080" y="3703320"/>
            <a:ext cx="2331720" cy="320040"/>
          </a:xfrm>
          <a:prstGeom prst="rect">
            <a:avLst/>
          </a:prstGeom>
          <a:noFill/>
          <a:ln/>
        </p:spPr>
        <p:txBody>
          <a:bodyPr wrap="square" rtlCol="0" anchor="ctr"/>
          <a:lstStyle/>
          <a:p>
            <a:pPr marL="0" indent="0" algn="ctr">
              <a:buNone/>
            </a:pPr>
            <a:r>
              <a:rPr lang="en-US" b="1" dirty="0">
                <a:latin typeface="Courier New" pitchFamily="34" charset="0"/>
                <a:ea typeface="Courier New" pitchFamily="34" charset="-122"/>
                <a:cs typeface="Courier New" pitchFamily="34" charset="-120"/>
              </a:rPr>
              <a:t>a,b,c,d,e,f,g,h</a:t>
            </a:r>
            <a:endParaRPr lang="en-US" b="1" dirty="0"/>
          </a:p>
        </p:txBody>
      </p:sp>
      <p:sp>
        <p:nvSpPr>
          <p:cNvPr id="26" name="Text 24"/>
          <p:cNvSpPr/>
          <p:nvPr/>
        </p:nvSpPr>
        <p:spPr>
          <a:xfrm>
            <a:off x="640080" y="4023360"/>
            <a:ext cx="2331720" cy="530352"/>
          </a:xfrm>
          <a:prstGeom prst="rect">
            <a:avLst/>
          </a:prstGeom>
          <a:noFill/>
          <a:ln/>
        </p:spPr>
        <p:txBody>
          <a:bodyPr wrap="square" rtlCol="0" anchor="t"/>
          <a:lstStyle/>
          <a:p>
            <a:pPr marL="0" indent="0" algn="ctr">
              <a:buNone/>
            </a:pPr>
            <a:r>
              <a:rPr lang="en-US" sz="1400" b="1" dirty="0">
                <a:latin typeface="Calibri" pitchFamily="34" charset="0"/>
                <a:ea typeface="Calibri" pitchFamily="34" charset="-122"/>
                <a:cs typeface="Calibri" pitchFamily="34" charset="-120"/>
              </a:rPr>
              <a:t>8 working variables loaded from current hash state</a:t>
            </a:r>
            <a:endParaRPr lang="en-US" sz="1400" b="1" dirty="0"/>
          </a:p>
        </p:txBody>
      </p:sp>
      <p:sp>
        <p:nvSpPr>
          <p:cNvPr id="27" name="Shape 25"/>
          <p:cNvSpPr/>
          <p:nvPr/>
        </p:nvSpPr>
        <p:spPr>
          <a:xfrm>
            <a:off x="3081528" y="4087368"/>
            <a:ext cx="182880" cy="256032"/>
          </a:xfrm>
          <a:prstGeom prst="rightArrow">
            <a:avLst/>
          </a:prstGeom>
          <a:solidFill>
            <a:srgbClr val="FFB100"/>
          </a:solidFill>
          <a:ln/>
        </p:spPr>
      </p:sp>
      <p:sp>
        <p:nvSpPr>
          <p:cNvPr id="28" name="Shape 26"/>
          <p:cNvSpPr/>
          <p:nvPr/>
        </p:nvSpPr>
        <p:spPr>
          <a:xfrm>
            <a:off x="3291840" y="3630168"/>
            <a:ext cx="2514600" cy="960120"/>
          </a:xfrm>
          <a:prstGeom prst="roundRect">
            <a:avLst>
              <a:gd name="adj" fmla="val 6667"/>
            </a:avLst>
          </a:prstGeom>
          <a:solidFill>
            <a:srgbClr val="FFFFFF"/>
          </a:solidFill>
          <a:ln w="12700">
            <a:solidFill>
              <a:srgbClr val="D7DEE7"/>
            </a:solidFill>
            <a:prstDash val="solid"/>
          </a:ln>
        </p:spPr>
      </p:sp>
      <p:sp>
        <p:nvSpPr>
          <p:cNvPr id="29" name="Text 27"/>
          <p:cNvSpPr/>
          <p:nvPr/>
        </p:nvSpPr>
        <p:spPr>
          <a:xfrm>
            <a:off x="3383280" y="3703320"/>
            <a:ext cx="2331720" cy="320040"/>
          </a:xfrm>
          <a:prstGeom prst="rect">
            <a:avLst/>
          </a:prstGeom>
          <a:noFill/>
          <a:ln/>
        </p:spPr>
        <p:txBody>
          <a:bodyPr wrap="square" rtlCol="0" anchor="ctr"/>
          <a:lstStyle/>
          <a:p>
            <a:pPr marL="0" indent="0" algn="ctr">
              <a:buNone/>
            </a:pPr>
            <a:r>
              <a:rPr lang="en-US" sz="1400" b="1" dirty="0">
                <a:latin typeface="Courier New" pitchFamily="34" charset="0"/>
                <a:ea typeface="Courier New" pitchFamily="34" charset="-122"/>
                <a:cs typeface="Courier New" pitchFamily="34" charset="-120"/>
              </a:rPr>
              <a:t>Σ1(e) + Ch(e,f,g)</a:t>
            </a:r>
            <a:endParaRPr lang="en-US" sz="1400" b="1" dirty="0"/>
          </a:p>
        </p:txBody>
      </p:sp>
      <p:sp>
        <p:nvSpPr>
          <p:cNvPr id="30" name="Text 28"/>
          <p:cNvSpPr/>
          <p:nvPr/>
        </p:nvSpPr>
        <p:spPr>
          <a:xfrm>
            <a:off x="3383280" y="4023360"/>
            <a:ext cx="2331720" cy="530352"/>
          </a:xfrm>
          <a:prstGeom prst="rect">
            <a:avLst/>
          </a:prstGeom>
          <a:noFill/>
          <a:ln/>
        </p:spPr>
        <p:txBody>
          <a:bodyPr wrap="square" rtlCol="0" anchor="t"/>
          <a:lstStyle/>
          <a:p>
            <a:pPr marL="0" indent="0" algn="ctr">
              <a:buNone/>
            </a:pPr>
            <a:r>
              <a:rPr lang="en-US" sz="1400" b="1" dirty="0">
                <a:latin typeface="Calibri" pitchFamily="34" charset="0"/>
                <a:ea typeface="Calibri" pitchFamily="34" charset="-122"/>
                <a:cs typeface="Calibri" pitchFamily="34" charset="-120"/>
              </a:rPr>
              <a:t>Compression functions mix the variables non-linearly</a:t>
            </a:r>
            <a:endParaRPr lang="en-US" sz="1400" b="1" dirty="0"/>
          </a:p>
        </p:txBody>
      </p:sp>
      <p:sp>
        <p:nvSpPr>
          <p:cNvPr id="31" name="Shape 29"/>
          <p:cNvSpPr/>
          <p:nvPr/>
        </p:nvSpPr>
        <p:spPr>
          <a:xfrm>
            <a:off x="5824728" y="4087368"/>
            <a:ext cx="182880" cy="256032"/>
          </a:xfrm>
          <a:prstGeom prst="rightArrow">
            <a:avLst/>
          </a:prstGeom>
          <a:solidFill>
            <a:srgbClr val="FFB100"/>
          </a:solidFill>
          <a:ln/>
        </p:spPr>
      </p:sp>
      <p:sp>
        <p:nvSpPr>
          <p:cNvPr id="32" name="Shape 30"/>
          <p:cNvSpPr/>
          <p:nvPr/>
        </p:nvSpPr>
        <p:spPr>
          <a:xfrm>
            <a:off x="6035040" y="3630168"/>
            <a:ext cx="2514600" cy="960120"/>
          </a:xfrm>
          <a:prstGeom prst="roundRect">
            <a:avLst>
              <a:gd name="adj" fmla="val 6667"/>
            </a:avLst>
          </a:prstGeom>
          <a:solidFill>
            <a:srgbClr val="FFFFFF"/>
          </a:solidFill>
          <a:ln w="12700">
            <a:solidFill>
              <a:srgbClr val="D7DEE7"/>
            </a:solidFill>
            <a:prstDash val="solid"/>
          </a:ln>
        </p:spPr>
      </p:sp>
      <p:sp>
        <p:nvSpPr>
          <p:cNvPr id="33" name="Text 31"/>
          <p:cNvSpPr/>
          <p:nvPr/>
        </p:nvSpPr>
        <p:spPr>
          <a:xfrm>
            <a:off x="6126480" y="3703320"/>
            <a:ext cx="2331720" cy="320040"/>
          </a:xfrm>
          <a:prstGeom prst="rect">
            <a:avLst/>
          </a:prstGeom>
          <a:noFill/>
          <a:ln/>
        </p:spPr>
        <p:txBody>
          <a:bodyPr wrap="square" rtlCol="0" anchor="ctr"/>
          <a:lstStyle/>
          <a:p>
            <a:pPr marL="0" indent="0" algn="ctr">
              <a:buNone/>
            </a:pPr>
            <a:r>
              <a:rPr lang="en-US" b="1" dirty="0">
                <a:latin typeface="Courier New" pitchFamily="34" charset="0"/>
                <a:ea typeface="Courier New" pitchFamily="34" charset="-122"/>
                <a:cs typeface="Courier New" pitchFamily="34" charset="-120"/>
              </a:rPr>
              <a:t>+ Wt + Kt</a:t>
            </a:r>
            <a:endParaRPr lang="en-US" dirty="0"/>
          </a:p>
        </p:txBody>
      </p:sp>
      <p:sp>
        <p:nvSpPr>
          <p:cNvPr id="34" name="Text 32"/>
          <p:cNvSpPr/>
          <p:nvPr/>
        </p:nvSpPr>
        <p:spPr>
          <a:xfrm>
            <a:off x="6126480" y="4023360"/>
            <a:ext cx="2331720" cy="530352"/>
          </a:xfrm>
          <a:prstGeom prst="rect">
            <a:avLst/>
          </a:prstGeom>
          <a:noFill/>
          <a:ln/>
        </p:spPr>
        <p:txBody>
          <a:bodyPr wrap="square" rtlCol="0" anchor="t"/>
          <a:lstStyle/>
          <a:p>
            <a:pPr marL="0" indent="0" algn="ctr">
              <a:buNone/>
            </a:pPr>
            <a:r>
              <a:rPr lang="en-US" sz="1400" b="1" dirty="0">
                <a:latin typeface="Calibri" pitchFamily="34" charset="0"/>
                <a:ea typeface="Calibri" pitchFamily="34" charset="-122"/>
                <a:cs typeface="Calibri" pitchFamily="34" charset="-120"/>
              </a:rPr>
              <a:t>Message schedule word + round constant added</a:t>
            </a:r>
            <a:endParaRPr lang="en-US" sz="1400" b="1" dirty="0"/>
          </a:p>
        </p:txBody>
      </p:sp>
      <p:sp>
        <p:nvSpPr>
          <p:cNvPr id="35" name="Shape 33"/>
          <p:cNvSpPr/>
          <p:nvPr/>
        </p:nvSpPr>
        <p:spPr>
          <a:xfrm>
            <a:off x="8567928" y="4087368"/>
            <a:ext cx="182880" cy="256032"/>
          </a:xfrm>
          <a:prstGeom prst="rightArrow">
            <a:avLst/>
          </a:prstGeom>
          <a:solidFill>
            <a:srgbClr val="FFB100"/>
          </a:solidFill>
          <a:ln/>
        </p:spPr>
      </p:sp>
      <p:sp>
        <p:nvSpPr>
          <p:cNvPr id="36" name="Shape 34"/>
          <p:cNvSpPr/>
          <p:nvPr/>
        </p:nvSpPr>
        <p:spPr>
          <a:xfrm>
            <a:off x="8778240" y="3630168"/>
            <a:ext cx="2514600" cy="960120"/>
          </a:xfrm>
          <a:prstGeom prst="roundRect">
            <a:avLst>
              <a:gd name="adj" fmla="val 6667"/>
            </a:avLst>
          </a:prstGeom>
          <a:solidFill>
            <a:srgbClr val="FFFFFF"/>
          </a:solidFill>
          <a:ln w="12700">
            <a:solidFill>
              <a:srgbClr val="D7DEE7"/>
            </a:solidFill>
            <a:prstDash val="solid"/>
          </a:ln>
        </p:spPr>
      </p:sp>
      <p:sp>
        <p:nvSpPr>
          <p:cNvPr id="37" name="Text 35"/>
          <p:cNvSpPr/>
          <p:nvPr/>
        </p:nvSpPr>
        <p:spPr>
          <a:xfrm>
            <a:off x="8869680" y="3703320"/>
            <a:ext cx="2331720" cy="320040"/>
          </a:xfrm>
          <a:prstGeom prst="rect">
            <a:avLst/>
          </a:prstGeom>
          <a:noFill/>
          <a:ln/>
        </p:spPr>
        <p:txBody>
          <a:bodyPr wrap="square" rtlCol="0" anchor="ctr"/>
          <a:lstStyle/>
          <a:p>
            <a:pPr marL="0" indent="0" algn="ctr">
              <a:buNone/>
            </a:pPr>
            <a:r>
              <a:rPr lang="en-US" sz="1600" b="1" dirty="0">
                <a:latin typeface="Courier New" pitchFamily="34" charset="0"/>
                <a:ea typeface="Courier New" pitchFamily="34" charset="-122"/>
                <a:cs typeface="Courier New" pitchFamily="34" charset="-120"/>
              </a:rPr>
              <a:t>Rotate &amp; Update</a:t>
            </a:r>
            <a:endParaRPr lang="en-US" sz="1600" dirty="0"/>
          </a:p>
        </p:txBody>
      </p:sp>
      <p:sp>
        <p:nvSpPr>
          <p:cNvPr id="38" name="Text 36"/>
          <p:cNvSpPr/>
          <p:nvPr/>
        </p:nvSpPr>
        <p:spPr>
          <a:xfrm>
            <a:off x="8869680" y="4023360"/>
            <a:ext cx="2331720" cy="530352"/>
          </a:xfrm>
          <a:prstGeom prst="rect">
            <a:avLst/>
          </a:prstGeom>
          <a:noFill/>
          <a:ln/>
        </p:spPr>
        <p:txBody>
          <a:bodyPr wrap="square" rtlCol="0" anchor="t"/>
          <a:lstStyle/>
          <a:p>
            <a:pPr marL="0" indent="0" algn="ctr">
              <a:buNone/>
            </a:pPr>
            <a:r>
              <a:rPr lang="en-US" sz="1400" b="1" dirty="0">
                <a:latin typeface="Calibri" pitchFamily="34" charset="0"/>
                <a:ea typeface="Calibri" pitchFamily="34" charset="-122"/>
                <a:cs typeface="Calibri" pitchFamily="34" charset="-120"/>
              </a:rPr>
              <a:t>Variables rotate; new 'a' &amp; 'e' computed for next round</a:t>
            </a:r>
            <a:endParaRPr lang="en-US" sz="1400" b="1" dirty="0"/>
          </a:p>
        </p:txBody>
      </p:sp>
      <p:sp>
        <p:nvSpPr>
          <p:cNvPr id="39" name="Text 37"/>
          <p:cNvSpPr/>
          <p:nvPr/>
        </p:nvSpPr>
        <p:spPr>
          <a:xfrm>
            <a:off x="548640" y="5623560"/>
            <a:ext cx="11064240" cy="457200"/>
          </a:xfrm>
          <a:prstGeom prst="rect">
            <a:avLst/>
          </a:prstGeom>
          <a:noFill/>
          <a:ln/>
        </p:spPr>
        <p:txBody>
          <a:bodyPr wrap="square" rtlCol="0" anchor="ctr"/>
          <a:lstStyle/>
          <a:p>
            <a:pPr marL="0" indent="0">
              <a:buNone/>
            </a:pPr>
            <a:r>
              <a:rPr lang="en-US" sz="1000" b="1" dirty="0">
                <a:solidFill>
                  <a:srgbClr val="0F1C3F"/>
                </a:solidFill>
                <a:latin typeface="Calibri" pitchFamily="34" charset="0"/>
                <a:ea typeface="Calibri" pitchFamily="34" charset="-122"/>
                <a:cs typeface="Calibri" pitchFamily="34" charset="-120"/>
              </a:rPr>
              <a:t>Example: </a:t>
            </a:r>
            <a:r>
              <a:rPr lang="en-US" b="1" dirty="0">
                <a:solidFill>
                  <a:srgbClr val="6B7785"/>
                </a:solidFill>
                <a:latin typeface="Courier New" pitchFamily="34" charset="0"/>
                <a:ea typeface="Courier New" pitchFamily="34" charset="-122"/>
                <a:cs typeface="Courier New" pitchFamily="34" charset="-120"/>
              </a:rPr>
              <a:t>SHA-256("hello") = 2cf24dba5fb0a30e26e83b2ac5b9e29e1b161e5c1fa7425e73043362938b9824</a:t>
            </a:r>
            <a:endParaRPr lang="en-US" b="1" dirty="0"/>
          </a:p>
        </p:txBody>
      </p:sp>
      <p:sp>
        <p:nvSpPr>
          <p:cNvPr id="40" name="Text 38"/>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41" name="Text 3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9CE88E-1503-2167-9A36-046E08936F08}"/>
              </a:ext>
            </a:extLst>
          </p:cNvPr>
          <p:cNvPicPr>
            <a:picLocks noChangeAspect="1"/>
          </p:cNvPicPr>
          <p:nvPr/>
        </p:nvPicPr>
        <p:blipFill>
          <a:blip r:embed="rId2"/>
          <a:stretch>
            <a:fillRect/>
          </a:stretch>
        </p:blipFill>
        <p:spPr>
          <a:xfrm>
            <a:off x="506358" y="0"/>
            <a:ext cx="10282813" cy="6858000"/>
          </a:xfrm>
          <a:prstGeom prst="rect">
            <a:avLst/>
          </a:prstGeom>
        </p:spPr>
      </p:pic>
    </p:spTree>
    <p:extLst>
      <p:ext uri="{BB962C8B-B14F-4D97-AF65-F5344CB8AC3E}">
        <p14:creationId xmlns:p14="http://schemas.microsoft.com/office/powerpoint/2010/main" val="2466602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A0D1DF-EB13-BB4C-B2C9-6810B6157D5F}"/>
              </a:ext>
            </a:extLst>
          </p:cNvPr>
          <p:cNvPicPr>
            <a:picLocks noChangeAspect="1"/>
          </p:cNvPicPr>
          <p:nvPr/>
        </p:nvPicPr>
        <p:blipFill>
          <a:blip r:embed="rId2"/>
          <a:stretch>
            <a:fillRect/>
          </a:stretch>
        </p:blipFill>
        <p:spPr>
          <a:xfrm>
            <a:off x="954593" y="0"/>
            <a:ext cx="10282813" cy="6858000"/>
          </a:xfrm>
          <a:prstGeom prst="rect">
            <a:avLst/>
          </a:prstGeom>
        </p:spPr>
      </p:pic>
    </p:spTree>
    <p:extLst>
      <p:ext uri="{BB962C8B-B14F-4D97-AF65-F5344CB8AC3E}">
        <p14:creationId xmlns:p14="http://schemas.microsoft.com/office/powerpoint/2010/main" val="1483431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5A7F94-5E8B-8E72-C0AB-8C30631A809E}"/>
              </a:ext>
            </a:extLst>
          </p:cNvPr>
          <p:cNvSpPr txBox="1"/>
          <p:nvPr/>
        </p:nvSpPr>
        <p:spPr>
          <a:xfrm>
            <a:off x="1461247" y="436167"/>
            <a:ext cx="6902824" cy="1477328"/>
          </a:xfrm>
          <a:prstGeom prst="rect">
            <a:avLst/>
          </a:prstGeom>
          <a:noFill/>
        </p:spPr>
        <p:txBody>
          <a:bodyPr wrap="square">
            <a:spAutoFit/>
          </a:bodyPr>
          <a:lstStyle/>
          <a:p>
            <a:pPr>
              <a:buNone/>
            </a:pPr>
            <a:r>
              <a:rPr lang="en-IN" b="1" dirty="0"/>
              <a:t>T1 and T2 are mixing values.</a:t>
            </a:r>
            <a:endParaRPr lang="en-IN" dirty="0"/>
          </a:p>
          <a:p>
            <a:pPr>
              <a:buFont typeface="Arial" panose="020B0604020202020204" pitchFamily="34" charset="0"/>
              <a:buChar char="•"/>
            </a:pPr>
            <a:r>
              <a:rPr lang="en-IN" b="1" dirty="0"/>
              <a:t>T1 → brings information from H, E, F, G + message </a:t>
            </a:r>
            <a:r>
              <a:rPr lang="en-IN" b="1" dirty="0" err="1"/>
              <a:t>Wt</a:t>
            </a:r>
            <a:r>
              <a:rPr lang="en-IN" b="1" dirty="0"/>
              <a:t> + constant Kt</a:t>
            </a:r>
            <a:r>
              <a:rPr lang="en-IN" dirty="0"/>
              <a:t> </a:t>
            </a:r>
          </a:p>
          <a:p>
            <a:pPr>
              <a:buFont typeface="Arial" panose="020B0604020202020204" pitchFamily="34" charset="0"/>
              <a:buChar char="•"/>
            </a:pPr>
            <a:r>
              <a:rPr lang="en-IN" b="1" dirty="0"/>
              <a:t>T2 → brings information from A, B, C</a:t>
            </a:r>
            <a:r>
              <a:rPr lang="en-IN" dirty="0"/>
              <a:t> </a:t>
            </a:r>
          </a:p>
          <a:p>
            <a:pPr>
              <a:buFont typeface="Arial" panose="020B0604020202020204" pitchFamily="34" charset="0"/>
              <a:buChar char="•"/>
            </a:pPr>
            <a:r>
              <a:rPr lang="en-IN" b="1" dirty="0"/>
              <a:t>T1 + T2 → produces the new A</a:t>
            </a:r>
            <a:r>
              <a:rPr lang="en-IN" dirty="0"/>
              <a:t> </a:t>
            </a:r>
          </a:p>
          <a:p>
            <a:pPr>
              <a:buFont typeface="Arial" panose="020B0604020202020204" pitchFamily="34" charset="0"/>
              <a:buChar char="•"/>
            </a:pPr>
            <a:r>
              <a:rPr lang="en-IN" b="1" dirty="0"/>
              <a:t>D + T1 → produces the new E</a:t>
            </a:r>
            <a:endParaRPr lang="en-IN" dirty="0"/>
          </a:p>
        </p:txBody>
      </p:sp>
      <p:sp>
        <p:nvSpPr>
          <p:cNvPr id="5" name="TextBox 4">
            <a:extLst>
              <a:ext uri="{FF2B5EF4-FFF2-40B4-BE49-F238E27FC236}">
                <a16:creationId xmlns:a16="http://schemas.microsoft.com/office/drawing/2014/main" id="{7D5B89EB-9A7A-FC02-F19B-67A70E191DE9}"/>
              </a:ext>
            </a:extLst>
          </p:cNvPr>
          <p:cNvSpPr txBox="1"/>
          <p:nvPr/>
        </p:nvSpPr>
        <p:spPr>
          <a:xfrm>
            <a:off x="1362635" y="2118409"/>
            <a:ext cx="8310283" cy="2585323"/>
          </a:xfrm>
          <a:prstGeom prst="rect">
            <a:avLst/>
          </a:prstGeom>
          <a:noFill/>
        </p:spPr>
        <p:txBody>
          <a:bodyPr wrap="square">
            <a:spAutoFit/>
          </a:bodyPr>
          <a:lstStyle/>
          <a:p>
            <a:r>
              <a:rPr lang="en-IN" dirty="0"/>
              <a:t>NEW A = T1 + T2</a:t>
            </a:r>
          </a:p>
          <a:p>
            <a:r>
              <a:rPr lang="en-IN" dirty="0"/>
              <a:t>NEW B = A</a:t>
            </a:r>
          </a:p>
          <a:p>
            <a:r>
              <a:rPr lang="en-IN" dirty="0"/>
              <a:t>NEW C = B</a:t>
            </a:r>
          </a:p>
          <a:p>
            <a:r>
              <a:rPr lang="en-IN" dirty="0"/>
              <a:t>NEW D = C</a:t>
            </a:r>
          </a:p>
          <a:p>
            <a:endParaRPr lang="en-IN" dirty="0"/>
          </a:p>
          <a:p>
            <a:r>
              <a:rPr lang="en-IN" dirty="0"/>
              <a:t>NEW E = D + T1</a:t>
            </a:r>
          </a:p>
          <a:p>
            <a:r>
              <a:rPr lang="en-IN" dirty="0"/>
              <a:t>NEW F = E</a:t>
            </a:r>
          </a:p>
          <a:p>
            <a:r>
              <a:rPr lang="en-IN" dirty="0"/>
              <a:t>NEW G = F</a:t>
            </a:r>
          </a:p>
          <a:p>
            <a:r>
              <a:rPr lang="en-IN" dirty="0"/>
              <a:t>NEW H = G</a:t>
            </a:r>
          </a:p>
        </p:txBody>
      </p:sp>
    </p:spTree>
    <p:extLst>
      <p:ext uri="{BB962C8B-B14F-4D97-AF65-F5344CB8AC3E}">
        <p14:creationId xmlns:p14="http://schemas.microsoft.com/office/powerpoint/2010/main" val="2088130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C8ECB4-2190-BE5A-4BAE-8BF6CF0ED1C9}"/>
              </a:ext>
            </a:extLst>
          </p:cNvPr>
          <p:cNvPicPr>
            <a:picLocks noChangeAspect="1"/>
          </p:cNvPicPr>
          <p:nvPr/>
        </p:nvPicPr>
        <p:blipFill>
          <a:blip r:embed="rId2"/>
          <a:stretch>
            <a:fillRect/>
          </a:stretch>
        </p:blipFill>
        <p:spPr>
          <a:xfrm>
            <a:off x="954593" y="0"/>
            <a:ext cx="10282813" cy="6858000"/>
          </a:xfrm>
          <a:prstGeom prst="rect">
            <a:avLst/>
          </a:prstGeom>
        </p:spPr>
      </p:pic>
    </p:spTree>
    <p:extLst>
      <p:ext uri="{BB962C8B-B14F-4D97-AF65-F5344CB8AC3E}">
        <p14:creationId xmlns:p14="http://schemas.microsoft.com/office/powerpoint/2010/main" val="442561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HASHING ALGORITHMS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SHA-2 / SHA-3 — Advantages &amp; Disadvantages</a:t>
            </a:r>
            <a:endParaRPr lang="en-US" sz="3000" dirty="0"/>
          </a:p>
        </p:txBody>
      </p:sp>
      <p:sp>
        <p:nvSpPr>
          <p:cNvPr id="4" name="Shape 2"/>
          <p:cNvSpPr/>
          <p:nvPr/>
        </p:nvSpPr>
        <p:spPr>
          <a:xfrm>
            <a:off x="548640" y="1417320"/>
            <a:ext cx="5394960" cy="502920"/>
          </a:xfrm>
          <a:prstGeom prst="roundRect">
            <a:avLst>
              <a:gd name="adj" fmla="val 10909"/>
            </a:avLst>
          </a:prstGeom>
          <a:solidFill>
            <a:srgbClr val="2E8B57"/>
          </a:solidFill>
          <a:ln/>
        </p:spPr>
      </p:sp>
      <p:sp>
        <p:nvSpPr>
          <p:cNvPr id="5" name="Text 3"/>
          <p:cNvSpPr/>
          <p:nvPr/>
        </p:nvSpPr>
        <p:spPr>
          <a:xfrm>
            <a:off x="548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p>
        </p:txBody>
      </p:sp>
      <p:sp>
        <p:nvSpPr>
          <p:cNvPr id="6" name="Shape 4"/>
          <p:cNvSpPr/>
          <p:nvPr/>
        </p:nvSpPr>
        <p:spPr>
          <a:xfrm>
            <a:off x="548640" y="1920240"/>
            <a:ext cx="5394960" cy="2606040"/>
          </a:xfrm>
          <a:prstGeom prst="roundRect">
            <a:avLst>
              <a:gd name="adj" fmla="val 2105"/>
            </a:avLst>
          </a:prstGeom>
          <a:solidFill>
            <a:srgbClr val="E7F4EC"/>
          </a:solidFill>
          <a:ln w="12700">
            <a:solidFill>
              <a:srgbClr val="D7DEE7"/>
            </a:solidFill>
            <a:prstDash val="solid"/>
          </a:ln>
        </p:spPr>
      </p:sp>
      <p:sp>
        <p:nvSpPr>
          <p:cNvPr id="7" name="Text 5"/>
          <p:cNvSpPr/>
          <p:nvPr/>
        </p:nvSpPr>
        <p:spPr>
          <a:xfrm>
            <a:off x="804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Strong collision resistance — no practical attacks known on SHA-256/512</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Larger digest sizes make brute-force attacks computationally infeasible</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Backed by NIST; mandated in modern security standards (TLS 1.3, FIPS 140-2)</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SHA-3 uses a completely different sponge construction — protects against any future SHA-2 weakness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Actively maintained and vetted by the global cryptography community</a:t>
            </a:r>
            <a:endParaRPr lang="en-US" sz="1250" dirty="0"/>
          </a:p>
        </p:txBody>
      </p:sp>
      <p:sp>
        <p:nvSpPr>
          <p:cNvPr id="8" name="Shape 6"/>
          <p:cNvSpPr/>
          <p:nvPr/>
        </p:nvSpPr>
        <p:spPr>
          <a:xfrm>
            <a:off x="6263640" y="1417320"/>
            <a:ext cx="5394960" cy="502920"/>
          </a:xfrm>
          <a:prstGeom prst="roundRect">
            <a:avLst>
              <a:gd name="adj" fmla="val 10909"/>
            </a:avLst>
          </a:prstGeom>
          <a:solidFill>
            <a:srgbClr val="C0392B"/>
          </a:solidFill>
          <a:ln/>
        </p:spPr>
      </p:sp>
      <p:sp>
        <p:nvSpPr>
          <p:cNvPr id="9" name="Text 7"/>
          <p:cNvSpPr/>
          <p:nvPr/>
        </p:nvSpPr>
        <p:spPr>
          <a:xfrm>
            <a:off x="6263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DISADVANTAGES</a:t>
            </a:r>
            <a:endParaRPr lang="en-US" sz="1400" dirty="0"/>
          </a:p>
        </p:txBody>
      </p:sp>
      <p:sp>
        <p:nvSpPr>
          <p:cNvPr id="10" name="Shape 8"/>
          <p:cNvSpPr/>
          <p:nvPr/>
        </p:nvSpPr>
        <p:spPr>
          <a:xfrm>
            <a:off x="6263640" y="1920240"/>
            <a:ext cx="5394960" cy="2606040"/>
          </a:xfrm>
          <a:prstGeom prst="roundRect">
            <a:avLst>
              <a:gd name="adj" fmla="val 2105"/>
            </a:avLst>
          </a:prstGeom>
          <a:solidFill>
            <a:srgbClr val="FBEAE8"/>
          </a:solidFill>
          <a:ln w="12700">
            <a:solidFill>
              <a:srgbClr val="D7DEE7"/>
            </a:solidFill>
            <a:prstDash val="solid"/>
          </a:ln>
        </p:spPr>
      </p:sp>
      <p:sp>
        <p:nvSpPr>
          <p:cNvPr id="11" name="Text 9"/>
          <p:cNvSpPr/>
          <p:nvPr/>
        </p:nvSpPr>
        <p:spPr>
          <a:xfrm>
            <a:off x="6519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Slower and more resource-intensive than MD5/SHA-1</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Larger digest = more storage &amp; bandwidth overhead</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SHA-1 (older family member) is already broken — must specify SHA-2/3 explicitly</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More complex to implement correctly from scratch (implementation bugs = vulnerabilities)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Still not designed for password hashing directly — needs salting + slow KDFs (bcrypt/Argon2)</a:t>
            </a:r>
            <a:endParaRPr lang="en-US" sz="1250" dirty="0"/>
          </a:p>
        </p:txBody>
      </p:sp>
      <p:sp>
        <p:nvSpPr>
          <p:cNvPr id="12" name="Text 1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HASHING ALGORITHMS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MD5 vs SHA-256 — Head to Head</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4032504"/>
        </p:xfrm>
        <a:graphic>
          <a:graphicData uri="http://schemas.openxmlformats.org/drawingml/2006/table">
            <a:tbl>
              <a:tblPr/>
              <a:tblGrid>
                <a:gridCol w="3200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76072">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Attribute</a:t>
                      </a:r>
                      <a:endParaRPr lang="en-US" sz="125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MD5</a:t>
                      </a:r>
                      <a:endParaRPr lang="en-US" sz="125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SHA-256</a:t>
                      </a:r>
                      <a:endParaRPr lang="en-US" sz="125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0F1C3F"/>
                    </a:solidFill>
                  </a:tcPr>
                </a:tc>
                <a:extLst>
                  <a:ext uri="{0D108BD9-81ED-4DB2-BD59-A6C34878D82A}">
                    <a16:rowId xmlns:a16="http://schemas.microsoft.com/office/drawing/2014/main" val="10000"/>
                  </a:ext>
                </a:extLst>
              </a:tr>
              <a:tr h="576072">
                <a:tc>
                  <a:txBody>
                    <a:bodyPr/>
                    <a:lstStyle/>
                    <a:p>
                      <a:pPr marL="0" indent="0" algn="l">
                        <a:buNone/>
                      </a:pPr>
                      <a:r>
                        <a:rPr lang="en-US" sz="1200" b="1" dirty="0">
                          <a:solidFill>
                            <a:srgbClr val="1B2430"/>
                          </a:solidFill>
                          <a:latin typeface="Calibri" pitchFamily="34" charset="0"/>
                          <a:ea typeface="Calibri" pitchFamily="34" charset="-122"/>
                          <a:cs typeface="Calibri" pitchFamily="34" charset="-120"/>
                        </a:rPr>
                        <a:t>Digest length</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128 bits</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lgn="ctr">
                        <a:buNone/>
                      </a:pPr>
                      <a:r>
                        <a:rPr lang="en-US" sz="1200" dirty="0">
                          <a:solidFill>
                            <a:srgbClr val="2E8B57"/>
                          </a:solidFill>
                          <a:latin typeface="Calibri" pitchFamily="34" charset="0"/>
                          <a:ea typeface="Calibri" pitchFamily="34" charset="-122"/>
                          <a:cs typeface="Calibri" pitchFamily="34" charset="-120"/>
                        </a:rPr>
                        <a:t>256 bits</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extLst>
                  <a:ext uri="{0D108BD9-81ED-4DB2-BD59-A6C34878D82A}">
                    <a16:rowId xmlns:a16="http://schemas.microsoft.com/office/drawing/2014/main" val="10001"/>
                  </a:ext>
                </a:extLst>
              </a:tr>
              <a:tr h="576072">
                <a:tc>
                  <a:txBody>
                    <a:bodyPr/>
                    <a:lstStyle/>
                    <a:p>
                      <a:pPr marL="0" indent="0" algn="l">
                        <a:buNone/>
                      </a:pPr>
                      <a:r>
                        <a:rPr lang="en-US" sz="1200" b="1" dirty="0">
                          <a:solidFill>
                            <a:srgbClr val="1B2430"/>
                          </a:solidFill>
                          <a:latin typeface="Calibri" pitchFamily="34" charset="0"/>
                          <a:ea typeface="Calibri" pitchFamily="34" charset="-122"/>
                          <a:cs typeface="Calibri" pitchFamily="34" charset="-120"/>
                        </a:rPr>
                        <a:t>Designed by</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Ronald Rivest (1991)</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8B57"/>
                          </a:solidFill>
                          <a:latin typeface="Calibri" pitchFamily="34" charset="0"/>
                          <a:ea typeface="Calibri" pitchFamily="34" charset="-122"/>
                          <a:cs typeface="Calibri" pitchFamily="34" charset="-120"/>
                        </a:rPr>
                        <a:t>NSA / NIST (2001)</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6072">
                <a:tc>
                  <a:txBody>
                    <a:bodyPr/>
                    <a:lstStyle/>
                    <a:p>
                      <a:pPr marL="0" indent="0" algn="l">
                        <a:buNone/>
                      </a:pPr>
                      <a:r>
                        <a:rPr lang="en-US" sz="1200" b="1" dirty="0">
                          <a:solidFill>
                            <a:srgbClr val="1B2430"/>
                          </a:solidFill>
                          <a:latin typeface="Calibri" pitchFamily="34" charset="0"/>
                          <a:ea typeface="Calibri" pitchFamily="34" charset="-122"/>
                          <a:cs typeface="Calibri" pitchFamily="34" charset="-120"/>
                        </a:rPr>
                        <a:t>Speed</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Faster</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lgn="ctr">
                        <a:buNone/>
                      </a:pPr>
                      <a:r>
                        <a:rPr lang="en-US" sz="1200" dirty="0">
                          <a:solidFill>
                            <a:srgbClr val="2E8B57"/>
                          </a:solidFill>
                          <a:latin typeface="Calibri" pitchFamily="34" charset="0"/>
                          <a:ea typeface="Calibri" pitchFamily="34" charset="-122"/>
                          <a:cs typeface="Calibri" pitchFamily="34" charset="-120"/>
                        </a:rPr>
                        <a:t>~2-3x slower</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extLst>
                  <a:ext uri="{0D108BD9-81ED-4DB2-BD59-A6C34878D82A}">
                    <a16:rowId xmlns:a16="http://schemas.microsoft.com/office/drawing/2014/main" val="10003"/>
                  </a:ext>
                </a:extLst>
              </a:tr>
              <a:tr h="576072">
                <a:tc>
                  <a:txBody>
                    <a:bodyPr/>
                    <a:lstStyle/>
                    <a:p>
                      <a:pPr marL="0" indent="0" algn="l">
                        <a:buNone/>
                      </a:pPr>
                      <a:r>
                        <a:rPr lang="en-US" sz="1200" b="1" dirty="0">
                          <a:solidFill>
                            <a:srgbClr val="1B2430"/>
                          </a:solidFill>
                          <a:latin typeface="Calibri" pitchFamily="34" charset="0"/>
                          <a:ea typeface="Calibri" pitchFamily="34" charset="-122"/>
                          <a:cs typeface="Calibri" pitchFamily="34" charset="-120"/>
                        </a:rPr>
                        <a:t>Collision resistance</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Broken since 2004</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8B57"/>
                          </a:solidFill>
                          <a:latin typeface="Calibri" pitchFamily="34" charset="0"/>
                          <a:ea typeface="Calibri" pitchFamily="34" charset="-122"/>
                          <a:cs typeface="Calibri" pitchFamily="34" charset="-120"/>
                        </a:rPr>
                        <a:t>No known practical attack</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6072">
                <a:tc>
                  <a:txBody>
                    <a:bodyPr/>
                    <a:lstStyle/>
                    <a:p>
                      <a:pPr marL="0" indent="0" algn="l">
                        <a:buNone/>
                      </a:pPr>
                      <a:r>
                        <a:rPr lang="en-US" sz="1200" b="1" dirty="0">
                          <a:solidFill>
                            <a:srgbClr val="1B2430"/>
                          </a:solidFill>
                          <a:latin typeface="Calibri" pitchFamily="34" charset="0"/>
                          <a:ea typeface="Calibri" pitchFamily="34" charset="-122"/>
                          <a:cs typeface="Calibri" pitchFamily="34" charset="-120"/>
                        </a:rPr>
                        <a:t>Security status</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Not recommended for security</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tc>
                  <a:txBody>
                    <a:bodyPr/>
                    <a:lstStyle/>
                    <a:p>
                      <a:pPr marL="0" indent="0" algn="ctr">
                        <a:buNone/>
                      </a:pPr>
                      <a:r>
                        <a:rPr lang="en-US" sz="1200" dirty="0">
                          <a:solidFill>
                            <a:srgbClr val="2E8B57"/>
                          </a:solidFill>
                          <a:latin typeface="Calibri" pitchFamily="34" charset="0"/>
                          <a:ea typeface="Calibri" pitchFamily="34" charset="-122"/>
                          <a:cs typeface="Calibri" pitchFamily="34" charset="-120"/>
                        </a:rPr>
                        <a:t>Industry standard</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4F7FB"/>
                    </a:solidFill>
                  </a:tcPr>
                </a:tc>
                <a:extLst>
                  <a:ext uri="{0D108BD9-81ED-4DB2-BD59-A6C34878D82A}">
                    <a16:rowId xmlns:a16="http://schemas.microsoft.com/office/drawing/2014/main" val="10005"/>
                  </a:ext>
                </a:extLst>
              </a:tr>
              <a:tr h="576072">
                <a:tc>
                  <a:txBody>
                    <a:bodyPr/>
                    <a:lstStyle/>
                    <a:p>
                      <a:pPr marL="0" indent="0" algn="l">
                        <a:buNone/>
                      </a:pPr>
                      <a:r>
                        <a:rPr lang="en-US" sz="1200" b="1" dirty="0">
                          <a:solidFill>
                            <a:srgbClr val="1B2430"/>
                          </a:solidFill>
                          <a:latin typeface="Calibri" pitchFamily="34" charset="0"/>
                          <a:ea typeface="Calibri" pitchFamily="34" charset="-122"/>
                          <a:cs typeface="Calibri" pitchFamily="34" charset="-120"/>
                        </a:rPr>
                        <a:t>Typical use today</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C0392B"/>
                          </a:solidFill>
                          <a:latin typeface="Calibri" pitchFamily="34" charset="0"/>
                          <a:ea typeface="Calibri" pitchFamily="34" charset="-122"/>
                          <a:cs typeface="Calibri" pitchFamily="34" charset="-120"/>
                        </a:rPr>
                        <a:t>Checksums, dedup, legacy systems</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E8B57"/>
                          </a:solidFill>
                          <a:latin typeface="Calibri" pitchFamily="34" charset="0"/>
                          <a:ea typeface="Calibri" pitchFamily="34" charset="-122"/>
                          <a:cs typeface="Calibri" pitchFamily="34" charset="-120"/>
                        </a:rPr>
                        <a:t>TLS/SSL, digital signatures, blockchain</a:t>
                      </a:r>
                      <a:endParaRPr lang="en-US" sz="1200" dirty="0">
                        <a:latin typeface="Calibri" charset="0"/>
                        <a:ea typeface="Calibri" charset="0"/>
                        <a:cs typeface="Calibri" charset="0"/>
                      </a:endParaRPr>
                    </a:p>
                  </a:txBody>
                  <a:tcPr anchor="ctr">
                    <a:lnL w="9525" cap="flat" cmpd="sng" algn="ctr">
                      <a:solidFill>
                        <a:srgbClr val="D7DEE7"/>
                      </a:solidFill>
                      <a:prstDash val="solid"/>
                      <a:round/>
                      <a:headEnd type="none" w="med" len="med"/>
                      <a:tailEnd type="none" w="med" len="med"/>
                    </a:lnL>
                    <a:lnR w="9525" cap="flat" cmpd="sng" algn="ctr">
                      <a:solidFill>
                        <a:srgbClr val="D7DEE7"/>
                      </a:solidFill>
                      <a:prstDash val="solid"/>
                      <a:round/>
                      <a:headEnd type="none" w="med" len="med"/>
                      <a:tailEnd type="none" w="med" len="med"/>
                    </a:lnR>
                    <a:lnT w="9525" cap="flat" cmpd="sng" algn="ctr">
                      <a:solidFill>
                        <a:srgbClr val="D7DEE7"/>
                      </a:solidFill>
                      <a:prstDash val="solid"/>
                      <a:round/>
                      <a:headEnd type="none" w="med" len="med"/>
                      <a:tailEnd type="none" w="med" len="med"/>
                    </a:lnT>
                    <a:lnB w="9525" cap="flat" cmpd="sng" algn="ctr">
                      <a:solidFill>
                        <a:srgbClr val="D7DE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p:nvPr/>
        </p:nvSpPr>
        <p:spPr>
          <a:xfrm>
            <a:off x="548640" y="5897880"/>
            <a:ext cx="11064240" cy="365760"/>
          </a:xfrm>
          <a:prstGeom prst="rect">
            <a:avLst/>
          </a:prstGeom>
          <a:noFill/>
          <a:ln/>
        </p:spPr>
        <p:txBody>
          <a:bodyPr wrap="square" rtlCol="0" anchor="ctr"/>
          <a:lstStyle/>
          <a:p>
            <a:pPr marL="0" indent="0">
              <a:buNone/>
            </a:pPr>
            <a:r>
              <a:rPr lang="en-US" sz="1200" b="1" i="1" dirty="0">
                <a:solidFill>
                  <a:srgbClr val="0F1C3F"/>
                </a:solidFill>
                <a:latin typeface="Calibri" pitchFamily="34" charset="0"/>
                <a:ea typeface="Calibri" pitchFamily="34" charset="-122"/>
                <a:cs typeface="Calibri" pitchFamily="34" charset="-120"/>
              </a:rPr>
              <a:t>Rule of thumb: use SHA-256 (or better) for anything security-related; MD5 only where cryptographic security is irrelevant.</a:t>
            </a:r>
            <a:endParaRPr lang="en-US" sz="1200" dirty="0"/>
          </a:p>
        </p:txBody>
      </p:sp>
      <p:sp>
        <p:nvSpPr>
          <p:cNvPr id="6" name="Text 3"/>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7" name="Text 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DIGITAL SIGNATURES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Why Do We Need Digital Signatures?</a:t>
            </a:r>
            <a:endParaRPr lang="en-US" sz="3000" dirty="0"/>
          </a:p>
        </p:txBody>
      </p:sp>
      <p:sp>
        <p:nvSpPr>
          <p:cNvPr id="4" name="Text 2"/>
          <p:cNvSpPr/>
          <p:nvPr/>
        </p:nvSpPr>
        <p:spPr>
          <a:xfrm>
            <a:off x="548640" y="1371600"/>
            <a:ext cx="11064240" cy="640080"/>
          </a:xfrm>
          <a:prstGeom prst="rect">
            <a:avLst/>
          </a:prstGeom>
          <a:noFill/>
          <a:ln/>
        </p:spPr>
        <p:txBody>
          <a:bodyPr wrap="square" rtlCol="0" anchor="t"/>
          <a:lstStyle/>
          <a:p>
            <a:pPr marL="0" indent="0">
              <a:buNone/>
            </a:pPr>
            <a:r>
              <a:rPr lang="en-US" sz="1300" dirty="0">
                <a:solidFill>
                  <a:srgbClr val="1B2430"/>
                </a:solidFill>
                <a:latin typeface="Calibri" pitchFamily="34" charset="0"/>
                <a:ea typeface="Calibri" pitchFamily="34" charset="-122"/>
                <a:cs typeface="Calibri" pitchFamily="34" charset="-120"/>
              </a:rPr>
              <a:t>Hashing alone proves a message wasn't accidentally altered — but it can't prove WHO sent it, or stop a sender from later denying it. Digital signatures combine hashing with asymmetric (public-key) cryptography to solve this.</a:t>
            </a:r>
            <a:endParaRPr lang="en-US" sz="1300" dirty="0"/>
          </a:p>
        </p:txBody>
      </p:sp>
      <p:sp>
        <p:nvSpPr>
          <p:cNvPr id="5" name="Shape 3"/>
          <p:cNvSpPr/>
          <p:nvPr/>
        </p:nvSpPr>
        <p:spPr>
          <a:xfrm>
            <a:off x="548640" y="2331720"/>
            <a:ext cx="3566160" cy="1737360"/>
          </a:xfrm>
          <a:prstGeom prst="roundRect">
            <a:avLst>
              <a:gd name="adj" fmla="val 5263"/>
            </a:avLst>
          </a:prstGeom>
          <a:solidFill>
            <a:srgbClr val="0F1C3F"/>
          </a:solidFill>
          <a:ln/>
        </p:spPr>
      </p:sp>
      <p:sp>
        <p:nvSpPr>
          <p:cNvPr id="6" name="Shape 4"/>
          <p:cNvSpPr/>
          <p:nvPr/>
        </p:nvSpPr>
        <p:spPr>
          <a:xfrm>
            <a:off x="2039112" y="2532888"/>
            <a:ext cx="585216" cy="585216"/>
          </a:xfrm>
          <a:prstGeom prst="ellipse">
            <a:avLst/>
          </a:prstGeom>
          <a:solidFill>
            <a:srgbClr val="FFB100"/>
          </a:solidFill>
          <a:ln/>
        </p:spPr>
      </p:sp>
      <p:sp>
        <p:nvSpPr>
          <p:cNvPr id="7" name="Text 5"/>
          <p:cNvSpPr/>
          <p:nvPr/>
        </p:nvSpPr>
        <p:spPr>
          <a:xfrm>
            <a:off x="2039112" y="2532888"/>
            <a:ext cx="585216" cy="585216"/>
          </a:xfrm>
          <a:prstGeom prst="rect">
            <a:avLst/>
          </a:prstGeom>
          <a:noFill/>
          <a:ln/>
        </p:spPr>
        <p:txBody>
          <a:bodyPr wrap="square" rtlCol="0" anchor="ctr"/>
          <a:lstStyle/>
          <a:p>
            <a:pPr marL="0" indent="0" algn="ctr">
              <a:buNone/>
            </a:pPr>
            <a:r>
              <a:rPr lang="en-US" sz="2000" b="1" dirty="0">
                <a:solidFill>
                  <a:srgbClr val="0F1C3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731520" y="3246120"/>
            <a:ext cx="320040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Authentication</a:t>
            </a:r>
            <a:endParaRPr lang="en-US" sz="1400" dirty="0"/>
          </a:p>
        </p:txBody>
      </p:sp>
      <p:sp>
        <p:nvSpPr>
          <p:cNvPr id="9" name="Text 7"/>
          <p:cNvSpPr/>
          <p:nvPr/>
        </p:nvSpPr>
        <p:spPr>
          <a:xfrm>
            <a:off x="777240" y="3566160"/>
            <a:ext cx="3108960" cy="457200"/>
          </a:xfrm>
          <a:prstGeom prst="rect">
            <a:avLst/>
          </a:prstGeom>
          <a:noFill/>
          <a:ln/>
        </p:spPr>
        <p:txBody>
          <a:bodyPr wrap="square" rtlCol="0" anchor="t"/>
          <a:lstStyle/>
          <a:p>
            <a:pPr marL="0" indent="0" algn="ctr">
              <a:buNone/>
            </a:pPr>
            <a:r>
              <a:rPr lang="en-US" sz="1000" dirty="0">
                <a:solidFill>
                  <a:srgbClr val="5FD0DE"/>
                </a:solidFill>
                <a:latin typeface="Calibri" pitchFamily="34" charset="0"/>
                <a:ea typeface="Calibri" pitchFamily="34" charset="-122"/>
                <a:cs typeface="Calibri" pitchFamily="34" charset="-120"/>
              </a:rPr>
              <a:t>Proves the message genuinely came from the claimed sender</a:t>
            </a:r>
            <a:endParaRPr lang="en-US" sz="1000" dirty="0"/>
          </a:p>
        </p:txBody>
      </p:sp>
      <p:sp>
        <p:nvSpPr>
          <p:cNvPr id="10" name="Shape 8"/>
          <p:cNvSpPr/>
          <p:nvPr/>
        </p:nvSpPr>
        <p:spPr>
          <a:xfrm>
            <a:off x="4297680" y="2331720"/>
            <a:ext cx="3566160" cy="1737360"/>
          </a:xfrm>
          <a:prstGeom prst="roundRect">
            <a:avLst>
              <a:gd name="adj" fmla="val 5263"/>
            </a:avLst>
          </a:prstGeom>
          <a:solidFill>
            <a:srgbClr val="0F1C3F"/>
          </a:solidFill>
          <a:ln/>
        </p:spPr>
      </p:sp>
      <p:sp>
        <p:nvSpPr>
          <p:cNvPr id="11" name="Shape 9"/>
          <p:cNvSpPr/>
          <p:nvPr/>
        </p:nvSpPr>
        <p:spPr>
          <a:xfrm>
            <a:off x="5788152" y="2532888"/>
            <a:ext cx="585216" cy="585216"/>
          </a:xfrm>
          <a:prstGeom prst="ellipse">
            <a:avLst/>
          </a:prstGeom>
          <a:solidFill>
            <a:srgbClr val="FFB100"/>
          </a:solidFill>
          <a:ln/>
        </p:spPr>
      </p:sp>
      <p:sp>
        <p:nvSpPr>
          <p:cNvPr id="12" name="Text 10"/>
          <p:cNvSpPr/>
          <p:nvPr/>
        </p:nvSpPr>
        <p:spPr>
          <a:xfrm>
            <a:off x="5788152" y="2532888"/>
            <a:ext cx="585216" cy="585216"/>
          </a:xfrm>
          <a:prstGeom prst="rect">
            <a:avLst/>
          </a:prstGeom>
          <a:noFill/>
          <a:ln/>
        </p:spPr>
        <p:txBody>
          <a:bodyPr wrap="square" rtlCol="0" anchor="ctr"/>
          <a:lstStyle/>
          <a:p>
            <a:pPr marL="0" indent="0" algn="ctr">
              <a:buNone/>
            </a:pPr>
            <a:r>
              <a:rPr lang="en-US" sz="2000" b="1" dirty="0">
                <a:solidFill>
                  <a:srgbClr val="0F1C3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4480560" y="3246120"/>
            <a:ext cx="320040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Integrity</a:t>
            </a:r>
            <a:endParaRPr lang="en-US" sz="1400" dirty="0"/>
          </a:p>
        </p:txBody>
      </p:sp>
      <p:sp>
        <p:nvSpPr>
          <p:cNvPr id="14" name="Text 12"/>
          <p:cNvSpPr/>
          <p:nvPr/>
        </p:nvSpPr>
        <p:spPr>
          <a:xfrm>
            <a:off x="4526280" y="3566160"/>
            <a:ext cx="3108960" cy="457200"/>
          </a:xfrm>
          <a:prstGeom prst="rect">
            <a:avLst/>
          </a:prstGeom>
          <a:noFill/>
          <a:ln/>
        </p:spPr>
        <p:txBody>
          <a:bodyPr wrap="square" rtlCol="0" anchor="t"/>
          <a:lstStyle/>
          <a:p>
            <a:pPr marL="0" indent="0" algn="ctr">
              <a:buNone/>
            </a:pPr>
            <a:r>
              <a:rPr lang="en-US" sz="1000" dirty="0">
                <a:solidFill>
                  <a:srgbClr val="5FD0DE"/>
                </a:solidFill>
                <a:latin typeface="Calibri" pitchFamily="34" charset="0"/>
                <a:ea typeface="Calibri" pitchFamily="34" charset="-122"/>
                <a:cs typeface="Calibri" pitchFamily="34" charset="-120"/>
              </a:rPr>
              <a:t>Confirms the message was not altered in transit</a:t>
            </a:r>
            <a:endParaRPr lang="en-US" sz="1000" dirty="0"/>
          </a:p>
        </p:txBody>
      </p:sp>
      <p:sp>
        <p:nvSpPr>
          <p:cNvPr id="15" name="Shape 13"/>
          <p:cNvSpPr/>
          <p:nvPr/>
        </p:nvSpPr>
        <p:spPr>
          <a:xfrm>
            <a:off x="8046720" y="2331720"/>
            <a:ext cx="3566160" cy="1737360"/>
          </a:xfrm>
          <a:prstGeom prst="roundRect">
            <a:avLst>
              <a:gd name="adj" fmla="val 5263"/>
            </a:avLst>
          </a:prstGeom>
          <a:solidFill>
            <a:srgbClr val="0F1C3F"/>
          </a:solidFill>
          <a:ln/>
        </p:spPr>
      </p:sp>
      <p:sp>
        <p:nvSpPr>
          <p:cNvPr id="16" name="Shape 14"/>
          <p:cNvSpPr/>
          <p:nvPr/>
        </p:nvSpPr>
        <p:spPr>
          <a:xfrm>
            <a:off x="9537192" y="2532888"/>
            <a:ext cx="585216" cy="585216"/>
          </a:xfrm>
          <a:prstGeom prst="ellipse">
            <a:avLst/>
          </a:prstGeom>
          <a:solidFill>
            <a:srgbClr val="FFB100"/>
          </a:solidFill>
          <a:ln/>
        </p:spPr>
      </p:sp>
      <p:sp>
        <p:nvSpPr>
          <p:cNvPr id="17" name="Text 15"/>
          <p:cNvSpPr/>
          <p:nvPr/>
        </p:nvSpPr>
        <p:spPr>
          <a:xfrm>
            <a:off x="9537192" y="2532888"/>
            <a:ext cx="585216" cy="585216"/>
          </a:xfrm>
          <a:prstGeom prst="rect">
            <a:avLst/>
          </a:prstGeom>
          <a:noFill/>
          <a:ln/>
        </p:spPr>
        <p:txBody>
          <a:bodyPr wrap="square" rtlCol="0" anchor="ctr"/>
          <a:lstStyle/>
          <a:p>
            <a:pPr marL="0" indent="0" algn="ctr">
              <a:buNone/>
            </a:pPr>
            <a:r>
              <a:rPr lang="en-US" sz="2000" b="1" dirty="0">
                <a:solidFill>
                  <a:srgbClr val="0F1C3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8229600" y="3246120"/>
            <a:ext cx="320040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Non-repudiation</a:t>
            </a:r>
            <a:endParaRPr lang="en-US" sz="1400" dirty="0"/>
          </a:p>
        </p:txBody>
      </p:sp>
      <p:sp>
        <p:nvSpPr>
          <p:cNvPr id="19" name="Text 17"/>
          <p:cNvSpPr/>
          <p:nvPr/>
        </p:nvSpPr>
        <p:spPr>
          <a:xfrm>
            <a:off x="8275320" y="3566160"/>
            <a:ext cx="3108960" cy="457200"/>
          </a:xfrm>
          <a:prstGeom prst="rect">
            <a:avLst/>
          </a:prstGeom>
          <a:noFill/>
          <a:ln/>
        </p:spPr>
        <p:txBody>
          <a:bodyPr wrap="square" rtlCol="0" anchor="t"/>
          <a:lstStyle/>
          <a:p>
            <a:pPr marL="0" indent="0" algn="ctr">
              <a:buNone/>
            </a:pPr>
            <a:r>
              <a:rPr lang="en-US" sz="1000" dirty="0">
                <a:solidFill>
                  <a:srgbClr val="5FD0DE"/>
                </a:solidFill>
                <a:latin typeface="Calibri" pitchFamily="34" charset="0"/>
                <a:ea typeface="Calibri" pitchFamily="34" charset="-122"/>
                <a:cs typeface="Calibri" pitchFamily="34" charset="-120"/>
              </a:rPr>
              <a:t>Sender cannot later deny having signed the message</a:t>
            </a:r>
            <a:endParaRPr lang="en-US" sz="1000" dirty="0"/>
          </a:p>
        </p:txBody>
      </p:sp>
      <p:sp>
        <p:nvSpPr>
          <p:cNvPr id="20" name="Text 18"/>
          <p:cNvSpPr/>
          <p:nvPr/>
        </p:nvSpPr>
        <p:spPr>
          <a:xfrm>
            <a:off x="548640" y="4343400"/>
            <a:ext cx="11064240" cy="365760"/>
          </a:xfrm>
          <a:prstGeom prst="rect">
            <a:avLst/>
          </a:prstGeom>
          <a:noFill/>
          <a:ln/>
        </p:spPr>
        <p:txBody>
          <a:bodyPr wrap="square" rtlCol="0" anchor="ctr"/>
          <a:lstStyle/>
          <a:p>
            <a:pPr marL="0" indent="0">
              <a:buNone/>
            </a:pPr>
            <a:r>
              <a:rPr lang="en-US" sz="1300" b="1" dirty="0">
                <a:solidFill>
                  <a:srgbClr val="0F1C3F"/>
                </a:solidFill>
                <a:latin typeface="Calibri" pitchFamily="34" charset="0"/>
                <a:ea typeface="Calibri" pitchFamily="34" charset="-122"/>
                <a:cs typeface="Calibri" pitchFamily="34" charset="-120"/>
              </a:rPr>
              <a:t>Key idea: a digital signature is the message's hash, encrypted with the sender's private key.</a:t>
            </a:r>
            <a:endParaRPr lang="en-US" sz="1300" dirty="0"/>
          </a:p>
        </p:txBody>
      </p:sp>
      <p:sp>
        <p:nvSpPr>
          <p:cNvPr id="21" name="Text 19"/>
          <p:cNvSpPr/>
          <p:nvPr/>
        </p:nvSpPr>
        <p:spPr>
          <a:xfrm>
            <a:off x="548640" y="4800600"/>
            <a:ext cx="11064240" cy="1280160"/>
          </a:xfrm>
          <a:prstGeom prst="rect">
            <a:avLst/>
          </a:prstGeom>
          <a:noFill/>
          <a:ln/>
        </p:spPr>
        <p:txBody>
          <a:bodyPr wrap="square" rtlCol="0" anchor="t"/>
          <a:lstStyle/>
          <a:p>
            <a:pPr marL="0" indent="0">
              <a:buNone/>
            </a:pPr>
            <a:r>
              <a:rPr lang="en-US" sz="1200" b="1" i="1" dirty="0">
                <a:solidFill>
                  <a:srgbClr val="6B7785"/>
                </a:solidFill>
                <a:latin typeface="Calibri" pitchFamily="34" charset="0"/>
                <a:ea typeface="Calibri" pitchFamily="34" charset="-122"/>
                <a:cs typeface="Calibri" pitchFamily="34" charset="-120"/>
              </a:rPr>
              <a:t>Analogy: </a:t>
            </a:r>
            <a:r>
              <a:rPr lang="en-US" sz="1200" i="1" dirty="0">
                <a:solidFill>
                  <a:srgbClr val="6B7785"/>
                </a:solidFill>
                <a:latin typeface="Calibri" pitchFamily="34" charset="0"/>
                <a:ea typeface="Calibri" pitchFamily="34" charset="-122"/>
                <a:cs typeface="Calibri" pitchFamily="34" charset="-120"/>
              </a:rPr>
              <a:t>Think of it like a wax seal on a letter — only you own the unique stamp (private key), but anyone can check the seal's pattern against your known public stamp (public key) to confirm it's really from you and hasn't been tampered with.</a:t>
            </a:r>
            <a:endParaRPr lang="en-US" sz="1200" dirty="0"/>
          </a:p>
        </p:txBody>
      </p:sp>
      <p:sp>
        <p:nvSpPr>
          <p:cNvPr id="22" name="Text 2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DIGITAL SIGNATURES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Digital Signature Process — Signing (Sender)</a:t>
            </a:r>
            <a:endParaRPr lang="en-US" sz="3000" dirty="0"/>
          </a:p>
        </p:txBody>
      </p:sp>
      <p:sp>
        <p:nvSpPr>
          <p:cNvPr id="4" name="Shape 2"/>
          <p:cNvSpPr/>
          <p:nvPr/>
        </p:nvSpPr>
        <p:spPr>
          <a:xfrm>
            <a:off x="548640" y="1828800"/>
            <a:ext cx="1737360" cy="1234440"/>
          </a:xfrm>
          <a:prstGeom prst="roundRect">
            <a:avLst>
              <a:gd name="adj" fmla="val 6667"/>
            </a:avLst>
          </a:prstGeom>
          <a:solidFill>
            <a:srgbClr val="F4F7FB"/>
          </a:solidFill>
          <a:ln w="12700">
            <a:solidFill>
              <a:srgbClr val="D7DEE7"/>
            </a:solidFill>
            <a:prstDash val="solid"/>
          </a:ln>
        </p:spPr>
      </p:sp>
      <p:sp>
        <p:nvSpPr>
          <p:cNvPr id="5" name="Text 3"/>
          <p:cNvSpPr/>
          <p:nvPr/>
        </p:nvSpPr>
        <p:spPr>
          <a:xfrm>
            <a:off x="603504" y="1938528"/>
            <a:ext cx="1627632" cy="594360"/>
          </a:xfrm>
          <a:prstGeom prst="rect">
            <a:avLst/>
          </a:prstGeom>
          <a:noFill/>
          <a:ln/>
        </p:spPr>
        <p:txBody>
          <a:bodyPr wrap="square" rtlCol="0" anchor="ctr"/>
          <a:lstStyle/>
          <a:p>
            <a:pPr marL="0" indent="0" algn="ctr">
              <a:buNone/>
            </a:pPr>
            <a:r>
              <a:rPr lang="en-US" sz="1100" b="1" dirty="0">
                <a:solidFill>
                  <a:srgbClr val="0F1C3F"/>
                </a:solidFill>
                <a:latin typeface="Calibri" pitchFamily="34" charset="0"/>
                <a:ea typeface="Calibri" pitchFamily="34" charset="-122"/>
                <a:cs typeface="Calibri" pitchFamily="34" charset="-120"/>
              </a:rPr>
              <a:t>Original</a:t>
            </a:r>
            <a:endParaRPr lang="en-US" sz="1100" dirty="0"/>
          </a:p>
          <a:p>
            <a:pPr marL="0" indent="0" algn="ctr">
              <a:buNone/>
            </a:pPr>
            <a:r>
              <a:rPr lang="en-US" sz="1100" b="1" dirty="0">
                <a:solidFill>
                  <a:srgbClr val="0F1C3F"/>
                </a:solidFill>
                <a:latin typeface="Calibri" pitchFamily="34" charset="0"/>
                <a:ea typeface="Calibri" pitchFamily="34" charset="-122"/>
                <a:cs typeface="Calibri" pitchFamily="34" charset="-120"/>
              </a:rPr>
              <a:t>Message</a:t>
            </a:r>
            <a:endParaRPr lang="en-US" sz="1100" dirty="0"/>
          </a:p>
        </p:txBody>
      </p:sp>
      <p:sp>
        <p:nvSpPr>
          <p:cNvPr id="6" name="Text 4"/>
          <p:cNvSpPr/>
          <p:nvPr/>
        </p:nvSpPr>
        <p:spPr>
          <a:xfrm>
            <a:off x="603504" y="2606040"/>
            <a:ext cx="1627632" cy="384048"/>
          </a:xfrm>
          <a:prstGeom prst="rect">
            <a:avLst/>
          </a:prstGeom>
          <a:noFill/>
          <a:ln/>
        </p:spPr>
        <p:txBody>
          <a:bodyPr wrap="square" rtlCol="0" anchor="ctr"/>
          <a:lstStyle/>
          <a:p>
            <a:pPr marL="0" indent="0" algn="ctr">
              <a:buNone/>
            </a:pPr>
            <a:r>
              <a:rPr lang="en-US" sz="850" dirty="0">
                <a:solidFill>
                  <a:srgbClr val="6B7785"/>
                </a:solidFill>
                <a:latin typeface="Calibri" pitchFamily="34" charset="0"/>
                <a:ea typeface="Calibri" pitchFamily="34" charset="-122"/>
                <a:cs typeface="Calibri" pitchFamily="34" charset="-120"/>
              </a:rPr>
              <a:t>e.g. contract.pdf</a:t>
            </a:r>
            <a:endParaRPr lang="en-US" sz="850" dirty="0"/>
          </a:p>
        </p:txBody>
      </p:sp>
      <p:sp>
        <p:nvSpPr>
          <p:cNvPr id="7" name="Shape 5"/>
          <p:cNvSpPr/>
          <p:nvPr/>
        </p:nvSpPr>
        <p:spPr>
          <a:xfrm>
            <a:off x="2313432" y="2318004"/>
            <a:ext cx="265176" cy="256032"/>
          </a:xfrm>
          <a:prstGeom prst="rightArrow">
            <a:avLst/>
          </a:prstGeom>
          <a:solidFill>
            <a:srgbClr val="17A2B8"/>
          </a:solidFill>
          <a:ln/>
        </p:spPr>
      </p:sp>
      <p:sp>
        <p:nvSpPr>
          <p:cNvPr id="8" name="Shape 6"/>
          <p:cNvSpPr/>
          <p:nvPr/>
        </p:nvSpPr>
        <p:spPr>
          <a:xfrm>
            <a:off x="2606040" y="1828800"/>
            <a:ext cx="1737360" cy="1234440"/>
          </a:xfrm>
          <a:prstGeom prst="roundRect">
            <a:avLst>
              <a:gd name="adj" fmla="val 6667"/>
            </a:avLst>
          </a:prstGeom>
          <a:solidFill>
            <a:srgbClr val="0F1C3F"/>
          </a:solidFill>
          <a:ln/>
        </p:spPr>
      </p:sp>
      <p:sp>
        <p:nvSpPr>
          <p:cNvPr id="9" name="Text 7"/>
          <p:cNvSpPr/>
          <p:nvPr/>
        </p:nvSpPr>
        <p:spPr>
          <a:xfrm>
            <a:off x="2660904" y="1938528"/>
            <a:ext cx="1627632" cy="594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Hash</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Function</a:t>
            </a:r>
            <a:endParaRPr lang="en-US" sz="1100" dirty="0"/>
          </a:p>
        </p:txBody>
      </p:sp>
      <p:sp>
        <p:nvSpPr>
          <p:cNvPr id="10" name="Text 8"/>
          <p:cNvSpPr/>
          <p:nvPr/>
        </p:nvSpPr>
        <p:spPr>
          <a:xfrm>
            <a:off x="2660904" y="2606040"/>
            <a:ext cx="1627632" cy="384048"/>
          </a:xfrm>
          <a:prstGeom prst="rect">
            <a:avLst/>
          </a:prstGeom>
          <a:noFill/>
          <a:ln/>
        </p:spPr>
        <p:txBody>
          <a:bodyPr wrap="square" rtlCol="0" anchor="ctr"/>
          <a:lstStyle/>
          <a:p>
            <a:pPr marL="0" indent="0" algn="ctr">
              <a:buNone/>
            </a:pPr>
            <a:r>
              <a:rPr lang="en-US" sz="850" dirty="0">
                <a:solidFill>
                  <a:srgbClr val="5FD0DE"/>
                </a:solidFill>
                <a:latin typeface="Calibri" pitchFamily="34" charset="0"/>
                <a:ea typeface="Calibri" pitchFamily="34" charset="-122"/>
                <a:cs typeface="Calibri" pitchFamily="34" charset="-120"/>
              </a:rPr>
              <a:t>SHA-256</a:t>
            </a:r>
            <a:endParaRPr lang="en-US" sz="850" dirty="0"/>
          </a:p>
        </p:txBody>
      </p:sp>
      <p:sp>
        <p:nvSpPr>
          <p:cNvPr id="11" name="Shape 9"/>
          <p:cNvSpPr/>
          <p:nvPr/>
        </p:nvSpPr>
        <p:spPr>
          <a:xfrm>
            <a:off x="4370832" y="2318004"/>
            <a:ext cx="265176" cy="256032"/>
          </a:xfrm>
          <a:prstGeom prst="rightArrow">
            <a:avLst/>
          </a:prstGeom>
          <a:solidFill>
            <a:srgbClr val="17A2B8"/>
          </a:solidFill>
          <a:ln/>
        </p:spPr>
      </p:sp>
      <p:sp>
        <p:nvSpPr>
          <p:cNvPr id="12" name="Shape 10"/>
          <p:cNvSpPr/>
          <p:nvPr/>
        </p:nvSpPr>
        <p:spPr>
          <a:xfrm>
            <a:off x="4663440" y="1828800"/>
            <a:ext cx="1737360" cy="1234440"/>
          </a:xfrm>
          <a:prstGeom prst="roundRect">
            <a:avLst>
              <a:gd name="adj" fmla="val 6667"/>
            </a:avLst>
          </a:prstGeom>
          <a:solidFill>
            <a:srgbClr val="F4F7FB"/>
          </a:solidFill>
          <a:ln w="12700">
            <a:solidFill>
              <a:srgbClr val="D7DEE7"/>
            </a:solidFill>
            <a:prstDash val="solid"/>
          </a:ln>
        </p:spPr>
      </p:sp>
      <p:sp>
        <p:nvSpPr>
          <p:cNvPr id="13" name="Text 11"/>
          <p:cNvSpPr/>
          <p:nvPr/>
        </p:nvSpPr>
        <p:spPr>
          <a:xfrm>
            <a:off x="4718304" y="1938528"/>
            <a:ext cx="1627632" cy="594360"/>
          </a:xfrm>
          <a:prstGeom prst="rect">
            <a:avLst/>
          </a:prstGeom>
          <a:noFill/>
          <a:ln/>
        </p:spPr>
        <p:txBody>
          <a:bodyPr wrap="square" rtlCol="0" anchor="ctr"/>
          <a:lstStyle/>
          <a:p>
            <a:pPr marL="0" indent="0" algn="ctr">
              <a:buNone/>
            </a:pPr>
            <a:r>
              <a:rPr lang="en-US" sz="1100" b="1" dirty="0">
                <a:solidFill>
                  <a:srgbClr val="0F1C3F"/>
                </a:solidFill>
                <a:latin typeface="Calibri" pitchFamily="34" charset="0"/>
                <a:ea typeface="Calibri" pitchFamily="34" charset="-122"/>
                <a:cs typeface="Calibri" pitchFamily="34" charset="-120"/>
              </a:rPr>
              <a:t>Message</a:t>
            </a:r>
            <a:endParaRPr lang="en-US" sz="1100" dirty="0"/>
          </a:p>
          <a:p>
            <a:pPr marL="0" indent="0" algn="ctr">
              <a:buNone/>
            </a:pPr>
            <a:r>
              <a:rPr lang="en-US" sz="1100" b="1" dirty="0">
                <a:solidFill>
                  <a:srgbClr val="0F1C3F"/>
                </a:solidFill>
                <a:latin typeface="Calibri" pitchFamily="34" charset="0"/>
                <a:ea typeface="Calibri" pitchFamily="34" charset="-122"/>
                <a:cs typeface="Calibri" pitchFamily="34" charset="-120"/>
              </a:rPr>
              <a:t>Digest</a:t>
            </a:r>
            <a:endParaRPr lang="en-US" sz="1100" dirty="0"/>
          </a:p>
        </p:txBody>
      </p:sp>
      <p:sp>
        <p:nvSpPr>
          <p:cNvPr id="14" name="Text 12"/>
          <p:cNvSpPr/>
          <p:nvPr/>
        </p:nvSpPr>
        <p:spPr>
          <a:xfrm>
            <a:off x="4718304" y="2606040"/>
            <a:ext cx="1627632" cy="384048"/>
          </a:xfrm>
          <a:prstGeom prst="rect">
            <a:avLst/>
          </a:prstGeom>
          <a:noFill/>
          <a:ln/>
        </p:spPr>
        <p:txBody>
          <a:bodyPr wrap="square" rtlCol="0" anchor="ctr"/>
          <a:lstStyle/>
          <a:p>
            <a:pPr marL="0" indent="0" algn="ctr">
              <a:buNone/>
            </a:pPr>
            <a:r>
              <a:rPr lang="en-US" sz="850" dirty="0">
                <a:solidFill>
                  <a:srgbClr val="6B7785"/>
                </a:solidFill>
                <a:latin typeface="Calibri" pitchFamily="34" charset="0"/>
                <a:ea typeface="Calibri" pitchFamily="34" charset="-122"/>
                <a:cs typeface="Calibri" pitchFamily="34" charset="-120"/>
              </a:rPr>
              <a:t>fixed-size hash</a:t>
            </a:r>
            <a:endParaRPr lang="en-US" sz="850" dirty="0"/>
          </a:p>
        </p:txBody>
      </p:sp>
      <p:sp>
        <p:nvSpPr>
          <p:cNvPr id="15" name="Shape 13"/>
          <p:cNvSpPr/>
          <p:nvPr/>
        </p:nvSpPr>
        <p:spPr>
          <a:xfrm>
            <a:off x="6428232" y="2318004"/>
            <a:ext cx="265176" cy="256032"/>
          </a:xfrm>
          <a:prstGeom prst="rightArrow">
            <a:avLst/>
          </a:prstGeom>
          <a:solidFill>
            <a:srgbClr val="17A2B8"/>
          </a:solidFill>
          <a:ln/>
        </p:spPr>
      </p:sp>
      <p:sp>
        <p:nvSpPr>
          <p:cNvPr id="16" name="Shape 14"/>
          <p:cNvSpPr/>
          <p:nvPr/>
        </p:nvSpPr>
        <p:spPr>
          <a:xfrm>
            <a:off x="6720840" y="1828800"/>
            <a:ext cx="1965960" cy="1234440"/>
          </a:xfrm>
          <a:prstGeom prst="roundRect">
            <a:avLst>
              <a:gd name="adj" fmla="val 6667"/>
            </a:avLst>
          </a:prstGeom>
          <a:solidFill>
            <a:srgbClr val="FFB100"/>
          </a:solidFill>
          <a:ln/>
        </p:spPr>
      </p:sp>
      <p:sp>
        <p:nvSpPr>
          <p:cNvPr id="17" name="Text 15"/>
          <p:cNvSpPr/>
          <p:nvPr/>
        </p:nvSpPr>
        <p:spPr>
          <a:xfrm>
            <a:off x="6775704" y="1938528"/>
            <a:ext cx="1856232" cy="594360"/>
          </a:xfrm>
          <a:prstGeom prst="rect">
            <a:avLst/>
          </a:prstGeom>
          <a:noFill/>
          <a:ln/>
        </p:spPr>
        <p:txBody>
          <a:bodyPr wrap="square" rtlCol="0" anchor="ctr"/>
          <a:lstStyle/>
          <a:p>
            <a:pPr marL="0" indent="0" algn="ctr">
              <a:buNone/>
            </a:pPr>
            <a:r>
              <a:rPr lang="en-US" sz="1100" b="1" dirty="0">
                <a:solidFill>
                  <a:srgbClr val="0F1C3F"/>
                </a:solidFill>
                <a:latin typeface="Calibri" pitchFamily="34" charset="0"/>
                <a:ea typeface="Calibri" pitchFamily="34" charset="-122"/>
                <a:cs typeface="Calibri" pitchFamily="34" charset="-120"/>
              </a:rPr>
              <a:t>Encrypt with</a:t>
            </a:r>
            <a:endParaRPr lang="en-US" sz="1100" dirty="0"/>
          </a:p>
          <a:p>
            <a:pPr marL="0" indent="0" algn="ctr">
              <a:buNone/>
            </a:pPr>
            <a:r>
              <a:rPr lang="en-US" sz="1100" b="1" dirty="0">
                <a:solidFill>
                  <a:srgbClr val="0F1C3F"/>
                </a:solidFill>
                <a:latin typeface="Calibri" pitchFamily="34" charset="0"/>
                <a:ea typeface="Calibri" pitchFamily="34" charset="-122"/>
                <a:cs typeface="Calibri" pitchFamily="34" charset="-120"/>
              </a:rPr>
              <a:t>Sender's Private Key</a:t>
            </a:r>
            <a:endParaRPr lang="en-US" sz="1100" dirty="0"/>
          </a:p>
        </p:txBody>
      </p:sp>
      <p:sp>
        <p:nvSpPr>
          <p:cNvPr id="18" name="Text 16"/>
          <p:cNvSpPr/>
          <p:nvPr/>
        </p:nvSpPr>
        <p:spPr>
          <a:xfrm>
            <a:off x="6775704" y="2606040"/>
            <a:ext cx="1856232" cy="384048"/>
          </a:xfrm>
          <a:prstGeom prst="rect">
            <a:avLst/>
          </a:prstGeom>
          <a:noFill/>
          <a:ln/>
        </p:spPr>
        <p:txBody>
          <a:bodyPr wrap="square" rtlCol="0" anchor="ctr"/>
          <a:lstStyle/>
          <a:p>
            <a:pPr marL="0" indent="0" algn="ctr">
              <a:buNone/>
            </a:pPr>
            <a:r>
              <a:rPr lang="en-US" sz="850" dirty="0">
                <a:solidFill>
                  <a:srgbClr val="6B4E00"/>
                </a:solidFill>
                <a:latin typeface="Calibri" pitchFamily="34" charset="0"/>
                <a:ea typeface="Calibri" pitchFamily="34" charset="-122"/>
                <a:cs typeface="Calibri" pitchFamily="34" charset="-120"/>
              </a:rPr>
              <a:t>signing operation</a:t>
            </a:r>
            <a:endParaRPr lang="en-US" sz="850" dirty="0"/>
          </a:p>
        </p:txBody>
      </p:sp>
      <p:sp>
        <p:nvSpPr>
          <p:cNvPr id="19" name="Shape 17"/>
          <p:cNvSpPr/>
          <p:nvPr/>
        </p:nvSpPr>
        <p:spPr>
          <a:xfrm>
            <a:off x="8714232" y="2318004"/>
            <a:ext cx="265176" cy="256032"/>
          </a:xfrm>
          <a:prstGeom prst="rightArrow">
            <a:avLst/>
          </a:prstGeom>
          <a:solidFill>
            <a:srgbClr val="17A2B8"/>
          </a:solidFill>
          <a:ln/>
        </p:spPr>
      </p:sp>
      <p:sp>
        <p:nvSpPr>
          <p:cNvPr id="20" name="Shape 18"/>
          <p:cNvSpPr/>
          <p:nvPr/>
        </p:nvSpPr>
        <p:spPr>
          <a:xfrm>
            <a:off x="9006840" y="1828800"/>
            <a:ext cx="1874520" cy="1234440"/>
          </a:xfrm>
          <a:prstGeom prst="roundRect">
            <a:avLst>
              <a:gd name="adj" fmla="val 6667"/>
            </a:avLst>
          </a:prstGeom>
          <a:solidFill>
            <a:srgbClr val="17A2B8"/>
          </a:solidFill>
          <a:ln/>
        </p:spPr>
      </p:sp>
      <p:sp>
        <p:nvSpPr>
          <p:cNvPr id="21" name="Text 19"/>
          <p:cNvSpPr/>
          <p:nvPr/>
        </p:nvSpPr>
        <p:spPr>
          <a:xfrm>
            <a:off x="9061704" y="1938528"/>
            <a:ext cx="1764792" cy="594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Digital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Signature</a:t>
            </a:r>
            <a:endParaRPr lang="en-US" sz="1100" dirty="0"/>
          </a:p>
        </p:txBody>
      </p:sp>
      <p:sp>
        <p:nvSpPr>
          <p:cNvPr id="22" name="Text 20"/>
          <p:cNvSpPr/>
          <p:nvPr/>
        </p:nvSpPr>
        <p:spPr>
          <a:xfrm>
            <a:off x="9061704" y="2606040"/>
            <a:ext cx="1764792" cy="384048"/>
          </a:xfrm>
          <a:prstGeom prst="rect">
            <a:avLst/>
          </a:prstGeom>
          <a:noFill/>
          <a:ln/>
        </p:spPr>
        <p:txBody>
          <a:bodyPr wrap="square" rtlCol="0" anchor="ctr"/>
          <a:lstStyle/>
          <a:p>
            <a:pPr marL="0" indent="0" algn="ctr">
              <a:buNone/>
            </a:pPr>
            <a:r>
              <a:rPr lang="en-US" sz="850" dirty="0">
                <a:solidFill>
                  <a:srgbClr val="0F1C3F"/>
                </a:solidFill>
                <a:latin typeface="Calibri" pitchFamily="34" charset="0"/>
                <a:ea typeface="Calibri" pitchFamily="34" charset="-122"/>
                <a:cs typeface="Calibri" pitchFamily="34" charset="-120"/>
              </a:rPr>
              <a:t>attached to message</a:t>
            </a:r>
            <a:endParaRPr lang="en-US" sz="850" dirty="0"/>
          </a:p>
        </p:txBody>
      </p:sp>
      <p:sp>
        <p:nvSpPr>
          <p:cNvPr id="23" name="Text 21"/>
          <p:cNvSpPr/>
          <p:nvPr/>
        </p:nvSpPr>
        <p:spPr>
          <a:xfrm>
            <a:off x="548640" y="3520440"/>
            <a:ext cx="4572000" cy="320040"/>
          </a:xfrm>
          <a:prstGeom prst="rect">
            <a:avLst/>
          </a:prstGeom>
          <a:noFill/>
          <a:ln/>
        </p:spPr>
        <p:txBody>
          <a:bodyPr wrap="square" rtlCol="0" anchor="ctr"/>
          <a:lstStyle/>
          <a:p>
            <a:pPr marL="0" indent="0">
              <a:buNone/>
            </a:pPr>
            <a:r>
              <a:rPr lang="en-US" sz="1250" b="1" dirty="0">
                <a:solidFill>
                  <a:srgbClr val="0F1C3F"/>
                </a:solidFill>
                <a:latin typeface="Calibri" pitchFamily="34" charset="0"/>
                <a:ea typeface="Calibri" pitchFamily="34" charset="-122"/>
                <a:cs typeface="Calibri" pitchFamily="34" charset="-120"/>
              </a:rPr>
              <a:t>Sender then transmits:</a:t>
            </a:r>
            <a:endParaRPr lang="en-US" sz="1250" dirty="0"/>
          </a:p>
        </p:txBody>
      </p:sp>
      <p:sp>
        <p:nvSpPr>
          <p:cNvPr id="24" name="Shape 22"/>
          <p:cNvSpPr/>
          <p:nvPr/>
        </p:nvSpPr>
        <p:spPr>
          <a:xfrm>
            <a:off x="548640" y="3886200"/>
            <a:ext cx="4206240" cy="822960"/>
          </a:xfrm>
          <a:prstGeom prst="roundRect">
            <a:avLst>
              <a:gd name="adj" fmla="val 8889"/>
            </a:avLst>
          </a:prstGeom>
          <a:solidFill>
            <a:srgbClr val="182A55"/>
          </a:solidFill>
          <a:ln/>
        </p:spPr>
      </p:sp>
      <p:sp>
        <p:nvSpPr>
          <p:cNvPr id="25" name="Text 23"/>
          <p:cNvSpPr/>
          <p:nvPr/>
        </p:nvSpPr>
        <p:spPr>
          <a:xfrm>
            <a:off x="640080" y="3886200"/>
            <a:ext cx="4023360" cy="8229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Original Message  +  Digital Signature</a:t>
            </a:r>
            <a:endParaRPr lang="en-US" sz="1200" dirty="0"/>
          </a:p>
        </p:txBody>
      </p:sp>
      <p:sp>
        <p:nvSpPr>
          <p:cNvPr id="26" name="Shape 24"/>
          <p:cNvSpPr/>
          <p:nvPr/>
        </p:nvSpPr>
        <p:spPr>
          <a:xfrm>
            <a:off x="4892040" y="4178808"/>
            <a:ext cx="822960" cy="256032"/>
          </a:xfrm>
          <a:prstGeom prst="rightArrow">
            <a:avLst/>
          </a:prstGeom>
          <a:solidFill>
            <a:srgbClr val="FFB100"/>
          </a:solidFill>
          <a:ln/>
        </p:spPr>
      </p:sp>
      <p:sp>
        <p:nvSpPr>
          <p:cNvPr id="27" name="Shape 25"/>
          <p:cNvSpPr/>
          <p:nvPr/>
        </p:nvSpPr>
        <p:spPr>
          <a:xfrm>
            <a:off x="5852160" y="3794760"/>
            <a:ext cx="5760720" cy="1005840"/>
          </a:xfrm>
          <a:prstGeom prst="roundRect">
            <a:avLst>
              <a:gd name="adj" fmla="val 7273"/>
            </a:avLst>
          </a:prstGeom>
          <a:solidFill>
            <a:srgbClr val="FFFFFF"/>
          </a:solidFill>
          <a:ln w="12700">
            <a:solidFill>
              <a:srgbClr val="D7DEE7"/>
            </a:solidFill>
            <a:prstDash val="solid"/>
          </a:ln>
        </p:spPr>
      </p:sp>
      <p:sp>
        <p:nvSpPr>
          <p:cNvPr id="28" name="Text 26"/>
          <p:cNvSpPr/>
          <p:nvPr/>
        </p:nvSpPr>
        <p:spPr>
          <a:xfrm>
            <a:off x="6035040" y="3794760"/>
            <a:ext cx="5394960" cy="1005840"/>
          </a:xfrm>
          <a:prstGeom prst="rect">
            <a:avLst/>
          </a:prstGeom>
          <a:noFill/>
          <a:ln/>
        </p:spPr>
        <p:txBody>
          <a:bodyPr wrap="square" rtlCol="0" anchor="ctr"/>
          <a:lstStyle/>
          <a:p>
            <a:pPr marL="0" indent="0" algn="l">
              <a:buNone/>
            </a:pPr>
            <a:r>
              <a:rPr lang="en-US" sz="1050" dirty="0">
                <a:solidFill>
                  <a:srgbClr val="1B2430"/>
                </a:solidFill>
                <a:latin typeface="Calibri" pitchFamily="34" charset="0"/>
                <a:ea typeface="Calibri" pitchFamily="34" charset="-122"/>
                <a:cs typeface="Calibri" pitchFamily="34" charset="-120"/>
              </a:rPr>
              <a:t>Sent over the network to the Recipient — anyone intercepting it sees the message and signature, but cannot forge a new valid signature without the sender's private key.</a:t>
            </a:r>
            <a:endParaRPr lang="en-US" sz="1050" dirty="0"/>
          </a:p>
        </p:txBody>
      </p:sp>
      <p:sp>
        <p:nvSpPr>
          <p:cNvPr id="29" name="Text 27"/>
          <p:cNvSpPr/>
          <p:nvPr/>
        </p:nvSpPr>
        <p:spPr>
          <a:xfrm>
            <a:off x="548640" y="5532120"/>
            <a:ext cx="11064240" cy="548640"/>
          </a:xfrm>
          <a:prstGeom prst="rect">
            <a:avLst/>
          </a:prstGeom>
          <a:noFill/>
          <a:ln/>
        </p:spPr>
        <p:txBody>
          <a:bodyPr wrap="square" rtlCol="0" anchor="t"/>
          <a:lstStyle/>
          <a:p>
            <a:pPr marL="0" indent="0">
              <a:buNone/>
            </a:pPr>
            <a:r>
              <a:rPr lang="en-US" sz="1100" i="1" dirty="0">
                <a:solidFill>
                  <a:srgbClr val="6B7785"/>
                </a:solidFill>
                <a:latin typeface="Calibri" pitchFamily="34" charset="0"/>
                <a:ea typeface="Calibri" pitchFamily="34" charset="-122"/>
                <a:cs typeface="Calibri" pitchFamily="34" charset="-120"/>
              </a:rPr>
              <a:t>Why encrypt the HASH and not the whole message? — the digest is small and fixed-size, so asymmetric encryption (which is slow) stays fast regardless of the original message's size.</a:t>
            </a:r>
            <a:endParaRPr lang="en-US" sz="1100" dirty="0"/>
          </a:p>
        </p:txBody>
      </p:sp>
      <p:sp>
        <p:nvSpPr>
          <p:cNvPr id="30" name="Text 28"/>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31" name="Text 2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2">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DIGITAL SIGNATURES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Digital Signature Process — Verification (Receiver)</a:t>
            </a:r>
            <a:endParaRPr lang="en-US" sz="3000" dirty="0"/>
          </a:p>
        </p:txBody>
      </p:sp>
      <p:sp>
        <p:nvSpPr>
          <p:cNvPr id="4" name="Shape 2"/>
          <p:cNvSpPr/>
          <p:nvPr/>
        </p:nvSpPr>
        <p:spPr>
          <a:xfrm>
            <a:off x="548640" y="1600200"/>
            <a:ext cx="2194560" cy="1051560"/>
          </a:xfrm>
          <a:prstGeom prst="roundRect">
            <a:avLst>
              <a:gd name="adj" fmla="val 7826"/>
            </a:avLst>
          </a:prstGeom>
          <a:solidFill>
            <a:srgbClr val="F4F7FB"/>
          </a:solidFill>
          <a:ln w="12700">
            <a:solidFill>
              <a:srgbClr val="D7DEE7"/>
            </a:solidFill>
            <a:prstDash val="solid"/>
          </a:ln>
        </p:spPr>
      </p:sp>
      <p:sp>
        <p:nvSpPr>
          <p:cNvPr id="5" name="Text 3"/>
          <p:cNvSpPr/>
          <p:nvPr/>
        </p:nvSpPr>
        <p:spPr>
          <a:xfrm>
            <a:off x="548640" y="1600200"/>
            <a:ext cx="2194560" cy="10515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Received</a:t>
            </a:r>
            <a:endParaRPr lang="en-US" sz="1150" dirty="0"/>
          </a:p>
          <a:p>
            <a:pPr marL="0" indent="0" algn="ctr">
              <a:buNone/>
            </a:pPr>
            <a:r>
              <a:rPr lang="en-US" sz="1150" b="1" dirty="0">
                <a:solidFill>
                  <a:srgbClr val="0F1C3F"/>
                </a:solidFill>
                <a:latin typeface="Calibri" pitchFamily="34" charset="0"/>
                <a:ea typeface="Calibri" pitchFamily="34" charset="-122"/>
                <a:cs typeface="Calibri" pitchFamily="34" charset="-120"/>
              </a:rPr>
              <a:t>Message</a:t>
            </a:r>
            <a:endParaRPr lang="en-US" sz="1150" dirty="0"/>
          </a:p>
        </p:txBody>
      </p:sp>
      <p:sp>
        <p:nvSpPr>
          <p:cNvPr id="6" name="Shape 4"/>
          <p:cNvSpPr/>
          <p:nvPr/>
        </p:nvSpPr>
        <p:spPr>
          <a:xfrm>
            <a:off x="2788920" y="1997964"/>
            <a:ext cx="548640" cy="256032"/>
          </a:xfrm>
          <a:prstGeom prst="rightArrow">
            <a:avLst/>
          </a:prstGeom>
          <a:solidFill>
            <a:srgbClr val="17A2B8"/>
          </a:solidFill>
          <a:ln/>
        </p:spPr>
      </p:sp>
      <p:sp>
        <p:nvSpPr>
          <p:cNvPr id="7" name="Shape 5"/>
          <p:cNvSpPr/>
          <p:nvPr/>
        </p:nvSpPr>
        <p:spPr>
          <a:xfrm>
            <a:off x="3383280" y="1600200"/>
            <a:ext cx="2194560" cy="1051560"/>
          </a:xfrm>
          <a:prstGeom prst="roundRect">
            <a:avLst>
              <a:gd name="adj" fmla="val 7826"/>
            </a:avLst>
          </a:prstGeom>
          <a:solidFill>
            <a:srgbClr val="0F1C3F"/>
          </a:solidFill>
          <a:ln/>
        </p:spPr>
      </p:sp>
      <p:sp>
        <p:nvSpPr>
          <p:cNvPr id="8" name="Text 6"/>
          <p:cNvSpPr/>
          <p:nvPr/>
        </p:nvSpPr>
        <p:spPr>
          <a:xfrm>
            <a:off x="3383280" y="1600200"/>
            <a:ext cx="2194560" cy="10515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Hash Function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(same algorithm)</a:t>
            </a:r>
            <a:endParaRPr lang="en-US" sz="1100" dirty="0"/>
          </a:p>
        </p:txBody>
      </p:sp>
      <p:sp>
        <p:nvSpPr>
          <p:cNvPr id="9" name="Shape 7"/>
          <p:cNvSpPr/>
          <p:nvPr/>
        </p:nvSpPr>
        <p:spPr>
          <a:xfrm>
            <a:off x="5623560" y="1997964"/>
            <a:ext cx="548640" cy="256032"/>
          </a:xfrm>
          <a:prstGeom prst="rightArrow">
            <a:avLst/>
          </a:prstGeom>
          <a:solidFill>
            <a:srgbClr val="17A2B8"/>
          </a:solidFill>
          <a:ln/>
        </p:spPr>
      </p:sp>
      <p:sp>
        <p:nvSpPr>
          <p:cNvPr id="10" name="Shape 8"/>
          <p:cNvSpPr/>
          <p:nvPr/>
        </p:nvSpPr>
        <p:spPr>
          <a:xfrm>
            <a:off x="6217920" y="1600200"/>
            <a:ext cx="2331720" cy="1051560"/>
          </a:xfrm>
          <a:prstGeom prst="roundRect">
            <a:avLst>
              <a:gd name="adj" fmla="val 7826"/>
            </a:avLst>
          </a:prstGeom>
          <a:solidFill>
            <a:srgbClr val="F4F7FB"/>
          </a:solidFill>
          <a:ln w="12700">
            <a:solidFill>
              <a:srgbClr val="D7DEE7"/>
            </a:solidFill>
            <a:prstDash val="solid"/>
          </a:ln>
        </p:spPr>
      </p:sp>
      <p:sp>
        <p:nvSpPr>
          <p:cNvPr id="11" name="Text 9"/>
          <p:cNvSpPr/>
          <p:nvPr/>
        </p:nvSpPr>
        <p:spPr>
          <a:xfrm>
            <a:off x="6217920" y="1600200"/>
            <a:ext cx="2331720" cy="1051560"/>
          </a:xfrm>
          <a:prstGeom prst="rect">
            <a:avLst/>
          </a:prstGeom>
          <a:noFill/>
          <a:ln/>
        </p:spPr>
        <p:txBody>
          <a:bodyPr wrap="square" rtlCol="0" anchor="ctr"/>
          <a:lstStyle/>
          <a:p>
            <a:pPr marL="0" indent="0" algn="ctr">
              <a:buNone/>
            </a:pPr>
            <a:r>
              <a:rPr lang="en-US" sz="1100" b="1" dirty="0">
                <a:solidFill>
                  <a:srgbClr val="0F1C3F"/>
                </a:solidFill>
                <a:latin typeface="Calibri" pitchFamily="34" charset="0"/>
                <a:ea typeface="Calibri" pitchFamily="34" charset="-122"/>
                <a:cs typeface="Calibri" pitchFamily="34" charset="-120"/>
              </a:rPr>
              <a:t>Newly Computed</a:t>
            </a:r>
            <a:endParaRPr lang="en-US" sz="1100" dirty="0"/>
          </a:p>
          <a:p>
            <a:pPr marL="0" indent="0" algn="ctr">
              <a:buNone/>
            </a:pPr>
            <a:r>
              <a:rPr lang="en-US" sz="1100" b="1" dirty="0">
                <a:solidFill>
                  <a:srgbClr val="0F1C3F"/>
                </a:solidFill>
                <a:latin typeface="Calibri" pitchFamily="34" charset="0"/>
                <a:ea typeface="Calibri" pitchFamily="34" charset="-122"/>
                <a:cs typeface="Calibri" pitchFamily="34" charset="-120"/>
              </a:rPr>
              <a:t>Digest (H2)</a:t>
            </a:r>
            <a:endParaRPr lang="en-US" sz="1100" dirty="0"/>
          </a:p>
        </p:txBody>
      </p:sp>
      <p:sp>
        <p:nvSpPr>
          <p:cNvPr id="12" name="Shape 10"/>
          <p:cNvSpPr/>
          <p:nvPr/>
        </p:nvSpPr>
        <p:spPr>
          <a:xfrm>
            <a:off x="548640" y="3063240"/>
            <a:ext cx="2194560" cy="1051560"/>
          </a:xfrm>
          <a:prstGeom prst="roundRect">
            <a:avLst>
              <a:gd name="adj" fmla="val 7826"/>
            </a:avLst>
          </a:prstGeom>
          <a:solidFill>
            <a:srgbClr val="F4F7FB"/>
          </a:solidFill>
          <a:ln w="12700">
            <a:solidFill>
              <a:srgbClr val="D7DEE7"/>
            </a:solidFill>
            <a:prstDash val="solid"/>
          </a:ln>
        </p:spPr>
      </p:sp>
      <p:sp>
        <p:nvSpPr>
          <p:cNvPr id="13" name="Text 11"/>
          <p:cNvSpPr/>
          <p:nvPr/>
        </p:nvSpPr>
        <p:spPr>
          <a:xfrm>
            <a:off x="548640" y="3063240"/>
            <a:ext cx="2194560" cy="10515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Received</a:t>
            </a:r>
            <a:endParaRPr lang="en-US" sz="1150" dirty="0"/>
          </a:p>
          <a:p>
            <a:pPr marL="0" indent="0" algn="ctr">
              <a:buNone/>
            </a:pPr>
            <a:r>
              <a:rPr lang="en-US" sz="1150" b="1" dirty="0">
                <a:solidFill>
                  <a:srgbClr val="0F1C3F"/>
                </a:solidFill>
                <a:latin typeface="Calibri" pitchFamily="34" charset="0"/>
                <a:ea typeface="Calibri" pitchFamily="34" charset="-122"/>
                <a:cs typeface="Calibri" pitchFamily="34" charset="-120"/>
              </a:rPr>
              <a:t>Signature</a:t>
            </a:r>
            <a:endParaRPr lang="en-US" sz="1150" dirty="0"/>
          </a:p>
        </p:txBody>
      </p:sp>
      <p:sp>
        <p:nvSpPr>
          <p:cNvPr id="14" name="Shape 12"/>
          <p:cNvSpPr/>
          <p:nvPr/>
        </p:nvSpPr>
        <p:spPr>
          <a:xfrm>
            <a:off x="2788920" y="3461004"/>
            <a:ext cx="548640" cy="256032"/>
          </a:xfrm>
          <a:prstGeom prst="rightArrow">
            <a:avLst/>
          </a:prstGeom>
          <a:solidFill>
            <a:srgbClr val="FFB100"/>
          </a:solidFill>
          <a:ln/>
        </p:spPr>
      </p:sp>
      <p:sp>
        <p:nvSpPr>
          <p:cNvPr id="15" name="Shape 13"/>
          <p:cNvSpPr/>
          <p:nvPr/>
        </p:nvSpPr>
        <p:spPr>
          <a:xfrm>
            <a:off x="3383280" y="3063240"/>
            <a:ext cx="3337560" cy="1051560"/>
          </a:xfrm>
          <a:prstGeom prst="roundRect">
            <a:avLst>
              <a:gd name="adj" fmla="val 7826"/>
            </a:avLst>
          </a:prstGeom>
          <a:solidFill>
            <a:srgbClr val="FFB100"/>
          </a:solidFill>
          <a:ln/>
        </p:spPr>
      </p:sp>
      <p:sp>
        <p:nvSpPr>
          <p:cNvPr id="16" name="Text 14"/>
          <p:cNvSpPr/>
          <p:nvPr/>
        </p:nvSpPr>
        <p:spPr>
          <a:xfrm>
            <a:off x="3383280" y="3063240"/>
            <a:ext cx="3337560" cy="1051560"/>
          </a:xfrm>
          <a:prstGeom prst="rect">
            <a:avLst/>
          </a:prstGeom>
          <a:noFill/>
          <a:ln/>
        </p:spPr>
        <p:txBody>
          <a:bodyPr wrap="square" rtlCol="0" anchor="ctr"/>
          <a:lstStyle/>
          <a:p>
            <a:pPr marL="0" indent="0" algn="ctr">
              <a:buNone/>
            </a:pPr>
            <a:r>
              <a:rPr lang="en-US" sz="1150" b="1" dirty="0">
                <a:solidFill>
                  <a:srgbClr val="0F1C3F"/>
                </a:solidFill>
                <a:latin typeface="Calibri" pitchFamily="34" charset="0"/>
                <a:ea typeface="Calibri" pitchFamily="34" charset="-122"/>
                <a:cs typeface="Calibri" pitchFamily="34" charset="-120"/>
              </a:rPr>
              <a:t>Decrypt with Sender's</a:t>
            </a:r>
            <a:endParaRPr lang="en-US" sz="1150" dirty="0"/>
          </a:p>
          <a:p>
            <a:pPr marL="0" indent="0" algn="ctr">
              <a:buNone/>
            </a:pPr>
            <a:r>
              <a:rPr lang="en-US" sz="1150" b="1" dirty="0">
                <a:solidFill>
                  <a:srgbClr val="0F1C3F"/>
                </a:solidFill>
                <a:latin typeface="Calibri" pitchFamily="34" charset="0"/>
                <a:ea typeface="Calibri" pitchFamily="34" charset="-122"/>
                <a:cs typeface="Calibri" pitchFamily="34" charset="-120"/>
              </a:rPr>
              <a:t>PUBLIC Key</a:t>
            </a:r>
            <a:endParaRPr lang="en-US" sz="1150" dirty="0"/>
          </a:p>
        </p:txBody>
      </p:sp>
      <p:sp>
        <p:nvSpPr>
          <p:cNvPr id="17" name="Shape 15"/>
          <p:cNvSpPr/>
          <p:nvPr/>
        </p:nvSpPr>
        <p:spPr>
          <a:xfrm>
            <a:off x="6766560" y="3461004"/>
            <a:ext cx="548640" cy="256032"/>
          </a:xfrm>
          <a:prstGeom prst="rightArrow">
            <a:avLst/>
          </a:prstGeom>
          <a:solidFill>
            <a:srgbClr val="FFB100"/>
          </a:solidFill>
          <a:ln/>
        </p:spPr>
      </p:sp>
      <p:sp>
        <p:nvSpPr>
          <p:cNvPr id="18" name="Shape 16"/>
          <p:cNvSpPr/>
          <p:nvPr/>
        </p:nvSpPr>
        <p:spPr>
          <a:xfrm>
            <a:off x="7360920" y="3063240"/>
            <a:ext cx="1188720" cy="1051560"/>
          </a:xfrm>
          <a:prstGeom prst="roundRect">
            <a:avLst>
              <a:gd name="adj" fmla="val 7826"/>
            </a:avLst>
          </a:prstGeom>
          <a:solidFill>
            <a:srgbClr val="F4F7FB"/>
          </a:solidFill>
          <a:ln w="12700">
            <a:solidFill>
              <a:srgbClr val="D7DEE7"/>
            </a:solidFill>
            <a:prstDash val="solid"/>
          </a:ln>
        </p:spPr>
      </p:sp>
      <p:sp>
        <p:nvSpPr>
          <p:cNvPr id="19" name="Text 17"/>
          <p:cNvSpPr/>
          <p:nvPr/>
        </p:nvSpPr>
        <p:spPr>
          <a:xfrm>
            <a:off x="7360920" y="3063240"/>
            <a:ext cx="1188720" cy="1051560"/>
          </a:xfrm>
          <a:prstGeom prst="rect">
            <a:avLst/>
          </a:prstGeom>
          <a:noFill/>
          <a:ln/>
        </p:spPr>
        <p:txBody>
          <a:bodyPr wrap="square" rtlCol="0" anchor="ctr"/>
          <a:lstStyle/>
          <a:p>
            <a:pPr marL="0" indent="0" algn="ctr">
              <a:buNone/>
            </a:pPr>
            <a:r>
              <a:rPr lang="en-US" sz="1100" b="1" dirty="0">
                <a:solidFill>
                  <a:srgbClr val="0F1C3F"/>
                </a:solidFill>
                <a:latin typeface="Calibri" pitchFamily="34" charset="0"/>
                <a:ea typeface="Calibri" pitchFamily="34" charset="-122"/>
                <a:cs typeface="Calibri" pitchFamily="34" charset="-120"/>
              </a:rPr>
              <a:t>Digest</a:t>
            </a:r>
            <a:endParaRPr lang="en-US" sz="1100" dirty="0"/>
          </a:p>
          <a:p>
            <a:pPr marL="0" indent="0" algn="ctr">
              <a:buNone/>
            </a:pPr>
            <a:r>
              <a:rPr lang="en-US" sz="1100" b="1" dirty="0">
                <a:solidFill>
                  <a:srgbClr val="0F1C3F"/>
                </a:solidFill>
                <a:latin typeface="Calibri" pitchFamily="34" charset="0"/>
                <a:ea typeface="Calibri" pitchFamily="34" charset="-122"/>
                <a:cs typeface="Calibri" pitchFamily="34" charset="-120"/>
              </a:rPr>
              <a:t>(H1)</a:t>
            </a:r>
            <a:endParaRPr lang="en-US" sz="1100" dirty="0"/>
          </a:p>
        </p:txBody>
      </p:sp>
      <p:sp>
        <p:nvSpPr>
          <p:cNvPr id="20" name="Shape 18"/>
          <p:cNvSpPr/>
          <p:nvPr/>
        </p:nvSpPr>
        <p:spPr>
          <a:xfrm>
            <a:off x="8138160" y="2697480"/>
            <a:ext cx="256032" cy="320040"/>
          </a:xfrm>
          <a:prstGeom prst="downArrow">
            <a:avLst/>
          </a:prstGeom>
          <a:solidFill>
            <a:srgbClr val="17A2B8"/>
          </a:solidFill>
          <a:ln/>
        </p:spPr>
      </p:sp>
      <p:sp>
        <p:nvSpPr>
          <p:cNvPr id="21" name="Shape 19"/>
          <p:cNvSpPr/>
          <p:nvPr/>
        </p:nvSpPr>
        <p:spPr>
          <a:xfrm>
            <a:off x="7818120" y="2697480"/>
            <a:ext cx="256032" cy="320040"/>
          </a:xfrm>
          <a:prstGeom prst="downArrow">
            <a:avLst/>
          </a:prstGeom>
          <a:solidFill>
            <a:srgbClr val="FFB100"/>
          </a:solidFill>
          <a:ln/>
        </p:spPr>
      </p:sp>
      <p:sp>
        <p:nvSpPr>
          <p:cNvPr id="22" name="Shape 20"/>
          <p:cNvSpPr/>
          <p:nvPr/>
        </p:nvSpPr>
        <p:spPr>
          <a:xfrm>
            <a:off x="8732520" y="2679192"/>
            <a:ext cx="1737360" cy="1737360"/>
          </a:xfrm>
          <a:prstGeom prst="ellipse">
            <a:avLst/>
          </a:prstGeom>
          <a:solidFill>
            <a:srgbClr val="182A55"/>
          </a:solidFill>
          <a:ln/>
        </p:spPr>
      </p:sp>
      <p:sp>
        <p:nvSpPr>
          <p:cNvPr id="23" name="Text 21"/>
          <p:cNvSpPr/>
          <p:nvPr/>
        </p:nvSpPr>
        <p:spPr>
          <a:xfrm>
            <a:off x="8732520" y="2679192"/>
            <a:ext cx="1737360" cy="1737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Compare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H1 = H2 ?</a:t>
            </a:r>
            <a:endParaRPr lang="en-US" sz="1300" dirty="0"/>
          </a:p>
        </p:txBody>
      </p:sp>
      <p:sp>
        <p:nvSpPr>
          <p:cNvPr id="24" name="Shape 22"/>
          <p:cNvSpPr/>
          <p:nvPr/>
        </p:nvSpPr>
        <p:spPr>
          <a:xfrm>
            <a:off x="10515600" y="3383280"/>
            <a:ext cx="502920" cy="256032"/>
          </a:xfrm>
          <a:prstGeom prst="rightArrow">
            <a:avLst/>
          </a:prstGeom>
          <a:solidFill>
            <a:srgbClr val="6B7785"/>
          </a:solidFill>
          <a:ln/>
        </p:spPr>
      </p:sp>
      <p:sp>
        <p:nvSpPr>
          <p:cNvPr id="25" name="Shape 23"/>
          <p:cNvSpPr/>
          <p:nvPr/>
        </p:nvSpPr>
        <p:spPr>
          <a:xfrm>
            <a:off x="548640" y="4572000"/>
            <a:ext cx="5394960" cy="1097280"/>
          </a:xfrm>
          <a:prstGeom prst="roundRect">
            <a:avLst>
              <a:gd name="adj" fmla="val 6667"/>
            </a:avLst>
          </a:prstGeom>
          <a:solidFill>
            <a:srgbClr val="E7F4EC"/>
          </a:solidFill>
          <a:ln w="19050">
            <a:solidFill>
              <a:srgbClr val="2E8B57"/>
            </a:solidFill>
            <a:prstDash val="solid"/>
          </a:ln>
        </p:spPr>
      </p:sp>
      <p:sp>
        <p:nvSpPr>
          <p:cNvPr id="26" name="Text 24"/>
          <p:cNvSpPr/>
          <p:nvPr/>
        </p:nvSpPr>
        <p:spPr>
          <a:xfrm>
            <a:off x="731520" y="4681728"/>
            <a:ext cx="5029200" cy="365760"/>
          </a:xfrm>
          <a:prstGeom prst="rect">
            <a:avLst/>
          </a:prstGeom>
          <a:noFill/>
          <a:ln/>
        </p:spPr>
        <p:txBody>
          <a:bodyPr wrap="square" rtlCol="0" anchor="ctr"/>
          <a:lstStyle/>
          <a:p>
            <a:pPr marL="0" indent="0">
              <a:buNone/>
            </a:pPr>
            <a:r>
              <a:rPr lang="en-US" sz="1300" b="1" dirty="0">
                <a:solidFill>
                  <a:srgbClr val="2E8B57"/>
                </a:solidFill>
                <a:latin typeface="Calibri" pitchFamily="34" charset="0"/>
                <a:ea typeface="Calibri" pitchFamily="34" charset="-122"/>
                <a:cs typeface="Calibri" pitchFamily="34" charset="-120"/>
              </a:rPr>
              <a:t>✓  MATCH → Signature Valid</a:t>
            </a:r>
            <a:endParaRPr lang="en-US" sz="1300" dirty="0"/>
          </a:p>
        </p:txBody>
      </p:sp>
      <p:sp>
        <p:nvSpPr>
          <p:cNvPr id="27" name="Text 25"/>
          <p:cNvSpPr/>
          <p:nvPr/>
        </p:nvSpPr>
        <p:spPr>
          <a:xfrm>
            <a:off x="731520" y="5029200"/>
            <a:ext cx="5029200" cy="548640"/>
          </a:xfrm>
          <a:prstGeom prst="rect">
            <a:avLst/>
          </a:prstGeom>
          <a:noFill/>
          <a:ln/>
        </p:spPr>
        <p:txBody>
          <a:bodyPr wrap="square" rtlCol="0" anchor="t"/>
          <a:lstStyle/>
          <a:p>
            <a:pPr marL="0" indent="0">
              <a:buNone/>
            </a:pPr>
            <a:r>
              <a:rPr lang="en-US" sz="1000" dirty="0">
                <a:solidFill>
                  <a:srgbClr val="1B2430"/>
                </a:solidFill>
                <a:latin typeface="Calibri" pitchFamily="34" charset="0"/>
                <a:ea typeface="Calibri" pitchFamily="34" charset="-122"/>
                <a:cs typeface="Calibri" pitchFamily="34" charset="-120"/>
              </a:rPr>
              <a:t>Message is authentic and unaltered — confirmed to come from the claimed sender.</a:t>
            </a:r>
            <a:endParaRPr lang="en-US" sz="1000" dirty="0"/>
          </a:p>
        </p:txBody>
      </p:sp>
      <p:sp>
        <p:nvSpPr>
          <p:cNvPr id="28" name="Shape 26"/>
          <p:cNvSpPr/>
          <p:nvPr/>
        </p:nvSpPr>
        <p:spPr>
          <a:xfrm>
            <a:off x="6217920" y="4572000"/>
            <a:ext cx="5394960" cy="1097280"/>
          </a:xfrm>
          <a:prstGeom prst="roundRect">
            <a:avLst>
              <a:gd name="adj" fmla="val 6667"/>
            </a:avLst>
          </a:prstGeom>
          <a:solidFill>
            <a:srgbClr val="FBEAE8"/>
          </a:solidFill>
          <a:ln w="19050">
            <a:solidFill>
              <a:srgbClr val="C0392B"/>
            </a:solidFill>
            <a:prstDash val="solid"/>
          </a:ln>
        </p:spPr>
      </p:sp>
      <p:sp>
        <p:nvSpPr>
          <p:cNvPr id="29" name="Text 27"/>
          <p:cNvSpPr/>
          <p:nvPr/>
        </p:nvSpPr>
        <p:spPr>
          <a:xfrm>
            <a:off x="6400800" y="4681728"/>
            <a:ext cx="5029200" cy="36576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  MISMATCH → Signature Invalid</a:t>
            </a:r>
            <a:endParaRPr lang="en-US" sz="1300" dirty="0"/>
          </a:p>
        </p:txBody>
      </p:sp>
      <p:sp>
        <p:nvSpPr>
          <p:cNvPr id="30" name="Text 28"/>
          <p:cNvSpPr/>
          <p:nvPr/>
        </p:nvSpPr>
        <p:spPr>
          <a:xfrm>
            <a:off x="6400800" y="5029200"/>
            <a:ext cx="5029200" cy="548640"/>
          </a:xfrm>
          <a:prstGeom prst="rect">
            <a:avLst/>
          </a:prstGeom>
          <a:noFill/>
          <a:ln/>
        </p:spPr>
        <p:txBody>
          <a:bodyPr wrap="square" rtlCol="0" anchor="t"/>
          <a:lstStyle/>
          <a:p>
            <a:pPr marL="0" indent="0">
              <a:buNone/>
            </a:pPr>
            <a:r>
              <a:rPr lang="en-US" sz="1000" dirty="0">
                <a:solidFill>
                  <a:srgbClr val="1B2430"/>
                </a:solidFill>
                <a:latin typeface="Calibri" pitchFamily="34" charset="0"/>
                <a:ea typeface="Calibri" pitchFamily="34" charset="-122"/>
                <a:cs typeface="Calibri" pitchFamily="34" charset="-120"/>
              </a:rPr>
              <a:t>Message was altered in transit, or does not come from the claimed sender — reject it.</a:t>
            </a:r>
            <a:endParaRPr lang="en-US" sz="1000" dirty="0"/>
          </a:p>
        </p:txBody>
      </p:sp>
      <p:sp>
        <p:nvSpPr>
          <p:cNvPr id="31" name="Text 29"/>
          <p:cNvSpPr/>
          <p:nvPr/>
        </p:nvSpPr>
        <p:spPr>
          <a:xfrm>
            <a:off x="548640" y="5897880"/>
            <a:ext cx="11064240" cy="457200"/>
          </a:xfrm>
          <a:prstGeom prst="rect">
            <a:avLst/>
          </a:prstGeom>
          <a:noFill/>
          <a:ln/>
        </p:spPr>
        <p:txBody>
          <a:bodyPr wrap="square" rtlCol="0" anchor="ctr"/>
          <a:lstStyle/>
          <a:p>
            <a:pPr marL="0" indent="0">
              <a:buNone/>
            </a:pPr>
            <a:r>
              <a:rPr lang="en-US" sz="1050" i="1" dirty="0">
                <a:solidFill>
                  <a:srgbClr val="6B7785"/>
                </a:solidFill>
                <a:latin typeface="Calibri" pitchFamily="34" charset="0"/>
                <a:ea typeface="Calibri" pitchFamily="34" charset="-122"/>
                <a:cs typeface="Calibri" pitchFamily="34" charset="-120"/>
              </a:rPr>
              <a:t>Only the sender's matching public key can correctly decrypt a signature made with their private key — proving authorship without ever sharing the private key.</a:t>
            </a:r>
            <a:endParaRPr lang="en-US" sz="1050" dirty="0"/>
          </a:p>
        </p:txBody>
      </p:sp>
      <p:sp>
        <p:nvSpPr>
          <p:cNvPr id="32" name="Text 3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33" name="Text 3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DIGITAL SIGNATURES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Digital Signatures — Advantages &amp; Disadvantages</a:t>
            </a:r>
            <a:endParaRPr lang="en-US" sz="3000" dirty="0"/>
          </a:p>
        </p:txBody>
      </p:sp>
      <p:sp>
        <p:nvSpPr>
          <p:cNvPr id="4" name="Shape 2"/>
          <p:cNvSpPr/>
          <p:nvPr/>
        </p:nvSpPr>
        <p:spPr>
          <a:xfrm>
            <a:off x="548640" y="1417320"/>
            <a:ext cx="5394960" cy="502920"/>
          </a:xfrm>
          <a:prstGeom prst="roundRect">
            <a:avLst>
              <a:gd name="adj" fmla="val 10909"/>
            </a:avLst>
          </a:prstGeom>
          <a:solidFill>
            <a:srgbClr val="2E8B57"/>
          </a:solidFill>
          <a:ln/>
        </p:spPr>
      </p:sp>
      <p:sp>
        <p:nvSpPr>
          <p:cNvPr id="5" name="Text 3"/>
          <p:cNvSpPr/>
          <p:nvPr/>
        </p:nvSpPr>
        <p:spPr>
          <a:xfrm>
            <a:off x="548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p>
        </p:txBody>
      </p:sp>
      <p:sp>
        <p:nvSpPr>
          <p:cNvPr id="6" name="Shape 4"/>
          <p:cNvSpPr/>
          <p:nvPr/>
        </p:nvSpPr>
        <p:spPr>
          <a:xfrm>
            <a:off x="548640" y="1920240"/>
            <a:ext cx="5394960" cy="2606040"/>
          </a:xfrm>
          <a:prstGeom prst="roundRect">
            <a:avLst>
              <a:gd name="adj" fmla="val 2105"/>
            </a:avLst>
          </a:prstGeom>
          <a:solidFill>
            <a:srgbClr val="E7F4EC"/>
          </a:solidFill>
          <a:ln w="12700">
            <a:solidFill>
              <a:srgbClr val="D7DEE7"/>
            </a:solidFill>
            <a:prstDash val="solid"/>
          </a:ln>
        </p:spPr>
      </p:sp>
      <p:sp>
        <p:nvSpPr>
          <p:cNvPr id="7" name="Text 5"/>
          <p:cNvSpPr/>
          <p:nvPr/>
        </p:nvSpPr>
        <p:spPr>
          <a:xfrm>
            <a:off x="804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Strong authentication — verifies the true sender of a message</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Ensures message integrity — any tampering is detected immediately</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Provides non-repudiation — legally binding proof of origin</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Scales well: only the small hash is encrypted, not the whole message</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Enables secure e-governance, e-commerce, and paperless contracts</a:t>
            </a:r>
            <a:endParaRPr lang="en-US" sz="1250" dirty="0"/>
          </a:p>
        </p:txBody>
      </p:sp>
      <p:sp>
        <p:nvSpPr>
          <p:cNvPr id="8" name="Shape 6"/>
          <p:cNvSpPr/>
          <p:nvPr/>
        </p:nvSpPr>
        <p:spPr>
          <a:xfrm>
            <a:off x="6263640" y="1417320"/>
            <a:ext cx="5394960" cy="502920"/>
          </a:xfrm>
          <a:prstGeom prst="roundRect">
            <a:avLst>
              <a:gd name="adj" fmla="val 10909"/>
            </a:avLst>
          </a:prstGeom>
          <a:solidFill>
            <a:srgbClr val="C0392B"/>
          </a:solidFill>
          <a:ln/>
        </p:spPr>
      </p:sp>
      <p:sp>
        <p:nvSpPr>
          <p:cNvPr id="9" name="Text 7"/>
          <p:cNvSpPr/>
          <p:nvPr/>
        </p:nvSpPr>
        <p:spPr>
          <a:xfrm>
            <a:off x="6263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DISADVANTAGES</a:t>
            </a:r>
            <a:endParaRPr lang="en-US" sz="1400" dirty="0"/>
          </a:p>
        </p:txBody>
      </p:sp>
      <p:sp>
        <p:nvSpPr>
          <p:cNvPr id="10" name="Shape 8"/>
          <p:cNvSpPr/>
          <p:nvPr/>
        </p:nvSpPr>
        <p:spPr>
          <a:xfrm>
            <a:off x="6263640" y="1920240"/>
            <a:ext cx="5394960" cy="2606040"/>
          </a:xfrm>
          <a:prstGeom prst="roundRect">
            <a:avLst>
              <a:gd name="adj" fmla="val 2105"/>
            </a:avLst>
          </a:prstGeom>
          <a:solidFill>
            <a:srgbClr val="FBEAE8"/>
          </a:solidFill>
          <a:ln w="12700">
            <a:solidFill>
              <a:srgbClr val="D7DEE7"/>
            </a:solidFill>
            <a:prstDash val="solid"/>
          </a:ln>
        </p:spPr>
      </p:sp>
      <p:sp>
        <p:nvSpPr>
          <p:cNvPr id="11" name="Text 9"/>
          <p:cNvSpPr/>
          <p:nvPr/>
        </p:nvSpPr>
        <p:spPr>
          <a:xfrm>
            <a:off x="6519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Relies on the private key staying secret — if stolen, identity can be forged</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Requires a trusted way to distribute public keys (solved by PKI/certificates)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Computationally heavier than simple checksums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Legal recognition of digital signatures varies by country/jurisdiction</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Doesn't provide confidentiality by itself — message content is still readable unless separately encrypted</a:t>
            </a:r>
            <a:endParaRPr lang="en-US" sz="1250" dirty="0"/>
          </a:p>
        </p:txBody>
      </p:sp>
      <p:sp>
        <p:nvSpPr>
          <p:cNvPr id="12" name="Text 1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4">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DIGITAL CERTIFICATES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Digital Certificates — What &amp; Why</a:t>
            </a:r>
            <a:endParaRPr lang="en-US" sz="3000" dirty="0"/>
          </a:p>
        </p:txBody>
      </p:sp>
      <p:sp>
        <p:nvSpPr>
          <p:cNvPr id="4" name="Text 2"/>
          <p:cNvSpPr/>
          <p:nvPr/>
        </p:nvSpPr>
        <p:spPr>
          <a:xfrm>
            <a:off x="548640" y="1371600"/>
            <a:ext cx="11064240" cy="685800"/>
          </a:xfrm>
          <a:prstGeom prst="rect">
            <a:avLst/>
          </a:prstGeom>
          <a:noFill/>
          <a:ln/>
        </p:spPr>
        <p:txBody>
          <a:bodyPr wrap="square" rtlCol="0" anchor="t"/>
          <a:lstStyle/>
          <a:p>
            <a:pPr marL="0" indent="0">
              <a:buNone/>
            </a:pPr>
            <a:r>
              <a:rPr lang="en-US" sz="1250" b="1" dirty="0">
                <a:solidFill>
                  <a:srgbClr val="C0392B"/>
                </a:solidFill>
                <a:latin typeface="Calibri" pitchFamily="34" charset="0"/>
                <a:ea typeface="Calibri" pitchFamily="34" charset="-122"/>
                <a:cs typeface="Calibri" pitchFamily="34" charset="-120"/>
              </a:rPr>
              <a:t>Problem: </a:t>
            </a:r>
            <a:r>
              <a:rPr lang="en-US" sz="1250" dirty="0">
                <a:solidFill>
                  <a:srgbClr val="1B2430"/>
                </a:solidFill>
                <a:latin typeface="Calibri" pitchFamily="34" charset="0"/>
                <a:ea typeface="Calibri" pitchFamily="34" charset="-122"/>
                <a:cs typeface="Calibri" pitchFamily="34" charset="-120"/>
              </a:rPr>
              <a:t>Verification only works if you truly trust that a given public key belongs to the claimed person or organization. What stops an attacker from publishing a public key and pretending to be your bank?</a:t>
            </a:r>
            <a:endParaRPr lang="en-US" sz="1250" dirty="0"/>
          </a:p>
        </p:txBody>
      </p:sp>
      <p:sp>
        <p:nvSpPr>
          <p:cNvPr id="5" name="Text 3"/>
          <p:cNvSpPr/>
          <p:nvPr/>
        </p:nvSpPr>
        <p:spPr>
          <a:xfrm>
            <a:off x="548640" y="2011680"/>
            <a:ext cx="11064240" cy="548640"/>
          </a:xfrm>
          <a:prstGeom prst="rect">
            <a:avLst/>
          </a:prstGeom>
          <a:noFill/>
          <a:ln/>
        </p:spPr>
        <p:txBody>
          <a:bodyPr wrap="square" rtlCol="0" anchor="t"/>
          <a:lstStyle/>
          <a:p>
            <a:pPr marL="0" indent="0">
              <a:buNone/>
            </a:pPr>
            <a:r>
              <a:rPr lang="en-US" sz="1250" b="1" dirty="0">
                <a:solidFill>
                  <a:srgbClr val="2E8B57"/>
                </a:solidFill>
                <a:latin typeface="Calibri" pitchFamily="34" charset="0"/>
                <a:ea typeface="Calibri" pitchFamily="34" charset="-122"/>
                <a:cs typeface="Calibri" pitchFamily="34" charset="-120"/>
              </a:rPr>
              <a:t>Solution: </a:t>
            </a:r>
            <a:r>
              <a:rPr lang="en-US" sz="1250" dirty="0">
                <a:solidFill>
                  <a:srgbClr val="1B2430"/>
                </a:solidFill>
                <a:latin typeface="Calibri" pitchFamily="34" charset="0"/>
                <a:ea typeface="Calibri" pitchFamily="34" charset="-122"/>
                <a:cs typeface="Calibri" pitchFamily="34" charset="-120"/>
              </a:rPr>
              <a:t>A Digital Certificate — an electronic document issued by a trusted Certificate Authority (CA) — binds a public key to a verified identity, and is itself digitally signed by the CA.</a:t>
            </a:r>
            <a:endParaRPr lang="en-US" sz="1250" dirty="0"/>
          </a:p>
        </p:txBody>
      </p:sp>
      <p:sp>
        <p:nvSpPr>
          <p:cNvPr id="6" name="Shape 4"/>
          <p:cNvSpPr/>
          <p:nvPr/>
        </p:nvSpPr>
        <p:spPr>
          <a:xfrm>
            <a:off x="4709160" y="3063240"/>
            <a:ext cx="2743200" cy="1371600"/>
          </a:xfrm>
          <a:prstGeom prst="roundRect">
            <a:avLst>
              <a:gd name="adj" fmla="val 6667"/>
            </a:avLst>
          </a:prstGeom>
          <a:solidFill>
            <a:srgbClr val="0F1C3F"/>
          </a:solidFill>
          <a:ln/>
        </p:spPr>
      </p:sp>
      <p:sp>
        <p:nvSpPr>
          <p:cNvPr id="7" name="Text 5"/>
          <p:cNvSpPr/>
          <p:nvPr/>
        </p:nvSpPr>
        <p:spPr>
          <a:xfrm>
            <a:off x="4800600" y="3227832"/>
            <a:ext cx="25603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Certificate</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Authority (CA)</a:t>
            </a:r>
            <a:endParaRPr lang="en-US" sz="1300" dirty="0"/>
          </a:p>
        </p:txBody>
      </p:sp>
      <p:sp>
        <p:nvSpPr>
          <p:cNvPr id="8" name="Text 6"/>
          <p:cNvSpPr/>
          <p:nvPr/>
        </p:nvSpPr>
        <p:spPr>
          <a:xfrm>
            <a:off x="4800600" y="3931920"/>
            <a:ext cx="2560320" cy="411480"/>
          </a:xfrm>
          <a:prstGeom prst="rect">
            <a:avLst/>
          </a:prstGeom>
          <a:noFill/>
          <a:ln/>
        </p:spPr>
        <p:txBody>
          <a:bodyPr wrap="square" rtlCol="0" anchor="ctr"/>
          <a:lstStyle/>
          <a:p>
            <a:pPr marL="0" indent="0" algn="ctr">
              <a:buNone/>
            </a:pPr>
            <a:r>
              <a:rPr lang="en-US" sz="950" dirty="0">
                <a:solidFill>
                  <a:srgbClr val="000000"/>
                </a:solidFill>
                <a:latin typeface="Calibri" pitchFamily="34" charset="0"/>
                <a:ea typeface="Calibri" pitchFamily="34" charset="-122"/>
                <a:cs typeface="Calibri" pitchFamily="34" charset="-120"/>
              </a:rPr>
              <a:t>trusted third party</a:t>
            </a:r>
            <a:endParaRPr lang="en-US" sz="950" dirty="0"/>
          </a:p>
        </p:txBody>
      </p:sp>
      <p:sp>
        <p:nvSpPr>
          <p:cNvPr id="9" name="Shape 7"/>
          <p:cNvSpPr/>
          <p:nvPr/>
        </p:nvSpPr>
        <p:spPr>
          <a:xfrm>
            <a:off x="1097280" y="4800600"/>
            <a:ext cx="2743200" cy="1371600"/>
          </a:xfrm>
          <a:prstGeom prst="roundRect">
            <a:avLst>
              <a:gd name="adj" fmla="val 6667"/>
            </a:avLst>
          </a:prstGeom>
          <a:solidFill>
            <a:srgbClr val="17A2B8"/>
          </a:solidFill>
          <a:ln/>
        </p:spPr>
      </p:sp>
      <p:sp>
        <p:nvSpPr>
          <p:cNvPr id="10" name="Text 8"/>
          <p:cNvSpPr/>
          <p:nvPr/>
        </p:nvSpPr>
        <p:spPr>
          <a:xfrm>
            <a:off x="1188720" y="4965192"/>
            <a:ext cx="2560320" cy="5943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Entity</a:t>
            </a:r>
            <a:endParaRPr lang="en-US" sz="1300" dirty="0"/>
          </a:p>
          <a:p>
            <a:pPr marL="0" indent="0" algn="ctr">
              <a:buNone/>
            </a:pPr>
            <a:r>
              <a:rPr lang="en-US" sz="1300" b="1" dirty="0">
                <a:solidFill>
                  <a:srgbClr val="FFFFFF"/>
                </a:solidFill>
                <a:latin typeface="Calibri" pitchFamily="34" charset="0"/>
                <a:ea typeface="Calibri" pitchFamily="34" charset="-122"/>
                <a:cs typeface="Calibri" pitchFamily="34" charset="-120"/>
              </a:rPr>
              <a:t>(e.g. website)</a:t>
            </a:r>
            <a:endParaRPr lang="en-US" sz="1300" dirty="0"/>
          </a:p>
        </p:txBody>
      </p:sp>
      <p:sp>
        <p:nvSpPr>
          <p:cNvPr id="11" name="Text 9"/>
          <p:cNvSpPr/>
          <p:nvPr/>
        </p:nvSpPr>
        <p:spPr>
          <a:xfrm>
            <a:off x="1188720" y="5669280"/>
            <a:ext cx="2560320" cy="411480"/>
          </a:xfrm>
          <a:prstGeom prst="rect">
            <a:avLst/>
          </a:prstGeom>
          <a:noFill/>
          <a:ln/>
        </p:spPr>
        <p:txBody>
          <a:bodyPr wrap="square" rtlCol="0" anchor="ctr"/>
          <a:lstStyle/>
          <a:p>
            <a:pPr marL="0" indent="0" algn="ctr">
              <a:buNone/>
            </a:pPr>
            <a:r>
              <a:rPr lang="en-US" sz="950" dirty="0">
                <a:solidFill>
                  <a:srgbClr val="0F1C3F"/>
                </a:solidFill>
                <a:latin typeface="Calibri" pitchFamily="34" charset="0"/>
                <a:ea typeface="Calibri" pitchFamily="34" charset="-122"/>
                <a:cs typeface="Calibri" pitchFamily="34" charset="-120"/>
              </a:rPr>
              <a:t>requests certificate</a:t>
            </a:r>
            <a:endParaRPr lang="en-US" sz="950" dirty="0"/>
          </a:p>
        </p:txBody>
      </p:sp>
      <p:sp>
        <p:nvSpPr>
          <p:cNvPr id="12" name="Shape 10"/>
          <p:cNvSpPr/>
          <p:nvPr/>
        </p:nvSpPr>
        <p:spPr>
          <a:xfrm>
            <a:off x="8321040" y="4800600"/>
            <a:ext cx="2743200" cy="1371600"/>
          </a:xfrm>
          <a:prstGeom prst="roundRect">
            <a:avLst>
              <a:gd name="adj" fmla="val 6667"/>
            </a:avLst>
          </a:prstGeom>
          <a:solidFill>
            <a:srgbClr val="FFB100"/>
          </a:solidFill>
          <a:ln/>
        </p:spPr>
      </p:sp>
      <p:sp>
        <p:nvSpPr>
          <p:cNvPr id="13" name="Text 11"/>
          <p:cNvSpPr/>
          <p:nvPr/>
        </p:nvSpPr>
        <p:spPr>
          <a:xfrm>
            <a:off x="8412480" y="4965192"/>
            <a:ext cx="2560320" cy="594360"/>
          </a:xfrm>
          <a:prstGeom prst="rect">
            <a:avLst/>
          </a:prstGeom>
          <a:noFill/>
          <a:ln/>
        </p:spPr>
        <p:txBody>
          <a:bodyPr wrap="square" rtlCol="0" anchor="ctr"/>
          <a:lstStyle/>
          <a:p>
            <a:pPr marL="0" indent="0" algn="ctr">
              <a:buNone/>
            </a:pPr>
            <a:r>
              <a:rPr lang="en-US" sz="1300" b="1" dirty="0">
                <a:solidFill>
                  <a:srgbClr val="0F1C3F"/>
                </a:solidFill>
                <a:latin typeface="Calibri" pitchFamily="34" charset="0"/>
                <a:ea typeface="Calibri" pitchFamily="34" charset="-122"/>
                <a:cs typeface="Calibri" pitchFamily="34" charset="-120"/>
              </a:rPr>
              <a:t>Relying Party</a:t>
            </a:r>
            <a:endParaRPr lang="en-US" sz="1300" dirty="0"/>
          </a:p>
          <a:p>
            <a:pPr marL="0" indent="0" algn="ctr">
              <a:buNone/>
            </a:pPr>
            <a:r>
              <a:rPr lang="en-US" sz="1300" b="1" dirty="0">
                <a:solidFill>
                  <a:srgbClr val="0F1C3F"/>
                </a:solidFill>
                <a:latin typeface="Calibri" pitchFamily="34" charset="0"/>
                <a:ea typeface="Calibri" pitchFamily="34" charset="-122"/>
                <a:cs typeface="Calibri" pitchFamily="34" charset="-120"/>
              </a:rPr>
              <a:t>(e.g. your browser)</a:t>
            </a:r>
            <a:endParaRPr lang="en-US" sz="1300" dirty="0"/>
          </a:p>
        </p:txBody>
      </p:sp>
      <p:sp>
        <p:nvSpPr>
          <p:cNvPr id="14" name="Text 12"/>
          <p:cNvSpPr/>
          <p:nvPr/>
        </p:nvSpPr>
        <p:spPr>
          <a:xfrm>
            <a:off x="8412480" y="5669280"/>
            <a:ext cx="2560320" cy="411480"/>
          </a:xfrm>
          <a:prstGeom prst="rect">
            <a:avLst/>
          </a:prstGeom>
          <a:noFill/>
          <a:ln/>
        </p:spPr>
        <p:txBody>
          <a:bodyPr wrap="square" rtlCol="0" anchor="ctr"/>
          <a:lstStyle/>
          <a:p>
            <a:pPr marL="0" indent="0" algn="ctr">
              <a:buNone/>
            </a:pPr>
            <a:r>
              <a:rPr lang="en-US" sz="950" dirty="0">
                <a:solidFill>
                  <a:srgbClr val="6B4E00"/>
                </a:solidFill>
                <a:latin typeface="Calibri" pitchFamily="34" charset="0"/>
                <a:ea typeface="Calibri" pitchFamily="34" charset="-122"/>
                <a:cs typeface="Calibri" pitchFamily="34" charset="-120"/>
              </a:rPr>
              <a:t>verifies certificate</a:t>
            </a:r>
            <a:endParaRPr lang="en-US" sz="950" dirty="0"/>
          </a:p>
        </p:txBody>
      </p:sp>
      <p:sp>
        <p:nvSpPr>
          <p:cNvPr id="15" name="Shape 13"/>
          <p:cNvSpPr/>
          <p:nvPr/>
        </p:nvSpPr>
        <p:spPr>
          <a:xfrm flipH="1">
            <a:off x="3657600" y="4160520"/>
            <a:ext cx="2423160" cy="1005840"/>
          </a:xfrm>
          <a:prstGeom prst="line">
            <a:avLst/>
          </a:prstGeom>
          <a:noFill/>
          <a:ln w="19050">
            <a:solidFill>
              <a:srgbClr val="6B7785"/>
            </a:solidFill>
            <a:prstDash val="dash"/>
            <a:tailEnd type="triangle"/>
          </a:ln>
        </p:spPr>
      </p:sp>
      <p:sp>
        <p:nvSpPr>
          <p:cNvPr id="16" name="Shape 14"/>
          <p:cNvSpPr/>
          <p:nvPr/>
        </p:nvSpPr>
        <p:spPr>
          <a:xfrm>
            <a:off x="6080760" y="4160520"/>
            <a:ext cx="2240280" cy="1005840"/>
          </a:xfrm>
          <a:prstGeom prst="line">
            <a:avLst/>
          </a:prstGeom>
          <a:noFill/>
          <a:ln w="19050">
            <a:solidFill>
              <a:srgbClr val="6B7785"/>
            </a:solidFill>
            <a:prstDash val="dash"/>
            <a:tailEnd type="triangle"/>
          </a:ln>
        </p:spPr>
      </p:sp>
      <p:sp>
        <p:nvSpPr>
          <p:cNvPr id="17" name="Text 15"/>
          <p:cNvSpPr/>
          <p:nvPr/>
        </p:nvSpPr>
        <p:spPr>
          <a:xfrm>
            <a:off x="3017520" y="4480560"/>
            <a:ext cx="1554480" cy="457200"/>
          </a:xfrm>
          <a:prstGeom prst="rect">
            <a:avLst/>
          </a:prstGeom>
          <a:noFill/>
          <a:ln/>
        </p:spPr>
        <p:txBody>
          <a:bodyPr wrap="square" rtlCol="0" anchor="ctr"/>
          <a:lstStyle/>
          <a:p>
            <a:pPr marL="0" indent="0" algn="ctr">
              <a:buNone/>
            </a:pPr>
            <a:r>
              <a:rPr lang="en-US" sz="850" i="1" dirty="0">
                <a:solidFill>
                  <a:srgbClr val="6B7785"/>
                </a:solidFill>
                <a:latin typeface="Calibri" pitchFamily="34" charset="0"/>
                <a:ea typeface="Calibri" pitchFamily="34" charset="-122"/>
                <a:cs typeface="Calibri" pitchFamily="34" charset="-120"/>
              </a:rPr>
              <a:t>issues signed</a:t>
            </a:r>
            <a:endParaRPr lang="en-US" sz="850" dirty="0"/>
          </a:p>
          <a:p>
            <a:pPr marL="0" indent="0" algn="ctr">
              <a:buNone/>
            </a:pPr>
            <a:r>
              <a:rPr lang="en-US" sz="850" i="1" dirty="0">
                <a:solidFill>
                  <a:srgbClr val="6B7785"/>
                </a:solidFill>
                <a:latin typeface="Calibri" pitchFamily="34" charset="0"/>
                <a:ea typeface="Calibri" pitchFamily="34" charset="-122"/>
                <a:cs typeface="Calibri" pitchFamily="34" charset="-120"/>
              </a:rPr>
              <a:t>certificate</a:t>
            </a:r>
            <a:endParaRPr lang="en-US" sz="850" dirty="0"/>
          </a:p>
        </p:txBody>
      </p:sp>
      <p:sp>
        <p:nvSpPr>
          <p:cNvPr id="18" name="Text 16"/>
          <p:cNvSpPr/>
          <p:nvPr/>
        </p:nvSpPr>
        <p:spPr>
          <a:xfrm>
            <a:off x="7223760" y="4480560"/>
            <a:ext cx="1737360" cy="457200"/>
          </a:xfrm>
          <a:prstGeom prst="rect">
            <a:avLst/>
          </a:prstGeom>
          <a:noFill/>
          <a:ln/>
        </p:spPr>
        <p:txBody>
          <a:bodyPr wrap="square" rtlCol="0" anchor="ctr"/>
          <a:lstStyle/>
          <a:p>
            <a:pPr marL="0" indent="0" algn="ctr">
              <a:buNone/>
            </a:pPr>
            <a:r>
              <a:rPr lang="en-US" sz="850" i="1" dirty="0">
                <a:solidFill>
                  <a:srgbClr val="6B7785"/>
                </a:solidFill>
                <a:latin typeface="Calibri" pitchFamily="34" charset="0"/>
                <a:ea typeface="Calibri" pitchFamily="34" charset="-122"/>
                <a:cs typeface="Calibri" pitchFamily="34" charset="-120"/>
              </a:rPr>
              <a:t>CA's public key</a:t>
            </a:r>
            <a:endParaRPr lang="en-US" sz="850" dirty="0"/>
          </a:p>
          <a:p>
            <a:pPr marL="0" indent="0" algn="ctr">
              <a:buNone/>
            </a:pPr>
            <a:r>
              <a:rPr lang="en-US" sz="850" i="1" dirty="0">
                <a:solidFill>
                  <a:srgbClr val="6B7785"/>
                </a:solidFill>
                <a:latin typeface="Calibri" pitchFamily="34" charset="0"/>
                <a:ea typeface="Calibri" pitchFamily="34" charset="-122"/>
                <a:cs typeface="Calibri" pitchFamily="34" charset="-120"/>
              </a:rPr>
              <a:t>verifies signature</a:t>
            </a:r>
            <a:endParaRPr lang="en-US" sz="850" dirty="0"/>
          </a:p>
        </p:txBody>
      </p:sp>
      <p:sp>
        <p:nvSpPr>
          <p:cNvPr id="19" name="Text 17"/>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DIGITAL CERTIFICATES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Anatomy of a Digital Certificate (X.509)</a:t>
            </a:r>
            <a:endParaRPr lang="en-US" sz="3000" dirty="0"/>
          </a:p>
        </p:txBody>
      </p:sp>
      <p:sp>
        <p:nvSpPr>
          <p:cNvPr id="4" name="Shape 2"/>
          <p:cNvSpPr/>
          <p:nvPr/>
        </p:nvSpPr>
        <p:spPr>
          <a:xfrm>
            <a:off x="548640" y="1463040"/>
            <a:ext cx="4206240" cy="4846320"/>
          </a:xfrm>
          <a:prstGeom prst="roundRect">
            <a:avLst>
              <a:gd name="adj" fmla="val 2609"/>
            </a:avLst>
          </a:prstGeom>
          <a:solidFill>
            <a:srgbClr val="0F1C3F"/>
          </a:solidFill>
          <a:ln w="25400">
            <a:solidFill>
              <a:srgbClr val="FFB100"/>
            </a:solidFill>
            <a:prstDash val="solid"/>
          </a:ln>
        </p:spPr>
      </p:sp>
      <p:sp>
        <p:nvSpPr>
          <p:cNvPr id="5" name="Shape 3"/>
          <p:cNvSpPr/>
          <p:nvPr/>
        </p:nvSpPr>
        <p:spPr>
          <a:xfrm>
            <a:off x="777240" y="1691640"/>
            <a:ext cx="3749040" cy="548640"/>
          </a:xfrm>
          <a:prstGeom prst="roundRect">
            <a:avLst>
              <a:gd name="adj" fmla="val 10000"/>
            </a:avLst>
          </a:prstGeom>
          <a:solidFill>
            <a:srgbClr val="FFB100"/>
          </a:solidFill>
          <a:ln/>
        </p:spPr>
      </p:sp>
      <p:sp>
        <p:nvSpPr>
          <p:cNvPr id="6" name="Text 4"/>
          <p:cNvSpPr/>
          <p:nvPr/>
        </p:nvSpPr>
        <p:spPr>
          <a:xfrm>
            <a:off x="777240" y="1691640"/>
            <a:ext cx="3749040" cy="548640"/>
          </a:xfrm>
          <a:prstGeom prst="rect">
            <a:avLst/>
          </a:prstGeom>
          <a:noFill/>
          <a:ln/>
        </p:spPr>
        <p:txBody>
          <a:bodyPr wrap="square" rtlCol="0" anchor="ctr"/>
          <a:lstStyle/>
          <a:p>
            <a:pPr marL="0" indent="0" algn="ctr">
              <a:buNone/>
            </a:pPr>
            <a:r>
              <a:rPr lang="en-US" sz="1300" b="1" dirty="0">
                <a:solidFill>
                  <a:srgbClr val="0F1C3F"/>
                </a:solidFill>
                <a:latin typeface="Calibri" pitchFamily="34" charset="0"/>
                <a:ea typeface="Calibri" pitchFamily="34" charset="-122"/>
                <a:cs typeface="Calibri" pitchFamily="34" charset="-120"/>
              </a:rPr>
              <a:t>DIGITAL CERTIFICATE</a:t>
            </a:r>
            <a:endParaRPr lang="en-US" sz="1300" dirty="0"/>
          </a:p>
        </p:txBody>
      </p:sp>
      <p:sp>
        <p:nvSpPr>
          <p:cNvPr id="7" name="Shape 5"/>
          <p:cNvSpPr/>
          <p:nvPr/>
        </p:nvSpPr>
        <p:spPr>
          <a:xfrm>
            <a:off x="2148840" y="2514600"/>
            <a:ext cx="1005840" cy="1005840"/>
          </a:xfrm>
          <a:prstGeom prst="ellipse">
            <a:avLst/>
          </a:prstGeom>
          <a:solidFill>
            <a:srgbClr val="182A55"/>
          </a:solidFill>
          <a:ln w="19050">
            <a:solidFill>
              <a:srgbClr val="17A2B8"/>
            </a:solidFill>
            <a:prstDash val="solid"/>
          </a:ln>
        </p:spPr>
      </p:sp>
      <p:sp>
        <p:nvSpPr>
          <p:cNvPr id="8" name="Text 6"/>
          <p:cNvSpPr/>
          <p:nvPr/>
        </p:nvSpPr>
        <p:spPr>
          <a:xfrm>
            <a:off x="2148840" y="2514600"/>
            <a:ext cx="1005840" cy="100584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914400" y="3703320"/>
            <a:ext cx="3474720" cy="731520"/>
          </a:xfrm>
          <a:prstGeom prst="rect">
            <a:avLst/>
          </a:prstGeom>
          <a:noFill/>
          <a:ln/>
        </p:spPr>
        <p:txBody>
          <a:bodyPr wrap="square" rtlCol="0" anchor="ctr"/>
          <a:lstStyle/>
          <a:p>
            <a:pPr marL="0" indent="0" algn="ctr">
              <a:buNone/>
            </a:pPr>
            <a:r>
              <a:rPr lang="en-US" sz="1100" i="1" dirty="0">
                <a:solidFill>
                  <a:srgbClr val="5FD0DE"/>
                </a:solidFill>
                <a:latin typeface="Calibri" pitchFamily="34" charset="0"/>
                <a:ea typeface="Calibri" pitchFamily="34" charset="-122"/>
                <a:cs typeface="Calibri" pitchFamily="34" charset="-120"/>
              </a:rPr>
              <a:t>Public Key + Identity</a:t>
            </a:r>
            <a:endParaRPr lang="en-US" sz="1100" dirty="0"/>
          </a:p>
          <a:p>
            <a:pPr marL="0" indent="0" algn="ctr">
              <a:buNone/>
            </a:pPr>
            <a:r>
              <a:rPr lang="en-US" sz="1100" i="1" dirty="0">
                <a:solidFill>
                  <a:srgbClr val="5FD0DE"/>
                </a:solidFill>
                <a:latin typeface="Calibri" pitchFamily="34" charset="0"/>
                <a:ea typeface="Calibri" pitchFamily="34" charset="-122"/>
                <a:cs typeface="Calibri" pitchFamily="34" charset="-120"/>
              </a:rPr>
              <a:t>bound together,</a:t>
            </a:r>
            <a:endParaRPr lang="en-US" sz="1100" dirty="0"/>
          </a:p>
          <a:p>
            <a:pPr marL="0" indent="0" algn="ctr">
              <a:buNone/>
            </a:pPr>
            <a:r>
              <a:rPr lang="en-US" sz="1100" i="1" dirty="0">
                <a:solidFill>
                  <a:srgbClr val="5FD0DE"/>
                </a:solidFill>
                <a:latin typeface="Calibri" pitchFamily="34" charset="0"/>
                <a:ea typeface="Calibri" pitchFamily="34" charset="-122"/>
                <a:cs typeface="Calibri" pitchFamily="34" charset="-120"/>
              </a:rPr>
              <a:t>signed by a CA</a:t>
            </a:r>
            <a:endParaRPr lang="en-US" sz="1100" dirty="0"/>
          </a:p>
        </p:txBody>
      </p:sp>
      <p:sp>
        <p:nvSpPr>
          <p:cNvPr id="10" name="Shape 8"/>
          <p:cNvSpPr/>
          <p:nvPr/>
        </p:nvSpPr>
        <p:spPr>
          <a:xfrm>
            <a:off x="822960" y="5394960"/>
            <a:ext cx="3657600" cy="640080"/>
          </a:xfrm>
          <a:prstGeom prst="roundRect">
            <a:avLst>
              <a:gd name="adj" fmla="val 8571"/>
            </a:avLst>
          </a:prstGeom>
          <a:solidFill>
            <a:srgbClr val="182A55"/>
          </a:solidFill>
          <a:ln/>
        </p:spPr>
      </p:sp>
      <p:sp>
        <p:nvSpPr>
          <p:cNvPr id="11" name="Text 9"/>
          <p:cNvSpPr/>
          <p:nvPr/>
        </p:nvSpPr>
        <p:spPr>
          <a:xfrm>
            <a:off x="822960" y="5394960"/>
            <a:ext cx="3657600" cy="640080"/>
          </a:xfrm>
          <a:prstGeom prst="rect">
            <a:avLst/>
          </a:prstGeom>
          <a:noFill/>
          <a:ln/>
        </p:spPr>
        <p:txBody>
          <a:bodyPr wrap="square" rtlCol="0" anchor="ctr"/>
          <a:lstStyle/>
          <a:p>
            <a:pPr marL="0" indent="0" algn="ctr">
              <a:buNone/>
            </a:pPr>
            <a:r>
              <a:rPr lang="en-US" sz="1000" i="1" dirty="0">
                <a:solidFill>
                  <a:srgbClr val="FFB100"/>
                </a:solidFill>
                <a:latin typeface="Courier New" pitchFamily="34" charset="0"/>
                <a:ea typeface="Courier New" pitchFamily="34" charset="-122"/>
                <a:cs typeface="Courier New" pitchFamily="34" charset="-120"/>
              </a:rPr>
              <a:t>Signed: Certificate Authority</a:t>
            </a:r>
            <a:endParaRPr lang="en-US" sz="1000" dirty="0"/>
          </a:p>
        </p:txBody>
      </p:sp>
      <p:sp>
        <p:nvSpPr>
          <p:cNvPr id="12" name="Shape 10"/>
          <p:cNvSpPr/>
          <p:nvPr/>
        </p:nvSpPr>
        <p:spPr>
          <a:xfrm>
            <a:off x="5120640" y="1490472"/>
            <a:ext cx="6519672" cy="514350"/>
          </a:xfrm>
          <a:prstGeom prst="roundRect">
            <a:avLst>
              <a:gd name="adj" fmla="val 8889"/>
            </a:avLst>
          </a:prstGeom>
          <a:solidFill>
            <a:srgbClr val="FFFFFF"/>
          </a:solidFill>
          <a:ln w="9525">
            <a:solidFill>
              <a:srgbClr val="D7DEE7"/>
            </a:solidFill>
            <a:prstDash val="solid"/>
          </a:ln>
        </p:spPr>
      </p:sp>
      <p:sp>
        <p:nvSpPr>
          <p:cNvPr id="13" name="Text 11"/>
          <p:cNvSpPr/>
          <p:nvPr/>
        </p:nvSpPr>
        <p:spPr>
          <a:xfrm>
            <a:off x="5257800" y="149047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Version</a:t>
            </a:r>
            <a:endParaRPr lang="en-US" sz="1100" dirty="0"/>
          </a:p>
        </p:txBody>
      </p:sp>
      <p:sp>
        <p:nvSpPr>
          <p:cNvPr id="14" name="Text 12"/>
          <p:cNvSpPr/>
          <p:nvPr/>
        </p:nvSpPr>
        <p:spPr>
          <a:xfrm>
            <a:off x="7498080" y="149047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X.509 format version (e.g. v3)</a:t>
            </a:r>
            <a:endParaRPr lang="en-US" sz="1000" dirty="0"/>
          </a:p>
        </p:txBody>
      </p:sp>
      <p:sp>
        <p:nvSpPr>
          <p:cNvPr id="15" name="Shape 13"/>
          <p:cNvSpPr/>
          <p:nvPr/>
        </p:nvSpPr>
        <p:spPr>
          <a:xfrm>
            <a:off x="5120640" y="2096262"/>
            <a:ext cx="6519672" cy="514350"/>
          </a:xfrm>
          <a:prstGeom prst="roundRect">
            <a:avLst>
              <a:gd name="adj" fmla="val 8889"/>
            </a:avLst>
          </a:prstGeom>
          <a:solidFill>
            <a:srgbClr val="F4F7FB"/>
          </a:solidFill>
          <a:ln w="9525">
            <a:solidFill>
              <a:srgbClr val="D7DEE7"/>
            </a:solidFill>
            <a:prstDash val="solid"/>
          </a:ln>
        </p:spPr>
      </p:sp>
      <p:sp>
        <p:nvSpPr>
          <p:cNvPr id="16" name="Text 14"/>
          <p:cNvSpPr/>
          <p:nvPr/>
        </p:nvSpPr>
        <p:spPr>
          <a:xfrm>
            <a:off x="5257800" y="209626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Serial Number</a:t>
            </a:r>
            <a:endParaRPr lang="en-US" sz="1100" dirty="0"/>
          </a:p>
        </p:txBody>
      </p:sp>
      <p:sp>
        <p:nvSpPr>
          <p:cNvPr id="17" name="Text 15"/>
          <p:cNvSpPr/>
          <p:nvPr/>
        </p:nvSpPr>
        <p:spPr>
          <a:xfrm>
            <a:off x="7498080" y="209626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Unique ID assigned by the CA</a:t>
            </a:r>
            <a:endParaRPr lang="en-US" sz="1000" dirty="0"/>
          </a:p>
        </p:txBody>
      </p:sp>
      <p:sp>
        <p:nvSpPr>
          <p:cNvPr id="18" name="Shape 16"/>
          <p:cNvSpPr/>
          <p:nvPr/>
        </p:nvSpPr>
        <p:spPr>
          <a:xfrm>
            <a:off x="5120640" y="2702052"/>
            <a:ext cx="6519672" cy="514350"/>
          </a:xfrm>
          <a:prstGeom prst="roundRect">
            <a:avLst>
              <a:gd name="adj" fmla="val 8889"/>
            </a:avLst>
          </a:prstGeom>
          <a:solidFill>
            <a:srgbClr val="FFFFFF"/>
          </a:solidFill>
          <a:ln w="9525">
            <a:solidFill>
              <a:srgbClr val="D7DEE7"/>
            </a:solidFill>
            <a:prstDash val="solid"/>
          </a:ln>
        </p:spPr>
      </p:sp>
      <p:sp>
        <p:nvSpPr>
          <p:cNvPr id="19" name="Text 17"/>
          <p:cNvSpPr/>
          <p:nvPr/>
        </p:nvSpPr>
        <p:spPr>
          <a:xfrm>
            <a:off x="5257800" y="270205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Signature Algorithm</a:t>
            </a:r>
            <a:endParaRPr lang="en-US" sz="1100" dirty="0"/>
          </a:p>
        </p:txBody>
      </p:sp>
      <p:sp>
        <p:nvSpPr>
          <p:cNvPr id="20" name="Text 18"/>
          <p:cNvSpPr/>
          <p:nvPr/>
        </p:nvSpPr>
        <p:spPr>
          <a:xfrm>
            <a:off x="7498080" y="270205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e.g. SHA-256 with RSA</a:t>
            </a:r>
            <a:endParaRPr lang="en-US" sz="1000" dirty="0"/>
          </a:p>
        </p:txBody>
      </p:sp>
      <p:sp>
        <p:nvSpPr>
          <p:cNvPr id="21" name="Shape 19"/>
          <p:cNvSpPr/>
          <p:nvPr/>
        </p:nvSpPr>
        <p:spPr>
          <a:xfrm>
            <a:off x="5120640" y="3307842"/>
            <a:ext cx="6519672" cy="514350"/>
          </a:xfrm>
          <a:prstGeom prst="roundRect">
            <a:avLst>
              <a:gd name="adj" fmla="val 8889"/>
            </a:avLst>
          </a:prstGeom>
          <a:solidFill>
            <a:srgbClr val="F4F7FB"/>
          </a:solidFill>
          <a:ln w="9525">
            <a:solidFill>
              <a:srgbClr val="D7DEE7"/>
            </a:solidFill>
            <a:prstDash val="solid"/>
          </a:ln>
        </p:spPr>
      </p:sp>
      <p:sp>
        <p:nvSpPr>
          <p:cNvPr id="22" name="Text 20"/>
          <p:cNvSpPr/>
          <p:nvPr/>
        </p:nvSpPr>
        <p:spPr>
          <a:xfrm>
            <a:off x="5257800" y="330784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Issuer</a:t>
            </a:r>
            <a:endParaRPr lang="en-US" sz="1100" dirty="0"/>
          </a:p>
        </p:txBody>
      </p:sp>
      <p:sp>
        <p:nvSpPr>
          <p:cNvPr id="23" name="Text 21"/>
          <p:cNvSpPr/>
          <p:nvPr/>
        </p:nvSpPr>
        <p:spPr>
          <a:xfrm>
            <a:off x="7498080" y="330784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Name of the Certificate Authority</a:t>
            </a:r>
            <a:endParaRPr lang="en-US" sz="1000" dirty="0"/>
          </a:p>
        </p:txBody>
      </p:sp>
      <p:sp>
        <p:nvSpPr>
          <p:cNvPr id="24" name="Shape 22"/>
          <p:cNvSpPr/>
          <p:nvPr/>
        </p:nvSpPr>
        <p:spPr>
          <a:xfrm>
            <a:off x="5120640" y="3913632"/>
            <a:ext cx="6519672" cy="514350"/>
          </a:xfrm>
          <a:prstGeom prst="roundRect">
            <a:avLst>
              <a:gd name="adj" fmla="val 8889"/>
            </a:avLst>
          </a:prstGeom>
          <a:solidFill>
            <a:srgbClr val="FFFFFF"/>
          </a:solidFill>
          <a:ln w="9525">
            <a:solidFill>
              <a:srgbClr val="D7DEE7"/>
            </a:solidFill>
            <a:prstDash val="solid"/>
          </a:ln>
        </p:spPr>
      </p:sp>
      <p:sp>
        <p:nvSpPr>
          <p:cNvPr id="25" name="Text 23"/>
          <p:cNvSpPr/>
          <p:nvPr/>
        </p:nvSpPr>
        <p:spPr>
          <a:xfrm>
            <a:off x="5257800" y="391363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Validity Period</a:t>
            </a:r>
            <a:endParaRPr lang="en-US" sz="1100" dirty="0"/>
          </a:p>
        </p:txBody>
      </p:sp>
      <p:sp>
        <p:nvSpPr>
          <p:cNvPr id="26" name="Text 24"/>
          <p:cNvSpPr/>
          <p:nvPr/>
        </p:nvSpPr>
        <p:spPr>
          <a:xfrm>
            <a:off x="7498080" y="391363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"Not Before" / "Not After" dates</a:t>
            </a:r>
            <a:endParaRPr lang="en-US" sz="1000" dirty="0"/>
          </a:p>
        </p:txBody>
      </p:sp>
      <p:sp>
        <p:nvSpPr>
          <p:cNvPr id="27" name="Shape 25"/>
          <p:cNvSpPr/>
          <p:nvPr/>
        </p:nvSpPr>
        <p:spPr>
          <a:xfrm>
            <a:off x="5120640" y="4519422"/>
            <a:ext cx="6519672" cy="514350"/>
          </a:xfrm>
          <a:prstGeom prst="roundRect">
            <a:avLst>
              <a:gd name="adj" fmla="val 8889"/>
            </a:avLst>
          </a:prstGeom>
          <a:solidFill>
            <a:srgbClr val="F4F7FB"/>
          </a:solidFill>
          <a:ln w="9525">
            <a:solidFill>
              <a:srgbClr val="D7DEE7"/>
            </a:solidFill>
            <a:prstDash val="solid"/>
          </a:ln>
        </p:spPr>
      </p:sp>
      <p:sp>
        <p:nvSpPr>
          <p:cNvPr id="28" name="Text 26"/>
          <p:cNvSpPr/>
          <p:nvPr/>
        </p:nvSpPr>
        <p:spPr>
          <a:xfrm>
            <a:off x="5257800" y="451942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Subject</a:t>
            </a:r>
            <a:endParaRPr lang="en-US" sz="1100" dirty="0"/>
          </a:p>
        </p:txBody>
      </p:sp>
      <p:sp>
        <p:nvSpPr>
          <p:cNvPr id="29" name="Text 27"/>
          <p:cNvSpPr/>
          <p:nvPr/>
        </p:nvSpPr>
        <p:spPr>
          <a:xfrm>
            <a:off x="7498080" y="451942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Identity the certificate is issued to</a:t>
            </a:r>
            <a:endParaRPr lang="en-US" sz="1000" dirty="0"/>
          </a:p>
        </p:txBody>
      </p:sp>
      <p:sp>
        <p:nvSpPr>
          <p:cNvPr id="30" name="Shape 28"/>
          <p:cNvSpPr/>
          <p:nvPr/>
        </p:nvSpPr>
        <p:spPr>
          <a:xfrm>
            <a:off x="5120640" y="5125212"/>
            <a:ext cx="6519672" cy="514350"/>
          </a:xfrm>
          <a:prstGeom prst="roundRect">
            <a:avLst>
              <a:gd name="adj" fmla="val 8889"/>
            </a:avLst>
          </a:prstGeom>
          <a:solidFill>
            <a:srgbClr val="FFFFFF"/>
          </a:solidFill>
          <a:ln w="9525">
            <a:solidFill>
              <a:srgbClr val="D7DEE7"/>
            </a:solidFill>
            <a:prstDash val="solid"/>
          </a:ln>
        </p:spPr>
      </p:sp>
      <p:sp>
        <p:nvSpPr>
          <p:cNvPr id="31" name="Text 29"/>
          <p:cNvSpPr/>
          <p:nvPr/>
        </p:nvSpPr>
        <p:spPr>
          <a:xfrm>
            <a:off x="5257800" y="512521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Subject Public Key</a:t>
            </a:r>
            <a:endParaRPr lang="en-US" sz="1100" dirty="0"/>
          </a:p>
        </p:txBody>
      </p:sp>
      <p:sp>
        <p:nvSpPr>
          <p:cNvPr id="32" name="Text 30"/>
          <p:cNvSpPr/>
          <p:nvPr/>
        </p:nvSpPr>
        <p:spPr>
          <a:xfrm>
            <a:off x="7498080" y="512521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The public key being certified</a:t>
            </a:r>
            <a:endParaRPr lang="en-US" sz="1000" dirty="0"/>
          </a:p>
        </p:txBody>
      </p:sp>
      <p:sp>
        <p:nvSpPr>
          <p:cNvPr id="33" name="Shape 31"/>
          <p:cNvSpPr/>
          <p:nvPr/>
        </p:nvSpPr>
        <p:spPr>
          <a:xfrm>
            <a:off x="5120640" y="5731002"/>
            <a:ext cx="6519672" cy="514350"/>
          </a:xfrm>
          <a:prstGeom prst="roundRect">
            <a:avLst>
              <a:gd name="adj" fmla="val 8889"/>
            </a:avLst>
          </a:prstGeom>
          <a:solidFill>
            <a:srgbClr val="F4F7FB"/>
          </a:solidFill>
          <a:ln w="9525">
            <a:solidFill>
              <a:srgbClr val="D7DEE7"/>
            </a:solidFill>
            <a:prstDash val="solid"/>
          </a:ln>
        </p:spPr>
      </p:sp>
      <p:sp>
        <p:nvSpPr>
          <p:cNvPr id="34" name="Text 32"/>
          <p:cNvSpPr/>
          <p:nvPr/>
        </p:nvSpPr>
        <p:spPr>
          <a:xfrm>
            <a:off x="5257800" y="5731002"/>
            <a:ext cx="2194560" cy="514350"/>
          </a:xfrm>
          <a:prstGeom prst="rect">
            <a:avLst/>
          </a:prstGeom>
          <a:noFill/>
          <a:ln/>
        </p:spPr>
        <p:txBody>
          <a:bodyPr wrap="square" rtlCol="0" anchor="ctr"/>
          <a:lstStyle/>
          <a:p>
            <a:pPr marL="0" indent="0">
              <a:buNone/>
            </a:pPr>
            <a:r>
              <a:rPr lang="en-US" sz="1100" b="1" dirty="0">
                <a:solidFill>
                  <a:srgbClr val="0F1C3F"/>
                </a:solidFill>
                <a:latin typeface="Calibri" pitchFamily="34" charset="0"/>
                <a:ea typeface="Calibri" pitchFamily="34" charset="-122"/>
                <a:cs typeface="Calibri" pitchFamily="34" charset="-120"/>
              </a:rPr>
              <a:t>CA's Digital Signature</a:t>
            </a:r>
            <a:endParaRPr lang="en-US" sz="1100" dirty="0"/>
          </a:p>
        </p:txBody>
      </p:sp>
      <p:sp>
        <p:nvSpPr>
          <p:cNvPr id="35" name="Text 33"/>
          <p:cNvSpPr/>
          <p:nvPr/>
        </p:nvSpPr>
        <p:spPr>
          <a:xfrm>
            <a:off x="7498080" y="5731002"/>
            <a:ext cx="4005072" cy="514350"/>
          </a:xfrm>
          <a:prstGeom prst="rect">
            <a:avLst/>
          </a:prstGeom>
          <a:noFill/>
          <a:ln/>
        </p:spPr>
        <p:txBody>
          <a:bodyPr wrap="square" rtlCol="0" anchor="ctr"/>
          <a:lstStyle/>
          <a:p>
            <a:pPr marL="0" indent="0">
              <a:buNone/>
            </a:pPr>
            <a:r>
              <a:rPr lang="en-US" sz="1000" dirty="0">
                <a:solidFill>
                  <a:srgbClr val="6B7785"/>
                </a:solidFill>
                <a:latin typeface="Calibri" pitchFamily="34" charset="0"/>
                <a:ea typeface="Calibri" pitchFamily="34" charset="-122"/>
                <a:cs typeface="Calibri" pitchFamily="34" charset="-120"/>
              </a:rPr>
              <a:t>CA's signature over all the above fields</a:t>
            </a:r>
            <a:endParaRPr lang="en-US" sz="1000" dirty="0"/>
          </a:p>
        </p:txBody>
      </p:sp>
      <p:sp>
        <p:nvSpPr>
          <p:cNvPr id="36" name="Text 34"/>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37" name="Text 3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3137A12-E355-9EF3-FE07-C7EA8460FBEB}"/>
              </a:ext>
            </a:extLst>
          </p:cNvPr>
          <p:cNvSpPr>
            <a:spLocks noChangeArrowheads="1"/>
          </p:cNvSpPr>
          <p:nvPr/>
        </p:nvSpPr>
        <p:spPr bwMode="auto">
          <a:xfrm>
            <a:off x="4724400" y="1291569"/>
            <a:ext cx="3735318" cy="2831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tx1"/>
                </a:solidFill>
                <a:effectLst/>
                <a:latin typeface="Arial" panose="020B0604020202020204" pitchFamily="34" charset="0"/>
              </a:rPr>
              <a:t>DigiCert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err="1">
                <a:ln>
                  <a:noFill/>
                </a:ln>
                <a:solidFill>
                  <a:schemeClr val="tx1"/>
                </a:solidFill>
                <a:effectLst/>
                <a:latin typeface="Arial" panose="020B0604020202020204" pitchFamily="34" charset="0"/>
              </a:rPr>
              <a:t>Sectigo</a:t>
            </a:r>
            <a:r>
              <a:rPr kumimoji="0" lang="en-US" altLang="en-US" sz="4000" b="1"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tx1"/>
                </a:solidFill>
                <a:effectLst/>
                <a:latin typeface="Arial" panose="020B0604020202020204" pitchFamily="34" charset="0"/>
              </a:rPr>
              <a:t>GlobalSign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4000" b="1" i="0" u="none" strike="noStrike" cap="none" normalizeH="0" baseline="0" dirty="0">
                <a:ln>
                  <a:noFill/>
                </a:ln>
                <a:solidFill>
                  <a:schemeClr val="tx1"/>
                </a:solidFill>
                <a:effectLst/>
                <a:latin typeface="Arial" panose="020B0604020202020204" pitchFamily="34" charset="0"/>
              </a:rPr>
              <a:t>Let's Encrypt </a:t>
            </a:r>
          </a:p>
        </p:txBody>
      </p:sp>
    </p:spTree>
    <p:extLst>
      <p:ext uri="{BB962C8B-B14F-4D97-AF65-F5344CB8AC3E}">
        <p14:creationId xmlns:p14="http://schemas.microsoft.com/office/powerpoint/2010/main" val="14974157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6">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DIGITAL CERTIFICATES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Digital Certificates — Advantages &amp; Disadvantages</a:t>
            </a:r>
            <a:endParaRPr lang="en-US" sz="3000" dirty="0"/>
          </a:p>
        </p:txBody>
      </p:sp>
      <p:sp>
        <p:nvSpPr>
          <p:cNvPr id="4" name="Shape 2"/>
          <p:cNvSpPr/>
          <p:nvPr/>
        </p:nvSpPr>
        <p:spPr>
          <a:xfrm>
            <a:off x="548640" y="1417320"/>
            <a:ext cx="5394960" cy="502920"/>
          </a:xfrm>
          <a:prstGeom prst="roundRect">
            <a:avLst>
              <a:gd name="adj" fmla="val 10909"/>
            </a:avLst>
          </a:prstGeom>
          <a:solidFill>
            <a:srgbClr val="2E8B57"/>
          </a:solidFill>
          <a:ln/>
        </p:spPr>
      </p:sp>
      <p:sp>
        <p:nvSpPr>
          <p:cNvPr id="5" name="Text 3"/>
          <p:cNvSpPr/>
          <p:nvPr/>
        </p:nvSpPr>
        <p:spPr>
          <a:xfrm>
            <a:off x="548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p>
        </p:txBody>
      </p:sp>
      <p:sp>
        <p:nvSpPr>
          <p:cNvPr id="6" name="Shape 4"/>
          <p:cNvSpPr/>
          <p:nvPr/>
        </p:nvSpPr>
        <p:spPr>
          <a:xfrm>
            <a:off x="548640" y="1920240"/>
            <a:ext cx="5394960" cy="2606040"/>
          </a:xfrm>
          <a:prstGeom prst="roundRect">
            <a:avLst>
              <a:gd name="adj" fmla="val 2105"/>
            </a:avLst>
          </a:prstGeom>
          <a:solidFill>
            <a:srgbClr val="E7F4EC"/>
          </a:solidFill>
          <a:ln w="12700">
            <a:solidFill>
              <a:srgbClr val="D7DEE7"/>
            </a:solidFill>
            <a:prstDash val="solid"/>
          </a:ln>
        </p:spPr>
      </p:sp>
      <p:sp>
        <p:nvSpPr>
          <p:cNvPr id="7" name="Text 5"/>
          <p:cNvSpPr/>
          <p:nvPr/>
        </p:nvSpPr>
        <p:spPr>
          <a:xfrm>
            <a:off x="804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Establishes verifiable trust between strangers over an open network</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Prevents impersonation / man-in-the-middle attacks (e.g. fake websites)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Enables HTTPS padlock, secure email, and code-signing trust chains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Certificates can be revoked quickly if a key is compromised</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Standardized (X.509) — interoperable across browsers, OSs, and devices</a:t>
            </a:r>
            <a:endParaRPr lang="en-US" sz="1250" dirty="0"/>
          </a:p>
        </p:txBody>
      </p:sp>
      <p:sp>
        <p:nvSpPr>
          <p:cNvPr id="8" name="Shape 6"/>
          <p:cNvSpPr/>
          <p:nvPr/>
        </p:nvSpPr>
        <p:spPr>
          <a:xfrm>
            <a:off x="6263640" y="1417320"/>
            <a:ext cx="5394960" cy="502920"/>
          </a:xfrm>
          <a:prstGeom prst="roundRect">
            <a:avLst>
              <a:gd name="adj" fmla="val 10909"/>
            </a:avLst>
          </a:prstGeom>
          <a:solidFill>
            <a:srgbClr val="C0392B"/>
          </a:solidFill>
          <a:ln/>
        </p:spPr>
      </p:sp>
      <p:sp>
        <p:nvSpPr>
          <p:cNvPr id="9" name="Text 7"/>
          <p:cNvSpPr/>
          <p:nvPr/>
        </p:nvSpPr>
        <p:spPr>
          <a:xfrm>
            <a:off x="6263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DISADVANTAGES</a:t>
            </a:r>
            <a:endParaRPr lang="en-US" sz="1400" dirty="0"/>
          </a:p>
        </p:txBody>
      </p:sp>
      <p:sp>
        <p:nvSpPr>
          <p:cNvPr id="10" name="Shape 8"/>
          <p:cNvSpPr/>
          <p:nvPr/>
        </p:nvSpPr>
        <p:spPr>
          <a:xfrm>
            <a:off x="6263640" y="1920240"/>
            <a:ext cx="5394960" cy="2606040"/>
          </a:xfrm>
          <a:prstGeom prst="roundRect">
            <a:avLst>
              <a:gd name="adj" fmla="val 2105"/>
            </a:avLst>
          </a:prstGeom>
          <a:solidFill>
            <a:srgbClr val="FBEAE8"/>
          </a:solidFill>
          <a:ln w="12700">
            <a:solidFill>
              <a:srgbClr val="D7DEE7"/>
            </a:solidFill>
            <a:prstDash val="solid"/>
          </a:ln>
        </p:spPr>
      </p:sp>
      <p:sp>
        <p:nvSpPr>
          <p:cNvPr id="11" name="Text 9"/>
          <p:cNvSpPr/>
          <p:nvPr/>
        </p:nvSpPr>
        <p:spPr>
          <a:xfrm>
            <a:off x="6519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Entire system depends on trusting the issuing CA — a compromised CA undermines all its certificates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Certificates expire and must be renewed / tracked, adding operational overhead</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Revocation checking (CRL/OCSP) can be slow or skipped by clients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Cost and process of obtaining certificates from a trusted CA</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Misissued or fraudulent certificates have happened (CA breaches)</a:t>
            </a:r>
            <a:endParaRPr lang="en-US" sz="1250" dirty="0"/>
          </a:p>
        </p:txBody>
      </p:sp>
      <p:sp>
        <p:nvSpPr>
          <p:cNvPr id="12" name="Text 1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7">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PUBLIC KEY INFRASTRUCTURE</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Public Key Infrastructure (PKI) — Components</a:t>
            </a:r>
            <a:endParaRPr lang="en-US" sz="3000" dirty="0"/>
          </a:p>
        </p:txBody>
      </p:sp>
      <p:sp>
        <p:nvSpPr>
          <p:cNvPr id="4" name="Text 2"/>
          <p:cNvSpPr/>
          <p:nvPr/>
        </p:nvSpPr>
        <p:spPr>
          <a:xfrm>
            <a:off x="548640" y="1371600"/>
            <a:ext cx="11064240" cy="548640"/>
          </a:xfrm>
          <a:prstGeom prst="rect">
            <a:avLst/>
          </a:prstGeom>
          <a:noFill/>
          <a:ln/>
        </p:spPr>
        <p:txBody>
          <a:bodyPr wrap="square" rtlCol="0" anchor="t"/>
          <a:lstStyle/>
          <a:p>
            <a:pPr marL="0" indent="0">
              <a:buNone/>
            </a:pPr>
            <a:r>
              <a:rPr lang="en-US" sz="1250" dirty="0">
                <a:solidFill>
                  <a:srgbClr val="1B2430"/>
                </a:solidFill>
                <a:latin typeface="Calibri" pitchFamily="34" charset="0"/>
                <a:ea typeface="Calibri" pitchFamily="34" charset="-122"/>
                <a:cs typeface="Calibri" pitchFamily="34" charset="-120"/>
              </a:rPr>
              <a:t>PKI is the complete framework of policies, roles, hardware, software, and procedures needed to create, manage, distribute, use, store, and revoke digital certificates and public keys at scale.</a:t>
            </a:r>
            <a:endParaRPr lang="en-US" sz="1250" dirty="0"/>
          </a:p>
        </p:txBody>
      </p:sp>
      <p:sp>
        <p:nvSpPr>
          <p:cNvPr id="5" name="Shape 3"/>
          <p:cNvSpPr/>
          <p:nvPr/>
        </p:nvSpPr>
        <p:spPr>
          <a:xfrm>
            <a:off x="548640" y="2103120"/>
            <a:ext cx="3566160" cy="1691640"/>
          </a:xfrm>
          <a:prstGeom prst="roundRect">
            <a:avLst>
              <a:gd name="adj" fmla="val 4324"/>
            </a:avLst>
          </a:prstGeom>
          <a:solidFill>
            <a:srgbClr val="FFFFFF"/>
          </a:solidFill>
          <a:ln w="12700">
            <a:solidFill>
              <a:srgbClr val="D7DEE7"/>
            </a:solidFill>
            <a:prstDash val="solid"/>
          </a:ln>
          <a:effectLst>
            <a:outerShdw blurRad="50800" dist="25400" dir="5400000" algn="bl" rotWithShape="0">
              <a:srgbClr val="AAAAAA">
                <a:alpha val="20000"/>
              </a:srgbClr>
            </a:outerShdw>
          </a:effectLst>
        </p:spPr>
      </p:sp>
      <p:sp>
        <p:nvSpPr>
          <p:cNvPr id="6" name="Shape 4"/>
          <p:cNvSpPr/>
          <p:nvPr/>
        </p:nvSpPr>
        <p:spPr>
          <a:xfrm>
            <a:off x="713232" y="2267712"/>
            <a:ext cx="457200" cy="457200"/>
          </a:xfrm>
          <a:prstGeom prst="roundRect">
            <a:avLst>
              <a:gd name="adj" fmla="val 16000"/>
            </a:avLst>
          </a:prstGeom>
          <a:solidFill>
            <a:srgbClr val="0F1C3F"/>
          </a:solidFill>
          <a:ln/>
        </p:spPr>
      </p:sp>
      <p:sp>
        <p:nvSpPr>
          <p:cNvPr id="7" name="Text 5"/>
          <p:cNvSpPr/>
          <p:nvPr/>
        </p:nvSpPr>
        <p:spPr>
          <a:xfrm>
            <a:off x="713232" y="226771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325880" y="2231136"/>
            <a:ext cx="2651760" cy="548640"/>
          </a:xfrm>
          <a:prstGeom prst="rect">
            <a:avLst/>
          </a:prstGeom>
          <a:noFill/>
          <a:ln/>
        </p:spPr>
        <p:txBody>
          <a:bodyPr wrap="square" rtlCol="0" anchor="t"/>
          <a:lstStyle/>
          <a:p>
            <a:pPr marL="0" indent="0">
              <a:buNone/>
            </a:pPr>
            <a:r>
              <a:rPr lang="en-US" sz="1200" b="1" dirty="0">
                <a:solidFill>
                  <a:srgbClr val="0F1C3F"/>
                </a:solidFill>
                <a:latin typeface="Calibri" pitchFamily="34" charset="0"/>
                <a:ea typeface="Calibri" pitchFamily="34" charset="-122"/>
                <a:cs typeface="Calibri" pitchFamily="34" charset="-120"/>
              </a:rPr>
              <a:t>Certificate Authority (CA)</a:t>
            </a:r>
            <a:endParaRPr lang="en-US" sz="1200" dirty="0"/>
          </a:p>
        </p:txBody>
      </p:sp>
      <p:sp>
        <p:nvSpPr>
          <p:cNvPr id="9" name="Text 7"/>
          <p:cNvSpPr/>
          <p:nvPr/>
        </p:nvSpPr>
        <p:spPr>
          <a:xfrm>
            <a:off x="713232" y="2852928"/>
            <a:ext cx="3236976" cy="868680"/>
          </a:xfrm>
          <a:prstGeom prst="rect">
            <a:avLst/>
          </a:prstGeom>
          <a:noFill/>
          <a:ln/>
        </p:spPr>
        <p:txBody>
          <a:bodyPr wrap="square" rtlCol="0" anchor="t"/>
          <a:lstStyle/>
          <a:p>
            <a:pPr marL="0" indent="0">
              <a:buNone/>
            </a:pPr>
            <a:r>
              <a:rPr lang="en-US" sz="1000" dirty="0">
                <a:solidFill>
                  <a:srgbClr val="6B7785"/>
                </a:solidFill>
                <a:latin typeface="Calibri" pitchFamily="34" charset="0"/>
                <a:ea typeface="Calibri" pitchFamily="34" charset="-122"/>
                <a:cs typeface="Calibri" pitchFamily="34" charset="-120"/>
              </a:rPr>
              <a:t>Trusted entity that issues and signs digital certificates</a:t>
            </a:r>
            <a:endParaRPr lang="en-US" sz="1000" dirty="0"/>
          </a:p>
        </p:txBody>
      </p:sp>
      <p:sp>
        <p:nvSpPr>
          <p:cNvPr id="10" name="Shape 8"/>
          <p:cNvSpPr/>
          <p:nvPr/>
        </p:nvSpPr>
        <p:spPr>
          <a:xfrm>
            <a:off x="4297680" y="2103120"/>
            <a:ext cx="3566160" cy="1691640"/>
          </a:xfrm>
          <a:prstGeom prst="roundRect">
            <a:avLst>
              <a:gd name="adj" fmla="val 4324"/>
            </a:avLst>
          </a:prstGeom>
          <a:solidFill>
            <a:srgbClr val="FFFFFF"/>
          </a:solidFill>
          <a:ln w="12700">
            <a:solidFill>
              <a:srgbClr val="D7DEE7"/>
            </a:solidFill>
            <a:prstDash val="solid"/>
          </a:ln>
          <a:effectLst>
            <a:outerShdw blurRad="50800" dist="25400" dir="5400000" algn="bl" rotWithShape="0">
              <a:srgbClr val="AAAAAA">
                <a:alpha val="20000"/>
              </a:srgbClr>
            </a:outerShdw>
          </a:effectLst>
        </p:spPr>
      </p:sp>
      <p:sp>
        <p:nvSpPr>
          <p:cNvPr id="11" name="Shape 9"/>
          <p:cNvSpPr/>
          <p:nvPr/>
        </p:nvSpPr>
        <p:spPr>
          <a:xfrm>
            <a:off x="4462272" y="2267712"/>
            <a:ext cx="457200" cy="457200"/>
          </a:xfrm>
          <a:prstGeom prst="roundRect">
            <a:avLst>
              <a:gd name="adj" fmla="val 16000"/>
            </a:avLst>
          </a:prstGeom>
          <a:solidFill>
            <a:srgbClr val="17A2B8"/>
          </a:solidFill>
          <a:ln/>
        </p:spPr>
      </p:sp>
      <p:sp>
        <p:nvSpPr>
          <p:cNvPr id="12" name="Text 10"/>
          <p:cNvSpPr/>
          <p:nvPr/>
        </p:nvSpPr>
        <p:spPr>
          <a:xfrm>
            <a:off x="4462272" y="226771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074920" y="2231136"/>
            <a:ext cx="2651760" cy="548640"/>
          </a:xfrm>
          <a:prstGeom prst="rect">
            <a:avLst/>
          </a:prstGeom>
          <a:noFill/>
          <a:ln/>
        </p:spPr>
        <p:txBody>
          <a:bodyPr wrap="square" rtlCol="0" anchor="t"/>
          <a:lstStyle/>
          <a:p>
            <a:pPr marL="0" indent="0">
              <a:buNone/>
            </a:pPr>
            <a:r>
              <a:rPr lang="en-US" sz="1200" b="1" dirty="0">
                <a:solidFill>
                  <a:srgbClr val="0F1C3F"/>
                </a:solidFill>
                <a:latin typeface="Calibri" pitchFamily="34" charset="0"/>
                <a:ea typeface="Calibri" pitchFamily="34" charset="-122"/>
                <a:cs typeface="Calibri" pitchFamily="34" charset="-120"/>
              </a:rPr>
              <a:t>Registration Authority (RA)</a:t>
            </a:r>
            <a:endParaRPr lang="en-US" sz="1200" dirty="0"/>
          </a:p>
        </p:txBody>
      </p:sp>
      <p:sp>
        <p:nvSpPr>
          <p:cNvPr id="14" name="Text 12"/>
          <p:cNvSpPr/>
          <p:nvPr/>
        </p:nvSpPr>
        <p:spPr>
          <a:xfrm>
            <a:off x="4462272" y="2852928"/>
            <a:ext cx="3236976" cy="868680"/>
          </a:xfrm>
          <a:prstGeom prst="rect">
            <a:avLst/>
          </a:prstGeom>
          <a:noFill/>
          <a:ln/>
        </p:spPr>
        <p:txBody>
          <a:bodyPr wrap="square" rtlCol="0" anchor="t"/>
          <a:lstStyle/>
          <a:p>
            <a:pPr marL="0" indent="0">
              <a:buNone/>
            </a:pPr>
            <a:r>
              <a:rPr lang="en-US" sz="1000" dirty="0">
                <a:solidFill>
                  <a:srgbClr val="6B7785"/>
                </a:solidFill>
                <a:latin typeface="Calibri" pitchFamily="34" charset="0"/>
                <a:ea typeface="Calibri" pitchFamily="34" charset="-122"/>
                <a:cs typeface="Calibri" pitchFamily="34" charset="-120"/>
              </a:rPr>
              <a:t>Verifies identity of applicants before CA issues a certificate</a:t>
            </a:r>
            <a:endParaRPr lang="en-US" sz="1000" dirty="0"/>
          </a:p>
        </p:txBody>
      </p:sp>
      <p:sp>
        <p:nvSpPr>
          <p:cNvPr id="15" name="Shape 13"/>
          <p:cNvSpPr/>
          <p:nvPr/>
        </p:nvSpPr>
        <p:spPr>
          <a:xfrm>
            <a:off x="8046720" y="2103120"/>
            <a:ext cx="3566160" cy="1691640"/>
          </a:xfrm>
          <a:prstGeom prst="roundRect">
            <a:avLst>
              <a:gd name="adj" fmla="val 4324"/>
            </a:avLst>
          </a:prstGeom>
          <a:solidFill>
            <a:srgbClr val="FFFFFF"/>
          </a:solidFill>
          <a:ln w="12700">
            <a:solidFill>
              <a:srgbClr val="D7DEE7"/>
            </a:solidFill>
            <a:prstDash val="solid"/>
          </a:ln>
          <a:effectLst>
            <a:outerShdw blurRad="50800" dist="25400" dir="5400000" algn="bl" rotWithShape="0">
              <a:srgbClr val="AAAAAA">
                <a:alpha val="20000"/>
              </a:srgbClr>
            </a:outerShdw>
          </a:effectLst>
        </p:spPr>
      </p:sp>
      <p:sp>
        <p:nvSpPr>
          <p:cNvPr id="16" name="Shape 14"/>
          <p:cNvSpPr/>
          <p:nvPr/>
        </p:nvSpPr>
        <p:spPr>
          <a:xfrm>
            <a:off x="8211312" y="2267712"/>
            <a:ext cx="457200" cy="457200"/>
          </a:xfrm>
          <a:prstGeom prst="roundRect">
            <a:avLst>
              <a:gd name="adj" fmla="val 16000"/>
            </a:avLst>
          </a:prstGeom>
          <a:solidFill>
            <a:srgbClr val="FFB100"/>
          </a:solidFill>
          <a:ln/>
        </p:spPr>
      </p:sp>
      <p:sp>
        <p:nvSpPr>
          <p:cNvPr id="17" name="Text 15"/>
          <p:cNvSpPr/>
          <p:nvPr/>
        </p:nvSpPr>
        <p:spPr>
          <a:xfrm>
            <a:off x="8211312" y="226771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823960" y="2231136"/>
            <a:ext cx="2651760" cy="548640"/>
          </a:xfrm>
          <a:prstGeom prst="rect">
            <a:avLst/>
          </a:prstGeom>
          <a:noFill/>
          <a:ln/>
        </p:spPr>
        <p:txBody>
          <a:bodyPr wrap="square" rtlCol="0" anchor="t"/>
          <a:lstStyle/>
          <a:p>
            <a:pPr marL="0" indent="0">
              <a:buNone/>
            </a:pPr>
            <a:r>
              <a:rPr lang="en-US" sz="1200" b="1" dirty="0">
                <a:solidFill>
                  <a:srgbClr val="0F1C3F"/>
                </a:solidFill>
                <a:latin typeface="Calibri" pitchFamily="34" charset="0"/>
                <a:ea typeface="Calibri" pitchFamily="34" charset="-122"/>
                <a:cs typeface="Calibri" pitchFamily="34" charset="-120"/>
              </a:rPr>
              <a:t>Certificate Repository</a:t>
            </a:r>
            <a:endParaRPr lang="en-US" sz="1200" dirty="0"/>
          </a:p>
        </p:txBody>
      </p:sp>
      <p:sp>
        <p:nvSpPr>
          <p:cNvPr id="19" name="Text 17"/>
          <p:cNvSpPr/>
          <p:nvPr/>
        </p:nvSpPr>
        <p:spPr>
          <a:xfrm>
            <a:off x="8211312" y="2852928"/>
            <a:ext cx="3236976" cy="868680"/>
          </a:xfrm>
          <a:prstGeom prst="rect">
            <a:avLst/>
          </a:prstGeom>
          <a:noFill/>
          <a:ln/>
        </p:spPr>
        <p:txBody>
          <a:bodyPr wrap="square" rtlCol="0" anchor="t"/>
          <a:lstStyle/>
          <a:p>
            <a:pPr marL="0" indent="0">
              <a:buNone/>
            </a:pPr>
            <a:r>
              <a:rPr lang="en-US" sz="1000" dirty="0">
                <a:solidFill>
                  <a:srgbClr val="6B7785"/>
                </a:solidFill>
                <a:latin typeface="Calibri" pitchFamily="34" charset="0"/>
                <a:ea typeface="Calibri" pitchFamily="34" charset="-122"/>
                <a:cs typeface="Calibri" pitchFamily="34" charset="-120"/>
              </a:rPr>
              <a:t>Public database storing issued certificates</a:t>
            </a:r>
            <a:endParaRPr lang="en-US" sz="1000" dirty="0"/>
          </a:p>
        </p:txBody>
      </p:sp>
      <p:sp>
        <p:nvSpPr>
          <p:cNvPr id="20" name="Shape 18"/>
          <p:cNvSpPr/>
          <p:nvPr/>
        </p:nvSpPr>
        <p:spPr>
          <a:xfrm>
            <a:off x="548640" y="4023360"/>
            <a:ext cx="3566160" cy="1691640"/>
          </a:xfrm>
          <a:prstGeom prst="roundRect">
            <a:avLst>
              <a:gd name="adj" fmla="val 4324"/>
            </a:avLst>
          </a:prstGeom>
          <a:solidFill>
            <a:srgbClr val="FFFFFF"/>
          </a:solidFill>
          <a:ln w="12700">
            <a:solidFill>
              <a:srgbClr val="D7DEE7"/>
            </a:solidFill>
            <a:prstDash val="solid"/>
          </a:ln>
          <a:effectLst>
            <a:outerShdw blurRad="50800" dist="25400" dir="5400000" algn="bl" rotWithShape="0">
              <a:srgbClr val="AAAAAA">
                <a:alpha val="20000"/>
              </a:srgbClr>
            </a:outerShdw>
          </a:effectLst>
        </p:spPr>
      </p:sp>
      <p:sp>
        <p:nvSpPr>
          <p:cNvPr id="21" name="Shape 19"/>
          <p:cNvSpPr/>
          <p:nvPr/>
        </p:nvSpPr>
        <p:spPr>
          <a:xfrm>
            <a:off x="713232" y="4187952"/>
            <a:ext cx="457200" cy="457200"/>
          </a:xfrm>
          <a:prstGeom prst="roundRect">
            <a:avLst>
              <a:gd name="adj" fmla="val 16000"/>
            </a:avLst>
          </a:prstGeom>
          <a:solidFill>
            <a:srgbClr val="0F1C3F"/>
          </a:solidFill>
          <a:ln/>
        </p:spPr>
      </p:sp>
      <p:sp>
        <p:nvSpPr>
          <p:cNvPr id="22" name="Text 20"/>
          <p:cNvSpPr/>
          <p:nvPr/>
        </p:nvSpPr>
        <p:spPr>
          <a:xfrm>
            <a:off x="713232" y="418795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325880" y="4151376"/>
            <a:ext cx="2651760" cy="548640"/>
          </a:xfrm>
          <a:prstGeom prst="rect">
            <a:avLst/>
          </a:prstGeom>
          <a:noFill/>
          <a:ln/>
        </p:spPr>
        <p:txBody>
          <a:bodyPr wrap="square" rtlCol="0" anchor="t"/>
          <a:lstStyle/>
          <a:p>
            <a:pPr marL="0" indent="0">
              <a:buNone/>
            </a:pPr>
            <a:r>
              <a:rPr lang="en-US" sz="1200" b="1" dirty="0">
                <a:solidFill>
                  <a:srgbClr val="0F1C3F"/>
                </a:solidFill>
                <a:latin typeface="Calibri" pitchFamily="34" charset="0"/>
                <a:ea typeface="Calibri" pitchFamily="34" charset="-122"/>
                <a:cs typeface="Calibri" pitchFamily="34" charset="-120"/>
              </a:rPr>
              <a:t>Certificate Revocation List (CRL/OCSP)</a:t>
            </a:r>
            <a:endParaRPr lang="en-US" sz="1200" dirty="0"/>
          </a:p>
        </p:txBody>
      </p:sp>
      <p:sp>
        <p:nvSpPr>
          <p:cNvPr id="24" name="Text 22"/>
          <p:cNvSpPr/>
          <p:nvPr/>
        </p:nvSpPr>
        <p:spPr>
          <a:xfrm>
            <a:off x="713232" y="4773168"/>
            <a:ext cx="3236976" cy="868680"/>
          </a:xfrm>
          <a:prstGeom prst="rect">
            <a:avLst/>
          </a:prstGeom>
          <a:noFill/>
          <a:ln/>
        </p:spPr>
        <p:txBody>
          <a:bodyPr wrap="square" rtlCol="0" anchor="t"/>
          <a:lstStyle/>
          <a:p>
            <a:pPr marL="0" indent="0">
              <a:buNone/>
            </a:pPr>
            <a:r>
              <a:rPr lang="en-US" sz="1000" dirty="0">
                <a:solidFill>
                  <a:srgbClr val="6B7785"/>
                </a:solidFill>
                <a:latin typeface="Calibri" pitchFamily="34" charset="0"/>
                <a:ea typeface="Calibri" pitchFamily="34" charset="-122"/>
                <a:cs typeface="Calibri" pitchFamily="34" charset="-120"/>
              </a:rPr>
              <a:t>Lists certificates revoked before expiry</a:t>
            </a:r>
            <a:endParaRPr lang="en-US" sz="1000" dirty="0"/>
          </a:p>
        </p:txBody>
      </p:sp>
      <p:sp>
        <p:nvSpPr>
          <p:cNvPr id="25" name="Shape 23"/>
          <p:cNvSpPr/>
          <p:nvPr/>
        </p:nvSpPr>
        <p:spPr>
          <a:xfrm>
            <a:off x="4297680" y="4023360"/>
            <a:ext cx="3566160" cy="1691640"/>
          </a:xfrm>
          <a:prstGeom prst="roundRect">
            <a:avLst>
              <a:gd name="adj" fmla="val 4324"/>
            </a:avLst>
          </a:prstGeom>
          <a:solidFill>
            <a:srgbClr val="FFFFFF"/>
          </a:solidFill>
          <a:ln w="12700">
            <a:solidFill>
              <a:srgbClr val="D7DEE7"/>
            </a:solidFill>
            <a:prstDash val="solid"/>
          </a:ln>
          <a:effectLst>
            <a:outerShdw blurRad="50800" dist="25400" dir="5400000" algn="bl" rotWithShape="0">
              <a:srgbClr val="AAAAAA">
                <a:alpha val="20000"/>
              </a:srgbClr>
            </a:outerShdw>
          </a:effectLst>
        </p:spPr>
      </p:sp>
      <p:sp>
        <p:nvSpPr>
          <p:cNvPr id="26" name="Shape 24"/>
          <p:cNvSpPr/>
          <p:nvPr/>
        </p:nvSpPr>
        <p:spPr>
          <a:xfrm>
            <a:off x="4462272" y="4187952"/>
            <a:ext cx="457200" cy="457200"/>
          </a:xfrm>
          <a:prstGeom prst="roundRect">
            <a:avLst>
              <a:gd name="adj" fmla="val 16000"/>
            </a:avLst>
          </a:prstGeom>
          <a:solidFill>
            <a:srgbClr val="17A2B8"/>
          </a:solidFill>
          <a:ln/>
        </p:spPr>
      </p:sp>
      <p:sp>
        <p:nvSpPr>
          <p:cNvPr id="27" name="Text 25"/>
          <p:cNvSpPr/>
          <p:nvPr/>
        </p:nvSpPr>
        <p:spPr>
          <a:xfrm>
            <a:off x="4462272" y="418795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6"/>
          <p:cNvSpPr/>
          <p:nvPr/>
        </p:nvSpPr>
        <p:spPr>
          <a:xfrm>
            <a:off x="5074920" y="4151376"/>
            <a:ext cx="2651760" cy="548640"/>
          </a:xfrm>
          <a:prstGeom prst="rect">
            <a:avLst/>
          </a:prstGeom>
          <a:noFill/>
          <a:ln/>
        </p:spPr>
        <p:txBody>
          <a:bodyPr wrap="square" rtlCol="0" anchor="t"/>
          <a:lstStyle/>
          <a:p>
            <a:pPr marL="0" indent="0">
              <a:buNone/>
            </a:pPr>
            <a:r>
              <a:rPr lang="en-US" sz="1200" b="1" dirty="0">
                <a:solidFill>
                  <a:srgbClr val="0F1C3F"/>
                </a:solidFill>
                <a:latin typeface="Calibri" pitchFamily="34" charset="0"/>
                <a:ea typeface="Calibri" pitchFamily="34" charset="-122"/>
                <a:cs typeface="Calibri" pitchFamily="34" charset="-120"/>
              </a:rPr>
              <a:t>End Entities</a:t>
            </a:r>
            <a:endParaRPr lang="en-US" sz="1200" dirty="0"/>
          </a:p>
        </p:txBody>
      </p:sp>
      <p:sp>
        <p:nvSpPr>
          <p:cNvPr id="29" name="Text 27"/>
          <p:cNvSpPr/>
          <p:nvPr/>
        </p:nvSpPr>
        <p:spPr>
          <a:xfrm>
            <a:off x="4462272" y="4773168"/>
            <a:ext cx="3236976" cy="868680"/>
          </a:xfrm>
          <a:prstGeom prst="rect">
            <a:avLst/>
          </a:prstGeom>
          <a:noFill/>
          <a:ln/>
        </p:spPr>
        <p:txBody>
          <a:bodyPr wrap="square" rtlCol="0" anchor="t"/>
          <a:lstStyle/>
          <a:p>
            <a:pPr marL="0" indent="0">
              <a:buNone/>
            </a:pPr>
            <a:r>
              <a:rPr lang="en-US" sz="1000" dirty="0">
                <a:solidFill>
                  <a:srgbClr val="6B7785"/>
                </a:solidFill>
                <a:latin typeface="Calibri" pitchFamily="34" charset="0"/>
                <a:ea typeface="Calibri" pitchFamily="34" charset="-122"/>
                <a:cs typeface="Calibri" pitchFamily="34" charset="-120"/>
              </a:rPr>
              <a:t>Users, servers, or devices that hold certificates</a:t>
            </a:r>
            <a:endParaRPr lang="en-US" sz="1000" dirty="0"/>
          </a:p>
        </p:txBody>
      </p:sp>
      <p:sp>
        <p:nvSpPr>
          <p:cNvPr id="30" name="Shape 28"/>
          <p:cNvSpPr/>
          <p:nvPr/>
        </p:nvSpPr>
        <p:spPr>
          <a:xfrm>
            <a:off x="8046720" y="4023360"/>
            <a:ext cx="3566160" cy="1691640"/>
          </a:xfrm>
          <a:prstGeom prst="roundRect">
            <a:avLst>
              <a:gd name="adj" fmla="val 4324"/>
            </a:avLst>
          </a:prstGeom>
          <a:solidFill>
            <a:srgbClr val="FFFFFF"/>
          </a:solidFill>
          <a:ln w="12700">
            <a:solidFill>
              <a:srgbClr val="D7DEE7"/>
            </a:solidFill>
            <a:prstDash val="solid"/>
          </a:ln>
          <a:effectLst>
            <a:outerShdw blurRad="50800" dist="25400" dir="5400000" algn="bl" rotWithShape="0">
              <a:srgbClr val="AAAAAA">
                <a:alpha val="20000"/>
              </a:srgbClr>
            </a:outerShdw>
          </a:effectLst>
        </p:spPr>
      </p:sp>
      <p:sp>
        <p:nvSpPr>
          <p:cNvPr id="31" name="Shape 29"/>
          <p:cNvSpPr/>
          <p:nvPr/>
        </p:nvSpPr>
        <p:spPr>
          <a:xfrm>
            <a:off x="8211312" y="4187952"/>
            <a:ext cx="457200" cy="457200"/>
          </a:xfrm>
          <a:prstGeom prst="roundRect">
            <a:avLst>
              <a:gd name="adj" fmla="val 16000"/>
            </a:avLst>
          </a:prstGeom>
          <a:solidFill>
            <a:srgbClr val="FFB100"/>
          </a:solidFill>
          <a:ln/>
        </p:spPr>
      </p:sp>
      <p:sp>
        <p:nvSpPr>
          <p:cNvPr id="32" name="Text 30"/>
          <p:cNvSpPr/>
          <p:nvPr/>
        </p:nvSpPr>
        <p:spPr>
          <a:xfrm>
            <a:off x="8211312" y="418795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1"/>
          <p:cNvSpPr/>
          <p:nvPr/>
        </p:nvSpPr>
        <p:spPr>
          <a:xfrm>
            <a:off x="8823960" y="4151376"/>
            <a:ext cx="2651760" cy="548640"/>
          </a:xfrm>
          <a:prstGeom prst="rect">
            <a:avLst/>
          </a:prstGeom>
          <a:noFill/>
          <a:ln/>
        </p:spPr>
        <p:txBody>
          <a:bodyPr wrap="square" rtlCol="0" anchor="t"/>
          <a:lstStyle/>
          <a:p>
            <a:pPr marL="0" indent="0">
              <a:buNone/>
            </a:pPr>
            <a:r>
              <a:rPr lang="en-US" sz="1200" b="1" dirty="0">
                <a:solidFill>
                  <a:srgbClr val="0F1C3F"/>
                </a:solidFill>
                <a:latin typeface="Calibri" pitchFamily="34" charset="0"/>
                <a:ea typeface="Calibri" pitchFamily="34" charset="-122"/>
                <a:cs typeface="Calibri" pitchFamily="34" charset="-120"/>
              </a:rPr>
              <a:t>Key Management System</a:t>
            </a:r>
            <a:endParaRPr lang="en-US" sz="1200" dirty="0"/>
          </a:p>
        </p:txBody>
      </p:sp>
      <p:sp>
        <p:nvSpPr>
          <p:cNvPr id="34" name="Text 32"/>
          <p:cNvSpPr/>
          <p:nvPr/>
        </p:nvSpPr>
        <p:spPr>
          <a:xfrm>
            <a:off x="8211312" y="4773168"/>
            <a:ext cx="3236976" cy="868680"/>
          </a:xfrm>
          <a:prstGeom prst="rect">
            <a:avLst/>
          </a:prstGeom>
          <a:noFill/>
          <a:ln/>
        </p:spPr>
        <p:txBody>
          <a:bodyPr wrap="square" rtlCol="0" anchor="t"/>
          <a:lstStyle/>
          <a:p>
            <a:pPr marL="0" indent="0">
              <a:buNone/>
            </a:pPr>
            <a:r>
              <a:rPr lang="en-US" sz="1000" dirty="0">
                <a:solidFill>
                  <a:srgbClr val="6B7785"/>
                </a:solidFill>
                <a:latin typeface="Calibri" pitchFamily="34" charset="0"/>
                <a:ea typeface="Calibri" pitchFamily="34" charset="-122"/>
                <a:cs typeface="Calibri" pitchFamily="34" charset="-120"/>
              </a:rPr>
              <a:t>Generates, stores, and archives cryptographic key pairs</a:t>
            </a:r>
            <a:endParaRPr lang="en-US" sz="1000" dirty="0"/>
          </a:p>
        </p:txBody>
      </p:sp>
      <p:sp>
        <p:nvSpPr>
          <p:cNvPr id="35" name="Text 33"/>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36" name="Text 34"/>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8">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PUBLIC KEY INFRASTRUCTURE</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PKI — Certificate Issuance &amp; Verification Flow</a:t>
            </a:r>
            <a:endParaRPr lang="en-US" sz="3000" dirty="0"/>
          </a:p>
        </p:txBody>
      </p:sp>
      <p:sp>
        <p:nvSpPr>
          <p:cNvPr id="4" name="Shape 2"/>
          <p:cNvSpPr/>
          <p:nvPr/>
        </p:nvSpPr>
        <p:spPr>
          <a:xfrm>
            <a:off x="548640" y="1691640"/>
            <a:ext cx="1965960" cy="1234440"/>
          </a:xfrm>
          <a:prstGeom prst="roundRect">
            <a:avLst>
              <a:gd name="adj" fmla="val 6667"/>
            </a:avLst>
          </a:prstGeom>
          <a:solidFill>
            <a:srgbClr val="F4F7FB"/>
          </a:solidFill>
          <a:ln w="12700">
            <a:solidFill>
              <a:srgbClr val="D7DEE7"/>
            </a:solidFill>
            <a:prstDash val="solid"/>
          </a:ln>
        </p:spPr>
      </p:sp>
      <p:sp>
        <p:nvSpPr>
          <p:cNvPr id="5" name="Text 3"/>
          <p:cNvSpPr/>
          <p:nvPr/>
        </p:nvSpPr>
        <p:spPr>
          <a:xfrm>
            <a:off x="621792" y="1801368"/>
            <a:ext cx="1819656" cy="320040"/>
          </a:xfrm>
          <a:prstGeom prst="rect">
            <a:avLst/>
          </a:prstGeom>
          <a:noFill/>
          <a:ln/>
        </p:spPr>
        <p:txBody>
          <a:bodyPr wrap="square" rtlCol="0" anchor="ctr"/>
          <a:lstStyle/>
          <a:p>
            <a:pPr marL="0" indent="0" algn="ctr">
              <a:buNone/>
            </a:pPr>
            <a:r>
              <a:rPr lang="en-US" sz="1200" b="1" dirty="0">
                <a:solidFill>
                  <a:srgbClr val="0F1C3F"/>
                </a:solidFill>
                <a:latin typeface="Calibri" pitchFamily="34" charset="0"/>
                <a:ea typeface="Calibri" pitchFamily="34" charset="-122"/>
                <a:cs typeface="Calibri" pitchFamily="34" charset="-120"/>
              </a:rPr>
              <a:t>1. Applicant</a:t>
            </a:r>
            <a:endParaRPr lang="en-US" sz="1200" dirty="0"/>
          </a:p>
        </p:txBody>
      </p:sp>
      <p:sp>
        <p:nvSpPr>
          <p:cNvPr id="6" name="Text 4"/>
          <p:cNvSpPr/>
          <p:nvPr/>
        </p:nvSpPr>
        <p:spPr>
          <a:xfrm>
            <a:off x="621792" y="2148840"/>
            <a:ext cx="1819656" cy="685800"/>
          </a:xfrm>
          <a:prstGeom prst="rect">
            <a:avLst/>
          </a:prstGeom>
          <a:noFill/>
          <a:ln/>
        </p:spPr>
        <p:txBody>
          <a:bodyPr wrap="square" rtlCol="0" anchor="t"/>
          <a:lstStyle/>
          <a:p>
            <a:pPr marL="0" indent="0" algn="ctr">
              <a:buNone/>
            </a:pPr>
            <a:r>
              <a:rPr lang="en-US" sz="900" dirty="0">
                <a:solidFill>
                  <a:srgbClr val="6B7785"/>
                </a:solidFill>
                <a:latin typeface="Calibri" pitchFamily="34" charset="0"/>
                <a:ea typeface="Calibri" pitchFamily="34" charset="-122"/>
                <a:cs typeface="Calibri" pitchFamily="34" charset="-120"/>
              </a:rPr>
              <a:t>Generates key pair;</a:t>
            </a:r>
            <a:endParaRPr lang="en-US" sz="900" dirty="0"/>
          </a:p>
          <a:p>
            <a:pPr marL="0" indent="0" algn="ctr">
              <a:buNone/>
            </a:pPr>
            <a:r>
              <a:rPr lang="en-US" sz="900" dirty="0">
                <a:solidFill>
                  <a:srgbClr val="6B7785"/>
                </a:solidFill>
                <a:latin typeface="Calibri" pitchFamily="34" charset="0"/>
                <a:ea typeface="Calibri" pitchFamily="34" charset="-122"/>
                <a:cs typeface="Calibri" pitchFamily="34" charset="-120"/>
              </a:rPr>
              <a:t>requests certificate</a:t>
            </a:r>
            <a:endParaRPr lang="en-US" sz="900" dirty="0"/>
          </a:p>
        </p:txBody>
      </p:sp>
      <p:sp>
        <p:nvSpPr>
          <p:cNvPr id="7" name="Shape 5"/>
          <p:cNvSpPr/>
          <p:nvPr/>
        </p:nvSpPr>
        <p:spPr>
          <a:xfrm>
            <a:off x="2532888" y="2180844"/>
            <a:ext cx="146304" cy="256032"/>
          </a:xfrm>
          <a:prstGeom prst="rightArrow">
            <a:avLst/>
          </a:prstGeom>
          <a:solidFill>
            <a:srgbClr val="FFB100"/>
          </a:solidFill>
          <a:ln/>
        </p:spPr>
      </p:sp>
      <p:sp>
        <p:nvSpPr>
          <p:cNvPr id="8" name="Shape 6"/>
          <p:cNvSpPr/>
          <p:nvPr/>
        </p:nvSpPr>
        <p:spPr>
          <a:xfrm>
            <a:off x="2697480" y="1691640"/>
            <a:ext cx="1965960" cy="1234440"/>
          </a:xfrm>
          <a:prstGeom prst="roundRect">
            <a:avLst>
              <a:gd name="adj" fmla="val 6667"/>
            </a:avLst>
          </a:prstGeom>
          <a:solidFill>
            <a:srgbClr val="17A2B8"/>
          </a:solidFill>
          <a:ln/>
        </p:spPr>
      </p:sp>
      <p:sp>
        <p:nvSpPr>
          <p:cNvPr id="9" name="Text 7"/>
          <p:cNvSpPr/>
          <p:nvPr/>
        </p:nvSpPr>
        <p:spPr>
          <a:xfrm>
            <a:off x="2770632" y="1801368"/>
            <a:ext cx="1819656"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 RA</a:t>
            </a:r>
            <a:endParaRPr lang="en-US" sz="1200" dirty="0"/>
          </a:p>
        </p:txBody>
      </p:sp>
      <p:sp>
        <p:nvSpPr>
          <p:cNvPr id="10" name="Text 8"/>
          <p:cNvSpPr/>
          <p:nvPr/>
        </p:nvSpPr>
        <p:spPr>
          <a:xfrm>
            <a:off x="2770632" y="2148840"/>
            <a:ext cx="1819656" cy="685800"/>
          </a:xfrm>
          <a:prstGeom prst="rect">
            <a:avLst/>
          </a:prstGeom>
          <a:noFill/>
          <a:ln/>
        </p:spPr>
        <p:txBody>
          <a:bodyPr wrap="square" rtlCol="0" anchor="t"/>
          <a:lstStyle/>
          <a:p>
            <a:pPr marL="0" indent="0" algn="ctr">
              <a:buNone/>
            </a:pPr>
            <a:r>
              <a:rPr lang="en-US" sz="900" dirty="0">
                <a:solidFill>
                  <a:srgbClr val="0F1C3F"/>
                </a:solidFill>
                <a:latin typeface="Calibri" pitchFamily="34" charset="0"/>
                <a:ea typeface="Calibri" pitchFamily="34" charset="-122"/>
                <a:cs typeface="Calibri" pitchFamily="34" charset="-120"/>
              </a:rPr>
              <a:t>Verifies identity</a:t>
            </a:r>
            <a:endParaRPr lang="en-US" sz="900" dirty="0"/>
          </a:p>
          <a:p>
            <a:pPr marL="0" indent="0" algn="ctr">
              <a:buNone/>
            </a:pPr>
            <a:r>
              <a:rPr lang="en-US" sz="900" dirty="0">
                <a:solidFill>
                  <a:srgbClr val="0F1C3F"/>
                </a:solidFill>
                <a:latin typeface="Calibri" pitchFamily="34" charset="0"/>
                <a:ea typeface="Calibri" pitchFamily="34" charset="-122"/>
                <a:cs typeface="Calibri" pitchFamily="34" charset="-120"/>
              </a:rPr>
              <a:t>&amp; forwards request</a:t>
            </a:r>
            <a:endParaRPr lang="en-US" sz="900" dirty="0"/>
          </a:p>
        </p:txBody>
      </p:sp>
      <p:sp>
        <p:nvSpPr>
          <p:cNvPr id="11" name="Shape 9"/>
          <p:cNvSpPr/>
          <p:nvPr/>
        </p:nvSpPr>
        <p:spPr>
          <a:xfrm>
            <a:off x="4681728" y="2180844"/>
            <a:ext cx="146304" cy="256032"/>
          </a:xfrm>
          <a:prstGeom prst="rightArrow">
            <a:avLst/>
          </a:prstGeom>
          <a:solidFill>
            <a:srgbClr val="FFB100"/>
          </a:solidFill>
          <a:ln/>
        </p:spPr>
      </p:sp>
      <p:sp>
        <p:nvSpPr>
          <p:cNvPr id="12" name="Shape 10"/>
          <p:cNvSpPr/>
          <p:nvPr/>
        </p:nvSpPr>
        <p:spPr>
          <a:xfrm>
            <a:off x="4846320" y="1691640"/>
            <a:ext cx="1965960" cy="1234440"/>
          </a:xfrm>
          <a:prstGeom prst="roundRect">
            <a:avLst>
              <a:gd name="adj" fmla="val 6667"/>
            </a:avLst>
          </a:prstGeom>
          <a:solidFill>
            <a:srgbClr val="0F1C3F"/>
          </a:solidFill>
          <a:ln/>
        </p:spPr>
      </p:sp>
      <p:sp>
        <p:nvSpPr>
          <p:cNvPr id="13" name="Text 11"/>
          <p:cNvSpPr/>
          <p:nvPr/>
        </p:nvSpPr>
        <p:spPr>
          <a:xfrm>
            <a:off x="4919472" y="1801368"/>
            <a:ext cx="1819656"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 CA</a:t>
            </a:r>
            <a:endParaRPr lang="en-US" sz="1200" dirty="0"/>
          </a:p>
        </p:txBody>
      </p:sp>
      <p:sp>
        <p:nvSpPr>
          <p:cNvPr id="14" name="Text 12"/>
          <p:cNvSpPr/>
          <p:nvPr/>
        </p:nvSpPr>
        <p:spPr>
          <a:xfrm>
            <a:off x="4919472" y="2148840"/>
            <a:ext cx="1819656" cy="685800"/>
          </a:xfrm>
          <a:prstGeom prst="rect">
            <a:avLst/>
          </a:prstGeom>
          <a:noFill/>
          <a:ln/>
        </p:spPr>
        <p:txBody>
          <a:bodyPr wrap="square" rtlCol="0" anchor="t"/>
          <a:lstStyle/>
          <a:p>
            <a:pPr marL="0" indent="0" algn="ctr">
              <a:buNone/>
            </a:pPr>
            <a:r>
              <a:rPr lang="en-US" sz="900" dirty="0">
                <a:solidFill>
                  <a:srgbClr val="5FD0DE"/>
                </a:solidFill>
                <a:latin typeface="Calibri" pitchFamily="34" charset="0"/>
                <a:ea typeface="Calibri" pitchFamily="34" charset="-122"/>
                <a:cs typeface="Calibri" pitchFamily="34" charset="-120"/>
              </a:rPr>
              <a:t>Signs &amp; issues</a:t>
            </a:r>
            <a:endParaRPr lang="en-US" sz="900" dirty="0"/>
          </a:p>
          <a:p>
            <a:pPr marL="0" indent="0" algn="ctr">
              <a:buNone/>
            </a:pPr>
            <a:r>
              <a:rPr lang="en-US" sz="900" dirty="0">
                <a:solidFill>
                  <a:srgbClr val="5FD0DE"/>
                </a:solidFill>
                <a:latin typeface="Calibri" pitchFamily="34" charset="0"/>
                <a:ea typeface="Calibri" pitchFamily="34" charset="-122"/>
                <a:cs typeface="Calibri" pitchFamily="34" charset="-120"/>
              </a:rPr>
              <a:t>the certificate</a:t>
            </a:r>
            <a:endParaRPr lang="en-US" sz="900" dirty="0"/>
          </a:p>
        </p:txBody>
      </p:sp>
      <p:sp>
        <p:nvSpPr>
          <p:cNvPr id="15" name="Shape 13"/>
          <p:cNvSpPr/>
          <p:nvPr/>
        </p:nvSpPr>
        <p:spPr>
          <a:xfrm>
            <a:off x="6830568" y="2180844"/>
            <a:ext cx="146304" cy="256032"/>
          </a:xfrm>
          <a:prstGeom prst="rightArrow">
            <a:avLst/>
          </a:prstGeom>
          <a:solidFill>
            <a:srgbClr val="FFB100"/>
          </a:solidFill>
          <a:ln/>
        </p:spPr>
      </p:sp>
      <p:sp>
        <p:nvSpPr>
          <p:cNvPr id="16" name="Shape 14"/>
          <p:cNvSpPr/>
          <p:nvPr/>
        </p:nvSpPr>
        <p:spPr>
          <a:xfrm>
            <a:off x="6995160" y="1691640"/>
            <a:ext cx="2148840" cy="1234440"/>
          </a:xfrm>
          <a:prstGeom prst="roundRect">
            <a:avLst>
              <a:gd name="adj" fmla="val 6667"/>
            </a:avLst>
          </a:prstGeom>
          <a:solidFill>
            <a:srgbClr val="FFB100"/>
          </a:solidFill>
          <a:ln/>
        </p:spPr>
      </p:sp>
      <p:sp>
        <p:nvSpPr>
          <p:cNvPr id="17" name="Text 15"/>
          <p:cNvSpPr/>
          <p:nvPr/>
        </p:nvSpPr>
        <p:spPr>
          <a:xfrm>
            <a:off x="7068312" y="1801368"/>
            <a:ext cx="2002536" cy="320040"/>
          </a:xfrm>
          <a:prstGeom prst="rect">
            <a:avLst/>
          </a:prstGeom>
          <a:noFill/>
          <a:ln/>
        </p:spPr>
        <p:txBody>
          <a:bodyPr wrap="square" rtlCol="0" anchor="ctr"/>
          <a:lstStyle/>
          <a:p>
            <a:pPr marL="0" indent="0" algn="ctr">
              <a:buNone/>
            </a:pPr>
            <a:r>
              <a:rPr lang="en-US" sz="1200" b="1" dirty="0">
                <a:solidFill>
                  <a:srgbClr val="0F1C3F"/>
                </a:solidFill>
                <a:latin typeface="Calibri" pitchFamily="34" charset="0"/>
                <a:ea typeface="Calibri" pitchFamily="34" charset="-122"/>
                <a:cs typeface="Calibri" pitchFamily="34" charset="-120"/>
              </a:rPr>
              <a:t>4. Repository</a:t>
            </a:r>
            <a:endParaRPr lang="en-US" sz="1200" dirty="0"/>
          </a:p>
        </p:txBody>
      </p:sp>
      <p:sp>
        <p:nvSpPr>
          <p:cNvPr id="18" name="Text 16"/>
          <p:cNvSpPr/>
          <p:nvPr/>
        </p:nvSpPr>
        <p:spPr>
          <a:xfrm>
            <a:off x="7068312" y="2148840"/>
            <a:ext cx="2002536" cy="685800"/>
          </a:xfrm>
          <a:prstGeom prst="rect">
            <a:avLst/>
          </a:prstGeom>
          <a:noFill/>
          <a:ln/>
        </p:spPr>
        <p:txBody>
          <a:bodyPr wrap="square" rtlCol="0" anchor="t"/>
          <a:lstStyle/>
          <a:p>
            <a:pPr marL="0" indent="0" algn="ctr">
              <a:buNone/>
            </a:pPr>
            <a:r>
              <a:rPr lang="en-US" sz="900" dirty="0">
                <a:solidFill>
                  <a:srgbClr val="6B4E00"/>
                </a:solidFill>
                <a:latin typeface="Calibri" pitchFamily="34" charset="0"/>
                <a:ea typeface="Calibri" pitchFamily="34" charset="-122"/>
                <a:cs typeface="Calibri" pitchFamily="34" charset="-120"/>
              </a:rPr>
              <a:t>Publishes certificate</a:t>
            </a:r>
            <a:endParaRPr lang="en-US" sz="900" dirty="0"/>
          </a:p>
          <a:p>
            <a:pPr marL="0" indent="0" algn="ctr">
              <a:buNone/>
            </a:pPr>
            <a:r>
              <a:rPr lang="en-US" sz="900" dirty="0">
                <a:solidFill>
                  <a:srgbClr val="6B4E00"/>
                </a:solidFill>
                <a:latin typeface="Calibri" pitchFamily="34" charset="0"/>
                <a:ea typeface="Calibri" pitchFamily="34" charset="-122"/>
                <a:cs typeface="Calibri" pitchFamily="34" charset="-120"/>
              </a:rPr>
              <a:t>(publicly available)</a:t>
            </a:r>
            <a:endParaRPr lang="en-US" sz="900" dirty="0"/>
          </a:p>
        </p:txBody>
      </p:sp>
      <p:sp>
        <p:nvSpPr>
          <p:cNvPr id="19" name="Shape 17"/>
          <p:cNvSpPr/>
          <p:nvPr/>
        </p:nvSpPr>
        <p:spPr>
          <a:xfrm>
            <a:off x="9162288" y="2180844"/>
            <a:ext cx="146304" cy="256032"/>
          </a:xfrm>
          <a:prstGeom prst="rightArrow">
            <a:avLst/>
          </a:prstGeom>
          <a:solidFill>
            <a:srgbClr val="FFB100"/>
          </a:solidFill>
          <a:ln/>
        </p:spPr>
      </p:sp>
      <p:sp>
        <p:nvSpPr>
          <p:cNvPr id="20" name="Shape 18"/>
          <p:cNvSpPr/>
          <p:nvPr/>
        </p:nvSpPr>
        <p:spPr>
          <a:xfrm>
            <a:off x="9326880" y="1691640"/>
            <a:ext cx="1965960" cy="1234440"/>
          </a:xfrm>
          <a:prstGeom prst="roundRect">
            <a:avLst>
              <a:gd name="adj" fmla="val 6667"/>
            </a:avLst>
          </a:prstGeom>
          <a:solidFill>
            <a:srgbClr val="F4F7FB"/>
          </a:solidFill>
          <a:ln w="12700">
            <a:solidFill>
              <a:srgbClr val="D7DEE7"/>
            </a:solidFill>
            <a:prstDash val="solid"/>
          </a:ln>
        </p:spPr>
      </p:sp>
      <p:sp>
        <p:nvSpPr>
          <p:cNvPr id="21" name="Text 19"/>
          <p:cNvSpPr/>
          <p:nvPr/>
        </p:nvSpPr>
        <p:spPr>
          <a:xfrm>
            <a:off x="9400032" y="1801368"/>
            <a:ext cx="1819656" cy="320040"/>
          </a:xfrm>
          <a:prstGeom prst="rect">
            <a:avLst/>
          </a:prstGeom>
          <a:noFill/>
          <a:ln/>
        </p:spPr>
        <p:txBody>
          <a:bodyPr wrap="square" rtlCol="0" anchor="ctr"/>
          <a:lstStyle/>
          <a:p>
            <a:pPr marL="0" indent="0" algn="ctr">
              <a:buNone/>
            </a:pPr>
            <a:r>
              <a:rPr lang="en-US" sz="1200" b="1" dirty="0">
                <a:solidFill>
                  <a:srgbClr val="0F1C3F"/>
                </a:solidFill>
                <a:latin typeface="Calibri" pitchFamily="34" charset="0"/>
                <a:ea typeface="Calibri" pitchFamily="34" charset="-122"/>
                <a:cs typeface="Calibri" pitchFamily="34" charset="-120"/>
              </a:rPr>
              <a:t>5. Relying Party</a:t>
            </a:r>
            <a:endParaRPr lang="en-US" sz="1200" dirty="0"/>
          </a:p>
        </p:txBody>
      </p:sp>
      <p:sp>
        <p:nvSpPr>
          <p:cNvPr id="22" name="Text 20"/>
          <p:cNvSpPr/>
          <p:nvPr/>
        </p:nvSpPr>
        <p:spPr>
          <a:xfrm>
            <a:off x="9400032" y="2148840"/>
            <a:ext cx="1819656" cy="685800"/>
          </a:xfrm>
          <a:prstGeom prst="rect">
            <a:avLst/>
          </a:prstGeom>
          <a:noFill/>
          <a:ln/>
        </p:spPr>
        <p:txBody>
          <a:bodyPr wrap="square" rtlCol="0" anchor="t"/>
          <a:lstStyle/>
          <a:p>
            <a:pPr marL="0" indent="0" algn="ctr">
              <a:buNone/>
            </a:pPr>
            <a:r>
              <a:rPr lang="en-US" sz="900" dirty="0">
                <a:solidFill>
                  <a:srgbClr val="6B7785"/>
                </a:solidFill>
                <a:latin typeface="Calibri" pitchFamily="34" charset="0"/>
                <a:ea typeface="Calibri" pitchFamily="34" charset="-122"/>
                <a:cs typeface="Calibri" pitchFamily="34" charset="-120"/>
              </a:rPr>
              <a:t>Verifies cert chain</a:t>
            </a:r>
            <a:endParaRPr lang="en-US" sz="900" dirty="0"/>
          </a:p>
          <a:p>
            <a:pPr marL="0" indent="0" algn="ctr">
              <a:buNone/>
            </a:pPr>
            <a:r>
              <a:rPr lang="en-US" sz="900" dirty="0">
                <a:solidFill>
                  <a:srgbClr val="6B7785"/>
                </a:solidFill>
                <a:latin typeface="Calibri" pitchFamily="34" charset="0"/>
                <a:ea typeface="Calibri" pitchFamily="34" charset="-122"/>
                <a:cs typeface="Calibri" pitchFamily="34" charset="-120"/>
              </a:rPr>
              <a:t>before trusting</a:t>
            </a:r>
            <a:endParaRPr lang="en-US" sz="900" dirty="0"/>
          </a:p>
        </p:txBody>
      </p:sp>
      <p:sp>
        <p:nvSpPr>
          <p:cNvPr id="23" name="Text 21"/>
          <p:cNvSpPr/>
          <p:nvPr/>
        </p:nvSpPr>
        <p:spPr>
          <a:xfrm>
            <a:off x="548640" y="3520440"/>
            <a:ext cx="7315200" cy="320040"/>
          </a:xfrm>
          <a:prstGeom prst="rect">
            <a:avLst/>
          </a:prstGeom>
          <a:noFill/>
          <a:ln/>
        </p:spPr>
        <p:txBody>
          <a:bodyPr wrap="square" rtlCol="0" anchor="ctr"/>
          <a:lstStyle/>
          <a:p>
            <a:pPr marL="0" indent="0">
              <a:buNone/>
            </a:pPr>
            <a:r>
              <a:rPr lang="en-US" sz="1300" b="1" dirty="0">
                <a:solidFill>
                  <a:srgbClr val="0F1C3F"/>
                </a:solidFill>
                <a:latin typeface="Calibri" pitchFamily="34" charset="0"/>
                <a:ea typeface="Calibri" pitchFamily="34" charset="-122"/>
                <a:cs typeface="Calibri" pitchFamily="34" charset="-120"/>
              </a:rPr>
              <a:t>How the Relying Party verifies trust — the Chain of Trust:</a:t>
            </a:r>
            <a:endParaRPr lang="en-US" sz="1300" dirty="0"/>
          </a:p>
        </p:txBody>
      </p:sp>
      <p:sp>
        <p:nvSpPr>
          <p:cNvPr id="24" name="Shape 22"/>
          <p:cNvSpPr/>
          <p:nvPr/>
        </p:nvSpPr>
        <p:spPr>
          <a:xfrm>
            <a:off x="548640" y="3931920"/>
            <a:ext cx="3429000" cy="1371600"/>
          </a:xfrm>
          <a:prstGeom prst="roundRect">
            <a:avLst>
              <a:gd name="adj" fmla="val 6000"/>
            </a:avLst>
          </a:prstGeom>
          <a:solidFill>
            <a:srgbClr val="0F1C3F"/>
          </a:solidFill>
          <a:ln/>
        </p:spPr>
      </p:sp>
      <p:sp>
        <p:nvSpPr>
          <p:cNvPr id="25" name="Text 23"/>
          <p:cNvSpPr/>
          <p:nvPr/>
        </p:nvSpPr>
        <p:spPr>
          <a:xfrm>
            <a:off x="685800" y="3931920"/>
            <a:ext cx="3154680" cy="13716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Root CA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(self-signed, pre-installed</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 OS/browser)</a:t>
            </a:r>
            <a:endParaRPr lang="en-US" sz="1100" dirty="0"/>
          </a:p>
        </p:txBody>
      </p:sp>
      <p:sp>
        <p:nvSpPr>
          <p:cNvPr id="26" name="Shape 24"/>
          <p:cNvSpPr/>
          <p:nvPr/>
        </p:nvSpPr>
        <p:spPr>
          <a:xfrm>
            <a:off x="4023360" y="4480560"/>
            <a:ext cx="256032" cy="256032"/>
          </a:xfrm>
          <a:prstGeom prst="rightArrow">
            <a:avLst/>
          </a:prstGeom>
          <a:solidFill>
            <a:srgbClr val="FFB100"/>
          </a:solidFill>
          <a:ln/>
        </p:spPr>
      </p:sp>
      <p:sp>
        <p:nvSpPr>
          <p:cNvPr id="27" name="Shape 25"/>
          <p:cNvSpPr/>
          <p:nvPr/>
        </p:nvSpPr>
        <p:spPr>
          <a:xfrm>
            <a:off x="4297680" y="3931920"/>
            <a:ext cx="3429000" cy="1371600"/>
          </a:xfrm>
          <a:prstGeom prst="roundRect">
            <a:avLst>
              <a:gd name="adj" fmla="val 6000"/>
            </a:avLst>
          </a:prstGeom>
          <a:solidFill>
            <a:srgbClr val="182A55"/>
          </a:solidFill>
          <a:ln/>
        </p:spPr>
      </p:sp>
      <p:sp>
        <p:nvSpPr>
          <p:cNvPr id="28" name="Text 26"/>
          <p:cNvSpPr/>
          <p:nvPr/>
        </p:nvSpPr>
        <p:spPr>
          <a:xfrm>
            <a:off x="4434840" y="3931920"/>
            <a:ext cx="3154680" cy="13716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Intermediate CA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(signed by Root)</a:t>
            </a:r>
            <a:endParaRPr lang="en-US" sz="1100" dirty="0"/>
          </a:p>
        </p:txBody>
      </p:sp>
      <p:sp>
        <p:nvSpPr>
          <p:cNvPr id="29" name="Shape 27"/>
          <p:cNvSpPr/>
          <p:nvPr/>
        </p:nvSpPr>
        <p:spPr>
          <a:xfrm>
            <a:off x="7772400" y="4480560"/>
            <a:ext cx="256032" cy="256032"/>
          </a:xfrm>
          <a:prstGeom prst="rightArrow">
            <a:avLst/>
          </a:prstGeom>
          <a:solidFill>
            <a:srgbClr val="FFB100"/>
          </a:solidFill>
          <a:ln/>
        </p:spPr>
      </p:sp>
      <p:sp>
        <p:nvSpPr>
          <p:cNvPr id="30" name="Shape 28"/>
          <p:cNvSpPr/>
          <p:nvPr/>
        </p:nvSpPr>
        <p:spPr>
          <a:xfrm>
            <a:off x="8046720" y="3931920"/>
            <a:ext cx="3429000" cy="1371600"/>
          </a:xfrm>
          <a:prstGeom prst="roundRect">
            <a:avLst>
              <a:gd name="adj" fmla="val 6000"/>
            </a:avLst>
          </a:prstGeom>
          <a:solidFill>
            <a:srgbClr val="17A2B8"/>
          </a:solidFill>
          <a:ln/>
        </p:spPr>
      </p:sp>
      <p:sp>
        <p:nvSpPr>
          <p:cNvPr id="31" name="Text 29"/>
          <p:cNvSpPr/>
          <p:nvPr/>
        </p:nvSpPr>
        <p:spPr>
          <a:xfrm>
            <a:off x="8183880" y="3931920"/>
            <a:ext cx="3154680" cy="13716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End-Entity Certificate</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(e.g. www.bank.com,</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signed by Intermediate)</a:t>
            </a:r>
            <a:endParaRPr lang="en-US" sz="1100" dirty="0"/>
          </a:p>
        </p:txBody>
      </p:sp>
      <p:sp>
        <p:nvSpPr>
          <p:cNvPr id="32" name="Text 30"/>
          <p:cNvSpPr/>
          <p:nvPr/>
        </p:nvSpPr>
        <p:spPr>
          <a:xfrm>
            <a:off x="548640" y="5623560"/>
            <a:ext cx="11064240" cy="457200"/>
          </a:xfrm>
          <a:prstGeom prst="rect">
            <a:avLst/>
          </a:prstGeom>
          <a:noFill/>
          <a:ln/>
        </p:spPr>
        <p:txBody>
          <a:bodyPr wrap="square" rtlCol="0" anchor="ctr"/>
          <a:lstStyle/>
          <a:p>
            <a:pPr marL="0" indent="0">
              <a:buNone/>
            </a:pPr>
            <a:r>
              <a:rPr lang="en-US" sz="1050" i="1" dirty="0">
                <a:solidFill>
                  <a:srgbClr val="6B7785"/>
                </a:solidFill>
                <a:latin typeface="Calibri" pitchFamily="34" charset="0"/>
                <a:ea typeface="Calibri" pitchFamily="34" charset="-122"/>
                <a:cs typeface="Calibri" pitchFamily="34" charset="-120"/>
              </a:rPr>
              <a:t>Trust flows down from a small set of Root CAs that operating systems and browsers trust by default — each link in the chain vouches for the next.</a:t>
            </a:r>
            <a:endParaRPr lang="en-US" sz="1050" dirty="0"/>
          </a:p>
        </p:txBody>
      </p:sp>
      <p:sp>
        <p:nvSpPr>
          <p:cNvPr id="33" name="Text 31"/>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34" name="Text 3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9">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PUBLIC KEY INFRASTRUCTURE</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PKI — Advantages &amp; Disadvantages</a:t>
            </a:r>
            <a:endParaRPr lang="en-US" sz="3000" dirty="0"/>
          </a:p>
        </p:txBody>
      </p:sp>
      <p:sp>
        <p:nvSpPr>
          <p:cNvPr id="4" name="Shape 2"/>
          <p:cNvSpPr/>
          <p:nvPr/>
        </p:nvSpPr>
        <p:spPr>
          <a:xfrm>
            <a:off x="548640" y="1417320"/>
            <a:ext cx="5394960" cy="502920"/>
          </a:xfrm>
          <a:prstGeom prst="roundRect">
            <a:avLst>
              <a:gd name="adj" fmla="val 10909"/>
            </a:avLst>
          </a:prstGeom>
          <a:solidFill>
            <a:srgbClr val="2E8B57"/>
          </a:solidFill>
          <a:ln/>
        </p:spPr>
      </p:sp>
      <p:sp>
        <p:nvSpPr>
          <p:cNvPr id="5" name="Text 3"/>
          <p:cNvSpPr/>
          <p:nvPr/>
        </p:nvSpPr>
        <p:spPr>
          <a:xfrm>
            <a:off x="548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ADVANTAGES</a:t>
            </a:r>
            <a:endParaRPr lang="en-US" sz="1400" dirty="0"/>
          </a:p>
        </p:txBody>
      </p:sp>
      <p:sp>
        <p:nvSpPr>
          <p:cNvPr id="6" name="Shape 4"/>
          <p:cNvSpPr/>
          <p:nvPr/>
        </p:nvSpPr>
        <p:spPr>
          <a:xfrm>
            <a:off x="548640" y="1920240"/>
            <a:ext cx="5394960" cy="2606040"/>
          </a:xfrm>
          <a:prstGeom prst="roundRect">
            <a:avLst>
              <a:gd name="adj" fmla="val 2105"/>
            </a:avLst>
          </a:prstGeom>
          <a:solidFill>
            <a:srgbClr val="E7F4EC"/>
          </a:solidFill>
          <a:ln w="12700">
            <a:solidFill>
              <a:srgbClr val="D7DEE7"/>
            </a:solidFill>
            <a:prstDash val="solid"/>
          </a:ln>
        </p:spPr>
      </p:sp>
      <p:sp>
        <p:nvSpPr>
          <p:cNvPr id="7" name="Text 5"/>
          <p:cNvSpPr/>
          <p:nvPr/>
        </p:nvSpPr>
        <p:spPr>
          <a:xfrm>
            <a:off x="804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Enables secure communication at internet scale without pre-shared secrets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Provides confidentiality, integrity, authentication, and non-repudiation together</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Centralized trust model simplifies verifying unknown parties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Supports revocation, renewal, and lifecycle management of keys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Foundation for HTTPS, VPNs, email security, e-signatures, and IoT device identity</a:t>
            </a:r>
            <a:endParaRPr lang="en-US" sz="1250" dirty="0"/>
          </a:p>
        </p:txBody>
      </p:sp>
      <p:sp>
        <p:nvSpPr>
          <p:cNvPr id="8" name="Shape 6"/>
          <p:cNvSpPr/>
          <p:nvPr/>
        </p:nvSpPr>
        <p:spPr>
          <a:xfrm>
            <a:off x="6263640" y="1417320"/>
            <a:ext cx="5394960" cy="502920"/>
          </a:xfrm>
          <a:prstGeom prst="roundRect">
            <a:avLst>
              <a:gd name="adj" fmla="val 10909"/>
            </a:avLst>
          </a:prstGeom>
          <a:solidFill>
            <a:srgbClr val="C0392B"/>
          </a:solidFill>
          <a:ln/>
        </p:spPr>
      </p:sp>
      <p:sp>
        <p:nvSpPr>
          <p:cNvPr id="9" name="Text 7"/>
          <p:cNvSpPr/>
          <p:nvPr/>
        </p:nvSpPr>
        <p:spPr>
          <a:xfrm>
            <a:off x="6263640" y="1417320"/>
            <a:ext cx="539496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DISADVANTAGES</a:t>
            </a:r>
            <a:endParaRPr lang="en-US" sz="1400" dirty="0"/>
          </a:p>
        </p:txBody>
      </p:sp>
      <p:sp>
        <p:nvSpPr>
          <p:cNvPr id="10" name="Shape 8"/>
          <p:cNvSpPr/>
          <p:nvPr/>
        </p:nvSpPr>
        <p:spPr>
          <a:xfrm>
            <a:off x="6263640" y="1920240"/>
            <a:ext cx="5394960" cy="2606040"/>
          </a:xfrm>
          <a:prstGeom prst="roundRect">
            <a:avLst>
              <a:gd name="adj" fmla="val 2105"/>
            </a:avLst>
          </a:prstGeom>
          <a:solidFill>
            <a:srgbClr val="FBEAE8"/>
          </a:solidFill>
          <a:ln w="12700">
            <a:solidFill>
              <a:srgbClr val="D7DEE7"/>
            </a:solidFill>
            <a:prstDash val="solid"/>
          </a:ln>
        </p:spPr>
      </p:sp>
      <p:sp>
        <p:nvSpPr>
          <p:cNvPr id="11" name="Text 9"/>
          <p:cNvSpPr/>
          <p:nvPr/>
        </p:nvSpPr>
        <p:spPr>
          <a:xfrm>
            <a:off x="6519672" y="2084832"/>
            <a:ext cx="4882896" cy="2276856"/>
          </a:xfrm>
          <a:prstGeom prst="rect">
            <a:avLst/>
          </a:prstGeom>
          <a:noFill/>
          <a:ln/>
        </p:spPr>
        <p:txBody>
          <a:bodyPr wrap="square"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Complex to design, deploy, and administer correctly</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Single point of failure risk if a Root/Intermediate CA is compromised</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Key management (secure storage, backup, recovery) is operationally demanding</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Certificate/CA costs and renewal overhead for organizations</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Users often ignore certificate warnings, weakening real-world security</a:t>
            </a:r>
            <a:endParaRPr lang="en-US" sz="1250" dirty="0"/>
          </a:p>
        </p:txBody>
      </p:sp>
      <p:sp>
        <p:nvSpPr>
          <p:cNvPr id="12" name="Text 1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bg>
      <p:bgPr>
        <a:solidFill>
          <a:srgbClr val="F4F7FB"/>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274320"/>
          </a:xfrm>
          <a:prstGeom prst="rect">
            <a:avLst/>
          </a:prstGeom>
          <a:noFill/>
          <a:ln/>
        </p:spPr>
        <p:txBody>
          <a:bodyPr wrap="square" rtlCol="0" anchor="ctr"/>
          <a:lstStyle/>
          <a:p>
            <a:pPr marL="0" indent="0">
              <a:buNone/>
            </a:pPr>
            <a:r>
              <a:rPr lang="en-US" sz="1200" b="1" kern="0" spc="200" dirty="0">
                <a:solidFill>
                  <a:srgbClr val="17A2B8"/>
                </a:solidFill>
                <a:latin typeface="Calibri" pitchFamily="34" charset="0"/>
                <a:ea typeface="Calibri" pitchFamily="34" charset="-122"/>
                <a:cs typeface="Calibri" pitchFamily="34" charset="-120"/>
              </a:rPr>
              <a:t>REAL-WORLD APPLICATIONS</a:t>
            </a:r>
            <a:endParaRPr lang="en-US" sz="1200" dirty="0"/>
          </a:p>
        </p:txBody>
      </p:sp>
      <p:sp>
        <p:nvSpPr>
          <p:cNvPr id="3" name="Text 1"/>
          <p:cNvSpPr/>
          <p:nvPr/>
        </p:nvSpPr>
        <p:spPr>
          <a:xfrm>
            <a:off x="548640" y="566928"/>
            <a:ext cx="10789920" cy="640080"/>
          </a:xfrm>
          <a:prstGeom prst="rect">
            <a:avLst/>
          </a:prstGeom>
          <a:noFill/>
          <a:ln/>
        </p:spPr>
        <p:txBody>
          <a:bodyPr wrap="square" rtlCol="0" anchor="ctr"/>
          <a:lstStyle/>
          <a:p>
            <a:pPr marL="0" indent="0">
              <a:buNone/>
            </a:pPr>
            <a:r>
              <a:rPr lang="en-US" sz="3000" b="1" dirty="0">
                <a:solidFill>
                  <a:srgbClr val="0F1C3F"/>
                </a:solidFill>
                <a:latin typeface="Cambria" pitchFamily="34" charset="0"/>
                <a:ea typeface="Cambria" pitchFamily="34" charset="-122"/>
                <a:cs typeface="Cambria" pitchFamily="34" charset="-120"/>
              </a:rPr>
              <a:t>Where This All Comes Together</a:t>
            </a:r>
            <a:endParaRPr lang="en-US" sz="3000" dirty="0"/>
          </a:p>
        </p:txBody>
      </p:sp>
      <p:sp>
        <p:nvSpPr>
          <p:cNvPr id="4" name="Shape 2"/>
          <p:cNvSpPr/>
          <p:nvPr/>
        </p:nvSpPr>
        <p:spPr>
          <a:xfrm>
            <a:off x="548640" y="1463040"/>
            <a:ext cx="3566160" cy="1554480"/>
          </a:xfrm>
          <a:prstGeom prst="roundRect">
            <a:avLst>
              <a:gd name="adj" fmla="val 5294"/>
            </a:avLst>
          </a:prstGeom>
          <a:solidFill>
            <a:srgbClr val="0F1C3F"/>
          </a:solidFill>
          <a:ln/>
        </p:spPr>
      </p:sp>
      <p:sp>
        <p:nvSpPr>
          <p:cNvPr id="5" name="Text 3"/>
          <p:cNvSpPr/>
          <p:nvPr/>
        </p:nvSpPr>
        <p:spPr>
          <a:xfrm>
            <a:off x="731520" y="1609344"/>
            <a:ext cx="320040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HTTPS / TLS-SSL</a:t>
            </a:r>
            <a:endParaRPr lang="en-US" sz="1300" dirty="0"/>
          </a:p>
        </p:txBody>
      </p:sp>
      <p:sp>
        <p:nvSpPr>
          <p:cNvPr id="6" name="Text 4"/>
          <p:cNvSpPr/>
          <p:nvPr/>
        </p:nvSpPr>
        <p:spPr>
          <a:xfrm>
            <a:off x="731520" y="2121408"/>
            <a:ext cx="3200400" cy="777240"/>
          </a:xfrm>
          <a:prstGeom prst="rect">
            <a:avLst/>
          </a:prstGeom>
          <a:noFill/>
          <a:ln/>
        </p:spPr>
        <p:txBody>
          <a:bodyPr wrap="square" rtlCol="0" anchor="t"/>
          <a:lstStyle/>
          <a:p>
            <a:pPr marL="0" indent="0">
              <a:buNone/>
            </a:pPr>
            <a:r>
              <a:rPr lang="en-US" sz="1000" dirty="0">
                <a:solidFill>
                  <a:srgbClr val="5FD0DE"/>
                </a:solidFill>
                <a:latin typeface="Calibri" pitchFamily="34" charset="0"/>
                <a:ea typeface="Calibri" pitchFamily="34" charset="-122"/>
                <a:cs typeface="Calibri" pitchFamily="34" charset="-120"/>
              </a:rPr>
              <a:t>Browser padlock relies on hashing, signatures &amp; PKI to secure web traffic</a:t>
            </a:r>
            <a:endParaRPr lang="en-US" sz="1000" dirty="0"/>
          </a:p>
        </p:txBody>
      </p:sp>
      <p:sp>
        <p:nvSpPr>
          <p:cNvPr id="7" name="Shape 5"/>
          <p:cNvSpPr/>
          <p:nvPr/>
        </p:nvSpPr>
        <p:spPr>
          <a:xfrm>
            <a:off x="4297680" y="1463040"/>
            <a:ext cx="3566160" cy="1554480"/>
          </a:xfrm>
          <a:prstGeom prst="roundRect">
            <a:avLst>
              <a:gd name="adj" fmla="val 5294"/>
            </a:avLst>
          </a:prstGeom>
          <a:solidFill>
            <a:srgbClr val="17A2B8"/>
          </a:solidFill>
          <a:ln/>
        </p:spPr>
      </p:sp>
      <p:sp>
        <p:nvSpPr>
          <p:cNvPr id="8" name="Text 6"/>
          <p:cNvSpPr/>
          <p:nvPr/>
        </p:nvSpPr>
        <p:spPr>
          <a:xfrm>
            <a:off x="4480560" y="1609344"/>
            <a:ext cx="320040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Email Security (S/MIME, PGP)</a:t>
            </a:r>
            <a:endParaRPr lang="en-US" sz="1300" dirty="0"/>
          </a:p>
        </p:txBody>
      </p:sp>
      <p:sp>
        <p:nvSpPr>
          <p:cNvPr id="9" name="Text 7"/>
          <p:cNvSpPr/>
          <p:nvPr/>
        </p:nvSpPr>
        <p:spPr>
          <a:xfrm>
            <a:off x="4480560" y="2121408"/>
            <a:ext cx="3200400" cy="777240"/>
          </a:xfrm>
          <a:prstGeom prst="rect">
            <a:avLst/>
          </a:prstGeom>
          <a:noFill/>
          <a:ln/>
        </p:spPr>
        <p:txBody>
          <a:bodyPr wrap="square" rtlCol="0" anchor="t"/>
          <a:lstStyle/>
          <a:p>
            <a:pPr marL="0" indent="0">
              <a:buNone/>
            </a:pPr>
            <a:r>
              <a:rPr lang="en-US" sz="1000" dirty="0">
                <a:solidFill>
                  <a:srgbClr val="0F1C3F"/>
                </a:solidFill>
                <a:latin typeface="Calibri" pitchFamily="34" charset="0"/>
                <a:ea typeface="Calibri" pitchFamily="34" charset="-122"/>
                <a:cs typeface="Calibri" pitchFamily="34" charset="-120"/>
              </a:rPr>
              <a:t>Digitally signs &amp; encrypts emails to prove sender identity</a:t>
            </a:r>
            <a:endParaRPr lang="en-US" sz="1000" dirty="0"/>
          </a:p>
        </p:txBody>
      </p:sp>
      <p:sp>
        <p:nvSpPr>
          <p:cNvPr id="10" name="Shape 8"/>
          <p:cNvSpPr/>
          <p:nvPr/>
        </p:nvSpPr>
        <p:spPr>
          <a:xfrm>
            <a:off x="8046720" y="1463040"/>
            <a:ext cx="3566160" cy="1554480"/>
          </a:xfrm>
          <a:prstGeom prst="roundRect">
            <a:avLst>
              <a:gd name="adj" fmla="val 5294"/>
            </a:avLst>
          </a:prstGeom>
          <a:solidFill>
            <a:srgbClr val="182A55"/>
          </a:solidFill>
          <a:ln/>
        </p:spPr>
      </p:sp>
      <p:sp>
        <p:nvSpPr>
          <p:cNvPr id="11" name="Text 9"/>
          <p:cNvSpPr/>
          <p:nvPr/>
        </p:nvSpPr>
        <p:spPr>
          <a:xfrm>
            <a:off x="8229600" y="1609344"/>
            <a:ext cx="320040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Code Signing</a:t>
            </a:r>
            <a:endParaRPr lang="en-US" sz="1300" dirty="0"/>
          </a:p>
        </p:txBody>
      </p:sp>
      <p:sp>
        <p:nvSpPr>
          <p:cNvPr id="12" name="Text 10"/>
          <p:cNvSpPr/>
          <p:nvPr/>
        </p:nvSpPr>
        <p:spPr>
          <a:xfrm>
            <a:off x="8229600" y="2121408"/>
            <a:ext cx="3200400" cy="777240"/>
          </a:xfrm>
          <a:prstGeom prst="rect">
            <a:avLst/>
          </a:prstGeom>
          <a:noFill/>
          <a:ln/>
        </p:spPr>
        <p:txBody>
          <a:bodyPr wrap="square" rtlCol="0" anchor="t"/>
          <a:lstStyle/>
          <a:p>
            <a:pPr marL="0" indent="0">
              <a:buNone/>
            </a:pPr>
            <a:r>
              <a:rPr lang="en-US" sz="1000" dirty="0">
                <a:solidFill>
                  <a:srgbClr val="5FD0DE"/>
                </a:solidFill>
                <a:latin typeface="Calibri" pitchFamily="34" charset="0"/>
                <a:ea typeface="Calibri" pitchFamily="34" charset="-122"/>
                <a:cs typeface="Calibri" pitchFamily="34" charset="-120"/>
              </a:rPr>
              <a:t>Verifies software/updates haven't been tampered with before install</a:t>
            </a:r>
            <a:endParaRPr lang="en-US" sz="1000" dirty="0"/>
          </a:p>
        </p:txBody>
      </p:sp>
      <p:sp>
        <p:nvSpPr>
          <p:cNvPr id="13" name="Shape 11"/>
          <p:cNvSpPr/>
          <p:nvPr/>
        </p:nvSpPr>
        <p:spPr>
          <a:xfrm>
            <a:off x="548640" y="3246120"/>
            <a:ext cx="3566160" cy="1554480"/>
          </a:xfrm>
          <a:prstGeom prst="roundRect">
            <a:avLst>
              <a:gd name="adj" fmla="val 5294"/>
            </a:avLst>
          </a:prstGeom>
          <a:solidFill>
            <a:srgbClr val="0F1C3F"/>
          </a:solidFill>
          <a:ln/>
        </p:spPr>
      </p:sp>
      <p:sp>
        <p:nvSpPr>
          <p:cNvPr id="14" name="Text 12"/>
          <p:cNvSpPr/>
          <p:nvPr/>
        </p:nvSpPr>
        <p:spPr>
          <a:xfrm>
            <a:off x="731520" y="3392424"/>
            <a:ext cx="320040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Blockchain &amp; Cryptocurrency</a:t>
            </a:r>
            <a:endParaRPr lang="en-US" sz="1300" dirty="0"/>
          </a:p>
        </p:txBody>
      </p:sp>
      <p:sp>
        <p:nvSpPr>
          <p:cNvPr id="15" name="Text 13"/>
          <p:cNvSpPr/>
          <p:nvPr/>
        </p:nvSpPr>
        <p:spPr>
          <a:xfrm>
            <a:off x="731520" y="3904488"/>
            <a:ext cx="3200400" cy="777240"/>
          </a:xfrm>
          <a:prstGeom prst="rect">
            <a:avLst/>
          </a:prstGeom>
          <a:noFill/>
          <a:ln/>
        </p:spPr>
        <p:txBody>
          <a:bodyPr wrap="square" rtlCol="0" anchor="t"/>
          <a:lstStyle/>
          <a:p>
            <a:pPr marL="0" indent="0">
              <a:buNone/>
            </a:pPr>
            <a:r>
              <a:rPr lang="en-US" sz="1000" dirty="0">
                <a:solidFill>
                  <a:srgbClr val="5FD0DE"/>
                </a:solidFill>
                <a:latin typeface="Calibri" pitchFamily="34" charset="0"/>
                <a:ea typeface="Calibri" pitchFamily="34" charset="-122"/>
                <a:cs typeface="Calibri" pitchFamily="34" charset="-120"/>
              </a:rPr>
              <a:t>SHA-256 secures Bitcoin blocks; signatures authorize transactions</a:t>
            </a:r>
            <a:endParaRPr lang="en-US" sz="1000" dirty="0"/>
          </a:p>
        </p:txBody>
      </p:sp>
      <p:sp>
        <p:nvSpPr>
          <p:cNvPr id="16" name="Shape 14"/>
          <p:cNvSpPr/>
          <p:nvPr/>
        </p:nvSpPr>
        <p:spPr>
          <a:xfrm>
            <a:off x="4297680" y="3246120"/>
            <a:ext cx="3566160" cy="1554480"/>
          </a:xfrm>
          <a:prstGeom prst="roundRect">
            <a:avLst>
              <a:gd name="adj" fmla="val 5294"/>
            </a:avLst>
          </a:prstGeom>
          <a:solidFill>
            <a:srgbClr val="17A2B8"/>
          </a:solidFill>
          <a:ln/>
        </p:spPr>
      </p:sp>
      <p:sp>
        <p:nvSpPr>
          <p:cNvPr id="17" name="Text 15"/>
          <p:cNvSpPr/>
          <p:nvPr/>
        </p:nvSpPr>
        <p:spPr>
          <a:xfrm>
            <a:off x="4480560" y="3392424"/>
            <a:ext cx="320040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Digital Documents / e-Signatures</a:t>
            </a:r>
            <a:endParaRPr lang="en-US" sz="1300" dirty="0"/>
          </a:p>
        </p:txBody>
      </p:sp>
      <p:sp>
        <p:nvSpPr>
          <p:cNvPr id="18" name="Text 16"/>
          <p:cNvSpPr/>
          <p:nvPr/>
        </p:nvSpPr>
        <p:spPr>
          <a:xfrm>
            <a:off x="4480560" y="3904488"/>
            <a:ext cx="3200400" cy="777240"/>
          </a:xfrm>
          <a:prstGeom prst="rect">
            <a:avLst/>
          </a:prstGeom>
          <a:noFill/>
          <a:ln/>
        </p:spPr>
        <p:txBody>
          <a:bodyPr wrap="square" rtlCol="0" anchor="t"/>
          <a:lstStyle/>
          <a:p>
            <a:pPr marL="0" indent="0">
              <a:buNone/>
            </a:pPr>
            <a:r>
              <a:rPr lang="en-US" sz="1000" dirty="0">
                <a:solidFill>
                  <a:srgbClr val="0F1C3F"/>
                </a:solidFill>
                <a:latin typeface="Calibri" pitchFamily="34" charset="0"/>
                <a:ea typeface="Calibri" pitchFamily="34" charset="-122"/>
                <a:cs typeface="Calibri" pitchFamily="34" charset="-120"/>
              </a:rPr>
              <a:t>Legally binding contracts signed and verified electronically</a:t>
            </a:r>
            <a:endParaRPr lang="en-US" sz="1000" dirty="0"/>
          </a:p>
        </p:txBody>
      </p:sp>
      <p:sp>
        <p:nvSpPr>
          <p:cNvPr id="19" name="Shape 17"/>
          <p:cNvSpPr/>
          <p:nvPr/>
        </p:nvSpPr>
        <p:spPr>
          <a:xfrm>
            <a:off x="8046720" y="3246120"/>
            <a:ext cx="3566160" cy="1554480"/>
          </a:xfrm>
          <a:prstGeom prst="roundRect">
            <a:avLst>
              <a:gd name="adj" fmla="val 5294"/>
            </a:avLst>
          </a:prstGeom>
          <a:solidFill>
            <a:srgbClr val="182A55"/>
          </a:solidFill>
          <a:ln/>
        </p:spPr>
      </p:sp>
      <p:sp>
        <p:nvSpPr>
          <p:cNvPr id="20" name="Text 18"/>
          <p:cNvSpPr/>
          <p:nvPr/>
        </p:nvSpPr>
        <p:spPr>
          <a:xfrm>
            <a:off x="8229600" y="3392424"/>
            <a:ext cx="3200400" cy="502920"/>
          </a:xfrm>
          <a:prstGeom prst="rect">
            <a:avLst/>
          </a:prstGeom>
          <a:noFill/>
          <a:ln/>
        </p:spPr>
        <p:txBody>
          <a:bodyPr wrap="square"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VPNs &amp; Secure Messaging</a:t>
            </a:r>
            <a:endParaRPr lang="en-US" sz="1300" dirty="0"/>
          </a:p>
        </p:txBody>
      </p:sp>
      <p:sp>
        <p:nvSpPr>
          <p:cNvPr id="21" name="Text 19"/>
          <p:cNvSpPr/>
          <p:nvPr/>
        </p:nvSpPr>
        <p:spPr>
          <a:xfrm>
            <a:off x="8229600" y="3904488"/>
            <a:ext cx="3200400" cy="777240"/>
          </a:xfrm>
          <a:prstGeom prst="rect">
            <a:avLst/>
          </a:prstGeom>
          <a:noFill/>
          <a:ln/>
        </p:spPr>
        <p:txBody>
          <a:bodyPr wrap="square" rtlCol="0" anchor="t"/>
          <a:lstStyle/>
          <a:p>
            <a:pPr marL="0" indent="0">
              <a:buNone/>
            </a:pPr>
            <a:r>
              <a:rPr lang="en-US" sz="1000" dirty="0">
                <a:solidFill>
                  <a:srgbClr val="5FD0DE"/>
                </a:solidFill>
                <a:latin typeface="Calibri" pitchFamily="34" charset="0"/>
                <a:ea typeface="Calibri" pitchFamily="34" charset="-122"/>
                <a:cs typeface="Calibri" pitchFamily="34" charset="-120"/>
              </a:rPr>
              <a:t>Certificates authenticate endpoints before establishing a tunnel</a:t>
            </a:r>
            <a:endParaRPr lang="en-US" sz="1000" dirty="0"/>
          </a:p>
        </p:txBody>
      </p:sp>
      <p:sp>
        <p:nvSpPr>
          <p:cNvPr id="22" name="Text 20"/>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6B7785"/>
                </a:solidFill>
                <a:latin typeface="Calibri" pitchFamily="34" charset="0"/>
                <a:ea typeface="Calibri" pitchFamily="34" charset="-122"/>
                <a:cs typeface="Calibri" pitchFamily="34" charset="-120"/>
              </a:rPr>
              <a:t>Hashing • Digital Signatures • PKI</a:t>
            </a:r>
            <a:endParaRPr lang="en-US" sz="1000" dirty="0"/>
          </a:p>
        </p:txBody>
      </p:sp>
      <p:sp>
        <p:nvSpPr>
          <p:cNvPr id="23" name="Text 2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785"/>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1">
    <p:bg>
      <p:bgPr>
        <a:solidFill>
          <a:srgbClr val="0F1C3F"/>
        </a:solidFill>
        <a:effectLst/>
      </p:bgPr>
    </p:bg>
    <p:spTree>
      <p:nvGrpSpPr>
        <p:cNvPr id="1" name=""/>
        <p:cNvGrpSpPr/>
        <p:nvPr/>
      </p:nvGrpSpPr>
      <p:grpSpPr>
        <a:xfrm>
          <a:off x="0" y="0"/>
          <a:ext cx="0" cy="0"/>
          <a:chOff x="0" y="0"/>
          <a:chExt cx="0" cy="0"/>
        </a:xfrm>
      </p:grpSpPr>
      <p:sp>
        <p:nvSpPr>
          <p:cNvPr id="2" name="Shape 0"/>
          <p:cNvSpPr/>
          <p:nvPr/>
        </p:nvSpPr>
        <p:spPr>
          <a:xfrm>
            <a:off x="-1371600" y="-1645920"/>
            <a:ext cx="4572000" cy="4572000"/>
          </a:xfrm>
          <a:prstGeom prst="ellipse">
            <a:avLst/>
          </a:prstGeom>
          <a:solidFill>
            <a:srgbClr val="182A55"/>
          </a:solidFill>
          <a:ln/>
        </p:spPr>
      </p:sp>
      <p:sp>
        <p:nvSpPr>
          <p:cNvPr id="3" name="Text 1"/>
          <p:cNvSpPr/>
          <p:nvPr/>
        </p:nvSpPr>
        <p:spPr>
          <a:xfrm>
            <a:off x="822960" y="502920"/>
            <a:ext cx="7315200" cy="365760"/>
          </a:xfrm>
          <a:prstGeom prst="rect">
            <a:avLst/>
          </a:prstGeom>
          <a:noFill/>
          <a:ln/>
        </p:spPr>
        <p:txBody>
          <a:bodyPr wrap="square" rtlCol="0" anchor="ctr"/>
          <a:lstStyle/>
          <a:p>
            <a:pPr marL="0" indent="0">
              <a:buNone/>
            </a:pPr>
            <a:r>
              <a:rPr lang="en-US" sz="1300" b="1" kern="0" spc="300" dirty="0">
                <a:solidFill>
                  <a:srgbClr val="17A2B8"/>
                </a:solidFill>
                <a:latin typeface="Calibri" pitchFamily="34" charset="0"/>
                <a:ea typeface="Calibri" pitchFamily="34" charset="-122"/>
                <a:cs typeface="Calibri" pitchFamily="34" charset="-120"/>
              </a:rPr>
              <a:t>KEY TAKEAWAYS</a:t>
            </a:r>
            <a:endParaRPr lang="en-US" sz="1300" dirty="0"/>
          </a:p>
        </p:txBody>
      </p:sp>
      <p:sp>
        <p:nvSpPr>
          <p:cNvPr id="4" name="Text 2"/>
          <p:cNvSpPr/>
          <p:nvPr/>
        </p:nvSpPr>
        <p:spPr>
          <a:xfrm>
            <a:off x="822960" y="82296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Summary</a:t>
            </a:r>
            <a:endParaRPr lang="en-US" sz="3200" dirty="0"/>
          </a:p>
        </p:txBody>
      </p:sp>
      <p:sp>
        <p:nvSpPr>
          <p:cNvPr id="5" name="Shape 3"/>
          <p:cNvSpPr/>
          <p:nvPr/>
        </p:nvSpPr>
        <p:spPr>
          <a:xfrm>
            <a:off x="822960" y="1691640"/>
            <a:ext cx="384048" cy="384048"/>
          </a:xfrm>
          <a:prstGeom prst="ellipse">
            <a:avLst/>
          </a:prstGeom>
          <a:solidFill>
            <a:srgbClr val="FFB100"/>
          </a:solidFill>
          <a:ln/>
        </p:spPr>
      </p:sp>
      <p:sp>
        <p:nvSpPr>
          <p:cNvPr id="6" name="Text 4"/>
          <p:cNvSpPr/>
          <p:nvPr/>
        </p:nvSpPr>
        <p:spPr>
          <a:xfrm>
            <a:off x="822960" y="1691640"/>
            <a:ext cx="384048" cy="384048"/>
          </a:xfrm>
          <a:prstGeom prst="rect">
            <a:avLst/>
          </a:prstGeom>
          <a:noFill/>
          <a:ln/>
        </p:spPr>
        <p:txBody>
          <a:bodyPr wrap="square" rtlCol="0" anchor="ctr"/>
          <a:lstStyle/>
          <a:p>
            <a:pPr marL="0" indent="0" algn="ctr">
              <a:buNone/>
            </a:pPr>
            <a:r>
              <a:rPr lang="en-US" sz="1300" b="1" dirty="0">
                <a:solidFill>
                  <a:srgbClr val="0F1C3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17320" y="1618488"/>
            <a:ext cx="10058400" cy="73152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Hashing creates a fixed-size fingerprint of data — MD5 (128-bit) is fast but broken; SHA-2/3 (256-bit+) is today's secure standard</a:t>
            </a:r>
            <a:endParaRPr lang="en-US" sz="1300" dirty="0"/>
          </a:p>
        </p:txBody>
      </p:sp>
      <p:sp>
        <p:nvSpPr>
          <p:cNvPr id="8" name="Shape 6"/>
          <p:cNvSpPr/>
          <p:nvPr/>
        </p:nvSpPr>
        <p:spPr>
          <a:xfrm>
            <a:off x="822960" y="2532888"/>
            <a:ext cx="384048" cy="384048"/>
          </a:xfrm>
          <a:prstGeom prst="ellipse">
            <a:avLst/>
          </a:prstGeom>
          <a:solidFill>
            <a:srgbClr val="FFB100"/>
          </a:solidFill>
          <a:ln/>
        </p:spPr>
      </p:sp>
      <p:sp>
        <p:nvSpPr>
          <p:cNvPr id="9" name="Text 7"/>
          <p:cNvSpPr/>
          <p:nvPr/>
        </p:nvSpPr>
        <p:spPr>
          <a:xfrm>
            <a:off x="822960" y="2532888"/>
            <a:ext cx="384048" cy="384048"/>
          </a:xfrm>
          <a:prstGeom prst="rect">
            <a:avLst/>
          </a:prstGeom>
          <a:noFill/>
          <a:ln/>
        </p:spPr>
        <p:txBody>
          <a:bodyPr wrap="square" rtlCol="0" anchor="ctr"/>
          <a:lstStyle/>
          <a:p>
            <a:pPr marL="0" indent="0" algn="ctr">
              <a:buNone/>
            </a:pPr>
            <a:r>
              <a:rPr lang="en-US" sz="1300" b="1" dirty="0">
                <a:solidFill>
                  <a:srgbClr val="0F1C3F"/>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417320" y="2459736"/>
            <a:ext cx="10058400" cy="73152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Digital Signatures combine hashing with private-key encryption to prove a message's authenticity, integrity, and non-repudiation</a:t>
            </a:r>
            <a:endParaRPr lang="en-US" sz="1300" dirty="0"/>
          </a:p>
        </p:txBody>
      </p:sp>
      <p:sp>
        <p:nvSpPr>
          <p:cNvPr id="11" name="Shape 9"/>
          <p:cNvSpPr/>
          <p:nvPr/>
        </p:nvSpPr>
        <p:spPr>
          <a:xfrm>
            <a:off x="822960" y="3374136"/>
            <a:ext cx="384048" cy="384048"/>
          </a:xfrm>
          <a:prstGeom prst="ellipse">
            <a:avLst/>
          </a:prstGeom>
          <a:solidFill>
            <a:srgbClr val="FFB100"/>
          </a:solidFill>
          <a:ln/>
        </p:spPr>
      </p:sp>
      <p:sp>
        <p:nvSpPr>
          <p:cNvPr id="12" name="Text 10"/>
          <p:cNvSpPr/>
          <p:nvPr/>
        </p:nvSpPr>
        <p:spPr>
          <a:xfrm>
            <a:off x="822960" y="3374136"/>
            <a:ext cx="384048" cy="384048"/>
          </a:xfrm>
          <a:prstGeom prst="rect">
            <a:avLst/>
          </a:prstGeom>
          <a:noFill/>
          <a:ln/>
        </p:spPr>
        <p:txBody>
          <a:bodyPr wrap="square" rtlCol="0" anchor="ctr"/>
          <a:lstStyle/>
          <a:p>
            <a:pPr marL="0" indent="0" algn="ctr">
              <a:buNone/>
            </a:pPr>
            <a:r>
              <a:rPr lang="en-US" sz="1300" b="1" dirty="0">
                <a:solidFill>
                  <a:srgbClr val="0F1C3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417320" y="3300984"/>
            <a:ext cx="10058400" cy="73152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Digital Certificates bind a public key to a verified identity, issued and signed by a trusted Certificate Authority</a:t>
            </a:r>
            <a:endParaRPr lang="en-US" sz="1300" dirty="0"/>
          </a:p>
        </p:txBody>
      </p:sp>
      <p:sp>
        <p:nvSpPr>
          <p:cNvPr id="14" name="Shape 12"/>
          <p:cNvSpPr/>
          <p:nvPr/>
        </p:nvSpPr>
        <p:spPr>
          <a:xfrm>
            <a:off x="822960" y="4215384"/>
            <a:ext cx="384048" cy="384048"/>
          </a:xfrm>
          <a:prstGeom prst="ellipse">
            <a:avLst/>
          </a:prstGeom>
          <a:solidFill>
            <a:srgbClr val="FFB100"/>
          </a:solidFill>
          <a:ln/>
        </p:spPr>
      </p:sp>
      <p:sp>
        <p:nvSpPr>
          <p:cNvPr id="15" name="Text 13"/>
          <p:cNvSpPr/>
          <p:nvPr/>
        </p:nvSpPr>
        <p:spPr>
          <a:xfrm>
            <a:off x="822960" y="4215384"/>
            <a:ext cx="384048" cy="384048"/>
          </a:xfrm>
          <a:prstGeom prst="rect">
            <a:avLst/>
          </a:prstGeom>
          <a:noFill/>
          <a:ln/>
        </p:spPr>
        <p:txBody>
          <a:bodyPr wrap="square" rtlCol="0" anchor="ctr"/>
          <a:lstStyle/>
          <a:p>
            <a:pPr marL="0" indent="0" algn="ctr">
              <a:buNone/>
            </a:pPr>
            <a:r>
              <a:rPr lang="en-US" sz="1300" b="1" dirty="0">
                <a:solidFill>
                  <a:srgbClr val="0F1C3F"/>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417320" y="4142232"/>
            <a:ext cx="10058400" cy="73152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PKI is the full ecosystem — CA, RA, repositories, revocation — that makes public-key trust workable at global scale</a:t>
            </a:r>
            <a:endParaRPr lang="en-US" sz="1300" dirty="0"/>
          </a:p>
        </p:txBody>
      </p:sp>
      <p:sp>
        <p:nvSpPr>
          <p:cNvPr id="17" name="Shape 15"/>
          <p:cNvSpPr/>
          <p:nvPr/>
        </p:nvSpPr>
        <p:spPr>
          <a:xfrm>
            <a:off x="822960" y="5056632"/>
            <a:ext cx="384048" cy="384048"/>
          </a:xfrm>
          <a:prstGeom prst="ellipse">
            <a:avLst/>
          </a:prstGeom>
          <a:solidFill>
            <a:srgbClr val="FFB100"/>
          </a:solidFill>
          <a:ln/>
        </p:spPr>
      </p:sp>
      <p:sp>
        <p:nvSpPr>
          <p:cNvPr id="18" name="Text 16"/>
          <p:cNvSpPr/>
          <p:nvPr/>
        </p:nvSpPr>
        <p:spPr>
          <a:xfrm>
            <a:off x="822960" y="5056632"/>
            <a:ext cx="384048" cy="384048"/>
          </a:xfrm>
          <a:prstGeom prst="rect">
            <a:avLst/>
          </a:prstGeom>
          <a:noFill/>
          <a:ln/>
        </p:spPr>
        <p:txBody>
          <a:bodyPr wrap="square" rtlCol="0" anchor="ctr"/>
          <a:lstStyle/>
          <a:p>
            <a:pPr marL="0" indent="0" algn="ctr">
              <a:buNone/>
            </a:pPr>
            <a:r>
              <a:rPr lang="en-US" sz="1300" b="1" dirty="0">
                <a:solidFill>
                  <a:srgbClr val="0F1C3F"/>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417320" y="4983480"/>
            <a:ext cx="10058400" cy="73152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Together, these three layers are the backbone of virtually all secure digital communication today (HTTPS, email, code signing, blockchain)</a:t>
            </a:r>
            <a:endParaRPr lang="en-US" sz="1300" dirty="0"/>
          </a:p>
        </p:txBody>
      </p:sp>
      <p:sp>
        <p:nvSpPr>
          <p:cNvPr id="20" name="Text 18"/>
          <p:cNvSpPr/>
          <p:nvPr/>
        </p:nvSpPr>
        <p:spPr>
          <a:xfrm>
            <a:off x="822960" y="6126480"/>
            <a:ext cx="5486400" cy="457200"/>
          </a:xfrm>
          <a:prstGeom prst="rect">
            <a:avLst/>
          </a:prstGeom>
          <a:noFill/>
          <a:ln/>
        </p:spPr>
        <p:txBody>
          <a:bodyPr wrap="square" rtlCol="0" anchor="ctr"/>
          <a:lstStyle/>
          <a:p>
            <a:pPr marL="0" indent="0">
              <a:buNone/>
            </a:pPr>
            <a:r>
              <a:rPr lang="en-US" sz="1800" b="1" i="1" dirty="0">
                <a:solidFill>
                  <a:srgbClr val="5FD0DE"/>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677</TotalTime>
  <Words>3348</Words>
  <Application>Microsoft Office PowerPoint</Application>
  <PresentationFormat>Widescreen</PresentationFormat>
  <Paragraphs>554</Paragraphs>
  <Slides>34</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CHAPPIDI SUNEETHA</cp:lastModifiedBy>
  <cp:revision>10</cp:revision>
  <dcterms:created xsi:type="dcterms:W3CDTF">2026-08-04T09:53:50Z</dcterms:created>
  <dcterms:modified xsi:type="dcterms:W3CDTF">2026-08-10T09:48:58Z</dcterms:modified>
</cp:coreProperties>
</file>